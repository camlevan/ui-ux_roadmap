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ti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88"/>
  </p:notesMasterIdLst>
  <p:sldIdLst>
    <p:sldId id="381" r:id="rId5"/>
    <p:sldId id="450" r:id="rId6"/>
    <p:sldId id="481" r:id="rId7"/>
    <p:sldId id="482" r:id="rId8"/>
    <p:sldId id="483" r:id="rId9"/>
    <p:sldId id="484" r:id="rId10"/>
    <p:sldId id="485" r:id="rId11"/>
    <p:sldId id="284" r:id="rId12"/>
    <p:sldId id="260" r:id="rId13"/>
    <p:sldId id="290" r:id="rId14"/>
    <p:sldId id="261" r:id="rId15"/>
    <p:sldId id="262" r:id="rId16"/>
    <p:sldId id="285" r:id="rId17"/>
    <p:sldId id="265" r:id="rId18"/>
    <p:sldId id="291" r:id="rId19"/>
    <p:sldId id="267" r:id="rId20"/>
    <p:sldId id="268" r:id="rId21"/>
    <p:sldId id="283" r:id="rId22"/>
    <p:sldId id="288" r:id="rId23"/>
    <p:sldId id="270" r:id="rId24"/>
    <p:sldId id="289" r:id="rId25"/>
    <p:sldId id="279" r:id="rId26"/>
    <p:sldId id="292" r:id="rId27"/>
    <p:sldId id="274" r:id="rId28"/>
    <p:sldId id="275" r:id="rId29"/>
    <p:sldId id="281" r:id="rId30"/>
    <p:sldId id="282" r:id="rId31"/>
    <p:sldId id="280" r:id="rId32"/>
    <p:sldId id="293" r:id="rId33"/>
    <p:sldId id="256" r:id="rId34"/>
    <p:sldId id="259" r:id="rId35"/>
    <p:sldId id="451" r:id="rId36"/>
    <p:sldId id="295" r:id="rId37"/>
    <p:sldId id="296" r:id="rId38"/>
    <p:sldId id="297" r:id="rId39"/>
    <p:sldId id="298" r:id="rId40"/>
    <p:sldId id="452" r:id="rId41"/>
    <p:sldId id="300" r:id="rId42"/>
    <p:sldId id="453" r:id="rId43"/>
    <p:sldId id="454" r:id="rId44"/>
    <p:sldId id="301" r:id="rId45"/>
    <p:sldId id="455" r:id="rId46"/>
    <p:sldId id="287" r:id="rId47"/>
    <p:sldId id="456" r:id="rId48"/>
    <p:sldId id="457" r:id="rId49"/>
    <p:sldId id="273" r:id="rId50"/>
    <p:sldId id="458" r:id="rId51"/>
    <p:sldId id="459" r:id="rId52"/>
    <p:sldId id="276" r:id="rId53"/>
    <p:sldId id="299" r:id="rId54"/>
    <p:sldId id="460" r:id="rId55"/>
    <p:sldId id="277" r:id="rId56"/>
    <p:sldId id="278" r:id="rId57"/>
    <p:sldId id="461" r:id="rId58"/>
    <p:sldId id="302" r:id="rId59"/>
    <p:sldId id="462" r:id="rId60"/>
    <p:sldId id="463" r:id="rId61"/>
    <p:sldId id="464" r:id="rId62"/>
    <p:sldId id="465" r:id="rId63"/>
    <p:sldId id="303" r:id="rId64"/>
    <p:sldId id="466" r:id="rId65"/>
    <p:sldId id="264" r:id="rId66"/>
    <p:sldId id="263" r:id="rId67"/>
    <p:sldId id="467" r:id="rId68"/>
    <p:sldId id="286" r:id="rId69"/>
    <p:sldId id="468" r:id="rId70"/>
    <p:sldId id="294" r:id="rId71"/>
    <p:sldId id="469" r:id="rId72"/>
    <p:sldId id="470" r:id="rId73"/>
    <p:sldId id="269" r:id="rId74"/>
    <p:sldId id="471" r:id="rId75"/>
    <p:sldId id="472" r:id="rId76"/>
    <p:sldId id="304" r:id="rId77"/>
    <p:sldId id="473" r:id="rId78"/>
    <p:sldId id="474" r:id="rId79"/>
    <p:sldId id="475" r:id="rId80"/>
    <p:sldId id="476" r:id="rId81"/>
    <p:sldId id="477" r:id="rId82"/>
    <p:sldId id="305" r:id="rId83"/>
    <p:sldId id="478" r:id="rId84"/>
    <p:sldId id="479" r:id="rId85"/>
    <p:sldId id="480" r:id="rId86"/>
    <p:sldId id="306"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67" autoAdjust="0"/>
    <p:restoredTop sz="94660"/>
  </p:normalViewPr>
  <p:slideViewPr>
    <p:cSldViewPr snapToGrid="0">
      <p:cViewPr varScale="1">
        <p:scale>
          <a:sx n="83" d="100"/>
          <a:sy n="83" d="100"/>
        </p:scale>
        <p:origin x="802"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4.xml"/><Relationship Id="rId9"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01D24-3E06-44FC-B5B3-ED702EAB3D70}" type="datetimeFigureOut">
              <a:rPr lang="en-US" smtClean="0"/>
              <a:t>10/22/2024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EB739-1C14-4637-B5A9-DDE36AE51A56}" type="slidenum">
              <a:rPr lang="en-US" smtClean="0"/>
              <a:t>‹#›</a:t>
            </a:fld>
            <a:endParaRPr lang="en-US"/>
          </a:p>
        </p:txBody>
      </p:sp>
    </p:spTree>
    <p:extLst>
      <p:ext uri="{BB962C8B-B14F-4D97-AF65-F5344CB8AC3E}">
        <p14:creationId xmlns:p14="http://schemas.microsoft.com/office/powerpoint/2010/main" val="115167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632DF6D-E715-CB48-AFA3-3266744F305F}"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63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D9CEC26-E00F-864A-8FC6-1D56231E6E9D}"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632DF6D-E715-CB48-AFA3-3266744F305F}"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63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D9CEC26-E00F-864A-8FC6-1D56231E6E9D}"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880120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CA9FB84-4AAC-1E4D-BE6C-37ED5A4E5B5A}"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E73F79C-65CD-E346-A622-E74B37C89C56}"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8436" name="Rectangle 2"/>
          <p:cNvSpPr>
            <a:spLocks noGrp="1" noRot="1" noChangeAspect="1" noChangeArrowheads="1" noTextEdit="1"/>
          </p:cNvSpPr>
          <p:nvPr>
            <p:ph type="sldImg"/>
          </p:nvPr>
        </p:nvSpPr>
        <p:spPr>
          <a:ln/>
        </p:spPr>
      </p:sp>
      <p:sp>
        <p:nvSpPr>
          <p:cNvPr id="1843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C6CF466-C2F8-1640-8CB2-5F1EF565C33B}"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04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204C339-8AE7-E043-9E33-A0C692695823}"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0484" name="Rectangle 2"/>
          <p:cNvSpPr>
            <a:spLocks noGrp="1" noRot="1" noChangeAspect="1" noChangeArrowheads="1" noTextEdit="1"/>
          </p:cNvSpPr>
          <p:nvPr>
            <p:ph type="sldImg"/>
          </p:nvPr>
        </p:nvSpPr>
        <p:spPr>
          <a:ln/>
        </p:spPr>
      </p:sp>
      <p:sp>
        <p:nvSpPr>
          <p:cNvPr id="20485"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CA9FB84-4AAC-1E4D-BE6C-37ED5A4E5B5A}"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E73F79C-65CD-E346-A622-E74B37C89C56}"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8436" name="Rectangle 2"/>
          <p:cNvSpPr>
            <a:spLocks noGrp="1" noRot="1" noChangeAspect="1" noChangeArrowheads="1" noTextEdit="1"/>
          </p:cNvSpPr>
          <p:nvPr>
            <p:ph type="sldImg"/>
          </p:nvPr>
        </p:nvSpPr>
        <p:spPr>
          <a:ln/>
        </p:spPr>
      </p:sp>
      <p:sp>
        <p:nvSpPr>
          <p:cNvPr id="1843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77149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EBB346B-65E7-BC46-B2A1-C2C622E5FDA0}"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66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7B909EF-E09C-9C46-AB3A-CFFE5DF21AA2}"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6628" name="Rectangle 2"/>
          <p:cNvSpPr>
            <a:spLocks noGrp="1" noRot="1" noChangeAspect="1" noChangeArrowheads="1" noTextEdit="1"/>
          </p:cNvSpPr>
          <p:nvPr>
            <p:ph type="sldImg"/>
          </p:nvPr>
        </p:nvSpPr>
        <p:spPr>
          <a:ln/>
        </p:spPr>
      </p:sp>
      <p:sp>
        <p:nvSpPr>
          <p:cNvPr id="2662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6291F18-B9C2-8F4E-A590-2AB72154DD37}"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867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3E2E9098-7F29-F94E-B101-EC1881BC058C}"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6291F18-B9C2-8F4E-A590-2AB72154DD37}"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867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3E2E9098-7F29-F94E-B101-EC1881BC058C}"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6291F18-B9C2-8F4E-A590-2AB72154DD37}"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867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3E2E9098-7F29-F94E-B101-EC1881BC058C}"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8676" name="Rectangle 2"/>
          <p:cNvSpPr>
            <a:spLocks noGrp="1" noRot="1" noChangeAspect="1" noChangeArrowheads="1" noTextEdit="1"/>
          </p:cNvSpPr>
          <p:nvPr>
            <p:ph type="sldImg"/>
          </p:nvPr>
        </p:nvSpPr>
        <p:spPr>
          <a:ln/>
        </p:spPr>
      </p:sp>
      <p:sp>
        <p:nvSpPr>
          <p:cNvPr id="2867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extLst>
      <p:ext uri="{BB962C8B-B14F-4D97-AF65-F5344CB8AC3E}">
        <p14:creationId xmlns:p14="http://schemas.microsoft.com/office/powerpoint/2010/main" val="187440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E58654C-5878-0542-B8A7-565A1B905098}"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3789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AA8081E4-361E-B646-B170-BF0FC5920CA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8DCC3C9-CB67-C746-811E-BB9426B23B75}"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399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D1E45D36-CACC-A944-8306-67EC130D5EFE}"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ea typeface="ＭＳ Ｐゴシック" charset="0"/>
              <a:cs typeface="ＭＳ Ｐゴシック"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9268CFB-CA01-484E-9EDF-A4DCDE6777F3}"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63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73625B73-C769-A741-82AB-39C644526092}"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6388" name="Rectangle 2"/>
          <p:cNvSpPr>
            <a:spLocks noGrp="1" noRot="1" noChangeAspect="1" noChangeArrowheads="1" noTextEdit="1"/>
          </p:cNvSpPr>
          <p:nvPr>
            <p:ph type="sldImg"/>
          </p:nvPr>
        </p:nvSpPr>
        <p:spPr>
          <a:ln/>
        </p:spPr>
      </p:sp>
      <p:sp>
        <p:nvSpPr>
          <p:cNvPr id="16389"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0A1C9F-0A31-4245-AA60-64D4C0C83F14}"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8726162-5FEB-E64D-8924-0FA16C618B6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8436" name="Rectangle 2"/>
          <p:cNvSpPr>
            <a:spLocks noGrp="1" noRot="1" noChangeAspect="1" noChangeArrowheads="1" noTextEdit="1"/>
          </p:cNvSpPr>
          <p:nvPr>
            <p:ph type="sldImg"/>
          </p:nvPr>
        </p:nvSpPr>
        <p:spPr>
          <a:solidFill>
            <a:srgbClr val="FFFFFF"/>
          </a:solidFill>
          <a:ln/>
        </p:spPr>
      </p:sp>
      <p:sp>
        <p:nvSpPr>
          <p:cNvPr id="18437"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A0A1C9F-0A31-4245-AA60-64D4C0C83F14}"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184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8726162-5FEB-E64D-8924-0FA16C618B6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18436" name="Rectangle 2"/>
          <p:cNvSpPr>
            <a:spLocks noGrp="1" noRot="1" noChangeAspect="1" noChangeArrowheads="1" noTextEdit="1"/>
          </p:cNvSpPr>
          <p:nvPr>
            <p:ph type="sldImg"/>
          </p:nvPr>
        </p:nvSpPr>
        <p:spPr>
          <a:solidFill>
            <a:srgbClr val="FFFFFF"/>
          </a:solidFill>
          <a:ln/>
        </p:spPr>
      </p:sp>
      <p:sp>
        <p:nvSpPr>
          <p:cNvPr id="18437"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029236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767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3723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77531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32219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166B3F7-24EA-1B45-B1AC-B0E8AFA68DA5}"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3072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3B59FAC9-B11F-204F-ABA8-B9C3F0CF9C52}"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30724" name="Rectangle 2"/>
          <p:cNvSpPr>
            <a:spLocks noGrp="1" noRot="1" noChangeAspect="1" noChangeArrowheads="1" noTextEdit="1"/>
          </p:cNvSpPr>
          <p:nvPr>
            <p:ph type="sldImg"/>
          </p:nvPr>
        </p:nvSpPr>
        <p:spPr>
          <a:solidFill>
            <a:srgbClr val="FFFFFF"/>
          </a:solidFill>
          <a:ln/>
        </p:spPr>
      </p:sp>
      <p:sp>
        <p:nvSpPr>
          <p:cNvPr id="3072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AD2CD61-CC1D-444C-83D6-DBF617D2B41F}"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3686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FFE00AC-EEF4-E147-AA1E-F0CCB927AD9E}"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36868" name="Rectangle 2"/>
          <p:cNvSpPr>
            <a:spLocks noGrp="1" noRot="1" noChangeAspect="1" noChangeArrowheads="1" noTextEdit="1"/>
          </p:cNvSpPr>
          <p:nvPr>
            <p:ph type="sldImg"/>
          </p:nvPr>
        </p:nvSpPr>
        <p:spPr>
          <a:solidFill>
            <a:srgbClr val="FFFFFF"/>
          </a:solidFill>
          <a:ln/>
        </p:spPr>
      </p:sp>
      <p:sp>
        <p:nvSpPr>
          <p:cNvPr id="3686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A4BA357-326F-FD49-B801-804C053ED194}"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04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FF2A56ED-C5AB-3844-A430-BB62E15181E6}"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0484" name="Rectangle 2"/>
          <p:cNvSpPr>
            <a:spLocks noGrp="1" noRot="1" noChangeAspect="1" noChangeArrowheads="1" noTextEdit="1"/>
          </p:cNvSpPr>
          <p:nvPr>
            <p:ph type="sldImg"/>
          </p:nvPr>
        </p:nvSpPr>
        <p:spPr>
          <a:solidFill>
            <a:srgbClr val="FFFFFF"/>
          </a:solidFill>
          <a:ln/>
        </p:spPr>
      </p:sp>
      <p:sp>
        <p:nvSpPr>
          <p:cNvPr id="2048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749110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AA8B979D-5DE8-E84A-8A8A-B231011DA71D}"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225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328B0FC6-98B6-634C-A401-F1A4AFCFE6D6}"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22532" name="Rectangle 2"/>
          <p:cNvSpPr>
            <a:spLocks noGrp="1" noRot="1" noChangeAspect="1" noChangeArrowheads="1" noTextEdit="1"/>
          </p:cNvSpPr>
          <p:nvPr>
            <p:ph type="sldImg"/>
          </p:nvPr>
        </p:nvSpPr>
        <p:spPr>
          <a:solidFill>
            <a:srgbClr val="FFFFFF"/>
          </a:solidFill>
          <a:ln/>
        </p:spPr>
      </p:sp>
      <p:sp>
        <p:nvSpPr>
          <p:cNvPr id="22533"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166321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D5B3570-823E-5347-AE82-3637D7306A67}"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39939"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656E841D-9747-C649-A0AC-56B9B5A8562F}"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39940" name="Rectangle 2"/>
          <p:cNvSpPr>
            <a:spLocks noGrp="1" noRot="1" noChangeAspect="1" noChangeArrowheads="1" noTextEdit="1"/>
          </p:cNvSpPr>
          <p:nvPr>
            <p:ph type="sldImg"/>
          </p:nvPr>
        </p:nvSpPr>
        <p:spPr>
          <a:solidFill>
            <a:srgbClr val="FFFFFF"/>
          </a:solidFill>
          <a:ln/>
        </p:spPr>
      </p:sp>
      <p:sp>
        <p:nvSpPr>
          <p:cNvPr id="39941"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EB48279-5EE6-3F4E-9757-115E77A7426E}"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4198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1833B459-A593-6B49-94D6-04E5D939A125}"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41988" name="Rectangle 2"/>
          <p:cNvSpPr>
            <a:spLocks noGrp="1" noRot="1" noChangeAspect="1" noChangeArrowheads="1" noTextEdit="1"/>
          </p:cNvSpPr>
          <p:nvPr>
            <p:ph type="sldImg"/>
          </p:nvPr>
        </p:nvSpPr>
        <p:spPr>
          <a:solidFill>
            <a:srgbClr val="FFFFFF"/>
          </a:solidFill>
          <a:ln/>
        </p:spPr>
      </p:sp>
      <p:sp>
        <p:nvSpPr>
          <p:cNvPr id="4198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F877398-46D0-AC45-AC68-20927556AA1B}"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44035"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DDC676E-4A99-9A49-B125-9DFF3B65910E}"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44036" name="Rectangle 2"/>
          <p:cNvSpPr>
            <a:spLocks noGrp="1" noRot="1" noChangeAspect="1" noChangeArrowheads="1" noTextEdit="1"/>
          </p:cNvSpPr>
          <p:nvPr>
            <p:ph type="sldImg"/>
          </p:nvPr>
        </p:nvSpPr>
        <p:spPr>
          <a:solidFill>
            <a:srgbClr val="FFFFFF"/>
          </a:solidFill>
          <a:ln/>
        </p:spPr>
      </p:sp>
      <p:sp>
        <p:nvSpPr>
          <p:cNvPr id="44037"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322B215-19A9-6A4E-AD74-CE0939415D53}"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460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F1D6ECA7-9E21-9343-9CA9-605064831F24}"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46084" name="Rectangle 2"/>
          <p:cNvSpPr>
            <a:spLocks noGrp="1" noRot="1" noChangeAspect="1" noChangeArrowheads="1" noTextEdit="1"/>
          </p:cNvSpPr>
          <p:nvPr>
            <p:ph type="sldImg"/>
          </p:nvPr>
        </p:nvSpPr>
        <p:spPr>
          <a:solidFill>
            <a:srgbClr val="FFFFFF"/>
          </a:solidFill>
          <a:ln/>
        </p:spPr>
      </p:sp>
      <p:sp>
        <p:nvSpPr>
          <p:cNvPr id="4608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322B215-19A9-6A4E-AD74-CE0939415D53}"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46083"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F1D6ECA7-9E21-9343-9CA9-605064831F24}"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46084" name="Rectangle 2"/>
          <p:cNvSpPr>
            <a:spLocks noGrp="1" noRot="1" noChangeAspect="1" noChangeArrowheads="1" noTextEdit="1"/>
          </p:cNvSpPr>
          <p:nvPr>
            <p:ph type="sldImg"/>
          </p:nvPr>
        </p:nvSpPr>
        <p:spPr>
          <a:solidFill>
            <a:srgbClr val="FFFFFF"/>
          </a:solidFill>
          <a:ln/>
        </p:spPr>
      </p:sp>
      <p:sp>
        <p:nvSpPr>
          <p:cNvPr id="46085"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3287364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E9C429BF-A8DC-D744-869B-C33A62995452}"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48131"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EBA3B5F6-BD0C-4643-B90E-DCC36FDB21D0}"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733E58F-E371-8444-AF75-AABB9E574245}"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522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8F64B1FB-7589-4E47-A023-C2EADF99F5F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52228" name="Rectangle 2"/>
          <p:cNvSpPr>
            <a:spLocks noGrp="1" noRot="1" noChangeAspect="1" noChangeArrowheads="1" noTextEdit="1"/>
          </p:cNvSpPr>
          <p:nvPr>
            <p:ph type="sldImg"/>
          </p:nvPr>
        </p:nvSpPr>
        <p:spPr>
          <a:solidFill>
            <a:srgbClr val="FFFFFF"/>
          </a:solidFill>
          <a:ln/>
        </p:spPr>
      </p:sp>
      <p:sp>
        <p:nvSpPr>
          <p:cNvPr id="5222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733E58F-E371-8444-AF75-AABB9E574245}" type="slidenum">
              <a:rPr kumimoji="0" lang="en-GB" sz="1200" b="0" i="0" u="none" strike="noStrike" kern="1200" cap="none" spc="0" normalizeH="0" baseline="0" noProof="0">
                <a:ln>
                  <a:noFill/>
                </a:ln>
                <a:solidFill>
                  <a:prstClr val="black"/>
                </a:solidFill>
                <a:effectLst/>
                <a:uLnTx/>
                <a:uFillTx/>
                <a:latin typeface="Arial" charset="0"/>
                <a:ea typeface="ＭＳ Ｐゴシック" charset="0"/>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dirty="0">
              <a:ln>
                <a:noFill/>
              </a:ln>
              <a:solidFill>
                <a:prstClr val="black"/>
              </a:solidFill>
              <a:effectLst/>
              <a:uLnTx/>
              <a:uFillTx/>
              <a:latin typeface="Arial" charset="0"/>
              <a:ea typeface="ＭＳ Ｐゴシック" charset="0"/>
            </a:endParaRPr>
          </a:p>
        </p:txBody>
      </p:sp>
      <p:sp>
        <p:nvSpPr>
          <p:cNvPr id="52227"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37931725" indent="-37474525" eaLnBrk="0" hangingPunct="0">
              <a:defRPr sz="2400">
                <a:solidFill>
                  <a:schemeClr val="tx1"/>
                </a:solidFill>
                <a:latin typeface="Arial" charset="0"/>
                <a:ea typeface="ＭＳ Ｐゴシック" charset="0"/>
              </a:defRPr>
            </a:lvl2pPr>
            <a:lvl3pPr eaLnBrk="0" hangingPunct="0">
              <a:defRPr sz="2400">
                <a:solidFill>
                  <a:schemeClr val="tx1"/>
                </a:solidFill>
                <a:latin typeface="Arial" charset="0"/>
                <a:ea typeface="ＭＳ Ｐゴシック" charset="0"/>
              </a:defRPr>
            </a:lvl3pPr>
            <a:lvl4pPr eaLnBrk="0" hangingPunct="0">
              <a:defRPr sz="2400">
                <a:solidFill>
                  <a:schemeClr val="tx1"/>
                </a:solidFill>
                <a:latin typeface="Arial" charset="0"/>
                <a:ea typeface="ＭＳ Ｐゴシック" charset="0"/>
              </a:defRPr>
            </a:lvl4pPr>
            <a:lvl5pPr eaLnBrk="0" hangingPunct="0">
              <a:defRPr sz="2400">
                <a:solidFill>
                  <a:schemeClr val="tx1"/>
                </a:solidFill>
                <a:latin typeface="Arial" charset="0"/>
                <a:ea typeface="ＭＳ Ｐゴシック" charset="0"/>
              </a:defRPr>
            </a:lvl5pPr>
            <a:lvl6pPr marL="457200" eaLnBrk="0" fontAlgn="base" hangingPunct="0">
              <a:spcBef>
                <a:spcPct val="0"/>
              </a:spcBef>
              <a:spcAft>
                <a:spcPct val="0"/>
              </a:spcAft>
              <a:defRPr sz="2400">
                <a:solidFill>
                  <a:schemeClr val="tx1"/>
                </a:solidFill>
                <a:latin typeface="Arial" charset="0"/>
                <a:ea typeface="ＭＳ Ｐゴシック" charset="0"/>
              </a:defRPr>
            </a:lvl6pPr>
            <a:lvl7pPr marL="914400" eaLnBrk="0" fontAlgn="base" hangingPunct="0">
              <a:spcBef>
                <a:spcPct val="0"/>
              </a:spcBef>
              <a:spcAft>
                <a:spcPct val="0"/>
              </a:spcAft>
              <a:defRPr sz="2400">
                <a:solidFill>
                  <a:schemeClr val="tx1"/>
                </a:solidFill>
                <a:latin typeface="Arial" charset="0"/>
                <a:ea typeface="ＭＳ Ｐゴシック" charset="0"/>
              </a:defRPr>
            </a:lvl7pPr>
            <a:lvl8pPr marL="1371600" eaLnBrk="0" fontAlgn="base" hangingPunct="0">
              <a:spcBef>
                <a:spcPct val="0"/>
              </a:spcBef>
              <a:spcAft>
                <a:spcPct val="0"/>
              </a:spcAft>
              <a:defRPr sz="2400">
                <a:solidFill>
                  <a:schemeClr val="tx1"/>
                </a:solidFill>
                <a:latin typeface="Arial" charset="0"/>
                <a:ea typeface="ＭＳ Ｐゴシック" charset="0"/>
              </a:defRPr>
            </a:lvl8pPr>
            <a:lvl9pPr marL="18288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8F64B1FB-7589-4E47-A023-C2EADF99F5F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endParaRPr>
          </a:p>
        </p:txBody>
      </p:sp>
      <p:sp>
        <p:nvSpPr>
          <p:cNvPr id="52228" name="Rectangle 2"/>
          <p:cNvSpPr>
            <a:spLocks noGrp="1" noRot="1" noChangeAspect="1" noChangeArrowheads="1" noTextEdit="1"/>
          </p:cNvSpPr>
          <p:nvPr>
            <p:ph type="sldImg"/>
          </p:nvPr>
        </p:nvSpPr>
        <p:spPr>
          <a:solidFill>
            <a:srgbClr val="FFFFFF"/>
          </a:solidFill>
          <a:ln/>
        </p:spPr>
      </p:sp>
      <p:sp>
        <p:nvSpPr>
          <p:cNvPr id="52229" name="Rectangle 3"/>
          <p:cNvSpPr>
            <a:spLocks noGrp="1" noChangeArrowheads="1"/>
          </p:cNvSpPr>
          <p:nvPr>
            <p:ph type="body" idx="1"/>
          </p:nvPr>
        </p:nvSpPr>
        <p:spPr>
          <a:xfrm>
            <a:off x="914400" y="4343400"/>
            <a:ext cx="5029200" cy="4114800"/>
          </a:xfrm>
          <a:solidFill>
            <a:srgbClr val="FFFFFF"/>
          </a:solidFill>
          <a:ln>
            <a:solidFill>
              <a:srgbClr val="000000"/>
            </a:solidFill>
          </a:ln>
          <a:extLst>
            <a:ext uri="{FAA26D3D-D897-4be2-8F04-BA451C77F1D7}">
              <ma14:placeholderFlag xmlns="" xmlns:ma14="http://schemas.microsoft.com/office/mac/drawingml/2011/main" val="1"/>
            </a:ext>
          </a:extLst>
        </p:spPr>
        <p:txBody>
          <a:bodyPr/>
          <a:lstStyle/>
          <a:p>
            <a:pPr eaLnBrk="1" hangingPunct="1"/>
            <a:endParaRPr lang="en-US" dirty="0"/>
          </a:p>
        </p:txBody>
      </p:sp>
    </p:spTree>
    <p:extLst>
      <p:ext uri="{BB962C8B-B14F-4D97-AF65-F5344CB8AC3E}">
        <p14:creationId xmlns:p14="http://schemas.microsoft.com/office/powerpoint/2010/main" val="283344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700215-3FED-D849-BC84-8C8F04441205}"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266"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BB9BC9C6-8171-C347-8490-201A4DF19BB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11267"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1268" name="Rectangle 3"/>
          <p:cNvSpPr>
            <a:spLocks noGrp="1" noChangeArrowheads="1"/>
          </p:cNvSpPr>
          <p:nvPr>
            <p:ph type="body" idx="1"/>
          </p:nvPr>
        </p:nvSpPr>
        <p:spPr>
          <a:xfrm>
            <a:off x="914400" y="4343400"/>
            <a:ext cx="5029200" cy="4114800"/>
          </a:xfrm>
        </p:spPr>
        <p:txBody>
          <a:bodyPr/>
          <a:lstStyle/>
          <a:p>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1C34D6-6EB8-2F42-B6C9-86C360A02D41}"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31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309B77E-277C-1C47-9720-C76BA9E282E5}"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13315"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316"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CEF937-322D-F44D-8DEE-08AB261E95F3}"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5362"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E932286E-F022-8D48-A448-5755492BF0AF}"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15363"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364"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80E4-72B2-864E-9963-FF3109CC2AA6}"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41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1A7127EA-2EEF-2A46-B2F2-073760493F9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1741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41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41419078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6A80E4-72B2-864E-9963-FF3109CC2AA6}"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41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1A7127EA-2EEF-2A46-B2F2-073760493F9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1741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741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9DC1D8-DC31-CD41-97A6-A4AD2846D57B}"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506"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637940ED-FA17-274D-B47B-FCED49112585}"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21507"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1508" name="Rectangle 3"/>
          <p:cNvSpPr>
            <a:spLocks noGrp="1" noChangeArrowheads="1"/>
          </p:cNvSpPr>
          <p:nvPr>
            <p:ph type="body" idx="1"/>
          </p:nvPr>
        </p:nvSpPr>
        <p:spPr>
          <a:xfrm>
            <a:off x="914400" y="4343400"/>
            <a:ext cx="5029200" cy="4114800"/>
          </a:xfrm>
        </p:spPr>
        <p:txBody>
          <a:bodyPr/>
          <a:lstStyle/>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17DE18-FBB2-8B42-940F-C2AF0427A242}"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9458"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D8AFEF0A-C690-6F44-B195-7130E6102CDD}"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19459"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9460"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3FF15F-9C3B-2546-A87F-DD6F5C261494}"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55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9B26C145-ECB2-464E-82A5-11F3BCE2CA1E}"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23555"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556"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6C426E-841A-0542-949D-4314ADB6A9B6}"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602"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66667EF9-AAD4-4042-965B-DDB9AC02E61B}"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25603"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604"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6C426E-841A-0542-949D-4314ADB6A9B6}"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602"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66667EF9-AAD4-4042-965B-DDB9AC02E61B}"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25603"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604"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48711983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6C426E-841A-0542-949D-4314ADB6A9B6}"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5602"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66667EF9-AAD4-4042-965B-DDB9AC02E61B}"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25603"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5604"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8030368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D53D6E-54A6-2540-B574-785B13C7E882}"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2867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27EB23DC-6012-C140-A0E0-999F828747B8}"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28675"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8676"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906CFC-8661-024C-8B41-7AB420FB4D56}"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0722"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CF2CF0B7-F22D-9748-AB89-76014D82D321}"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0723"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0724"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714652-D664-F44B-A9C9-BC851FE3A9B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77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76DC056-C491-7843-BC41-54875E5968B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71</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277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77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714652-D664-F44B-A9C9-BC851FE3A9B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77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76DC056-C491-7843-BC41-54875E5968B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277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77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6845221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714652-D664-F44B-A9C9-BC851FE3A9B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77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76DC056-C491-7843-BC41-54875E5968B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277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77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8778614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202572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71065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972983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55A965-49CD-492E-84BE-5EB2A9CC3DBD}"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703643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714652-D664-F44B-A9C9-BC851FE3A9B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77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76DC056-C491-7843-BC41-54875E5968B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78</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277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77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5242569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714652-D664-F44B-A9C9-BC851FE3A9B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2770"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76DC056-C491-7843-BC41-54875E5968BA}"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2771"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2772"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5853394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40CD76-3589-0C45-87E7-3C87DD6EF704}"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91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49675295-48CB-A84D-A41F-1074F5B16ED4}"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38915"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38916"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95824-A99E-144D-BAA3-2315B388E321}"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49154"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236EDE2E-394A-8745-A6F2-8BB0481073E7}"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81</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49155"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49156"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CC7A14-00E1-764F-9158-9BF0CE98CFE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298"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2A7D298E-EA3F-BB43-8C51-108576466ADB}"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82</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55299"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5300"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CC7A14-00E1-764F-9158-9BF0CE98CFEE}" type="slidenum">
              <a:rPr kumimoji="0" lang="en-GB"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55298" name="Rectangle 7"/>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charset="0"/>
                <a:ea typeface="ＭＳ Ｐゴシック" charset="0"/>
              </a:defRPr>
            </a:lvl1pPr>
            <a:lvl2pPr marL="37931725" indent="-37474525">
              <a:defRPr>
                <a:solidFill>
                  <a:schemeClr val="tx1"/>
                </a:solidFill>
                <a:latin typeface="Arial" charset="0"/>
                <a:ea typeface="ＭＳ Ｐゴシック" charset="0"/>
              </a:defRPr>
            </a:lvl2pPr>
            <a:lvl3pPr>
              <a:defRPr>
                <a:solidFill>
                  <a:schemeClr val="tx1"/>
                </a:solidFill>
                <a:latin typeface="Arial" charset="0"/>
                <a:ea typeface="ＭＳ Ｐゴシック" charset="0"/>
              </a:defRPr>
            </a:lvl3pPr>
            <a:lvl4pPr>
              <a:defRPr>
                <a:solidFill>
                  <a:schemeClr val="tx1"/>
                </a:solidFill>
                <a:latin typeface="Arial" charset="0"/>
                <a:ea typeface="ＭＳ Ｐゴシック" charset="0"/>
              </a:defRPr>
            </a:lvl4pPr>
            <a:lvl5pPr>
              <a:defRPr>
                <a:solidFill>
                  <a:schemeClr val="tx1"/>
                </a:solidFill>
                <a:latin typeface="Arial" charset="0"/>
                <a:ea typeface="ＭＳ Ｐゴシック" charset="0"/>
              </a:defRPr>
            </a:lvl5pPr>
            <a:lvl6pPr marL="457200" fontAlgn="base">
              <a:spcBef>
                <a:spcPct val="0"/>
              </a:spcBef>
              <a:spcAft>
                <a:spcPct val="0"/>
              </a:spcAft>
              <a:defRPr>
                <a:solidFill>
                  <a:schemeClr val="tx1"/>
                </a:solidFill>
                <a:latin typeface="Arial" charset="0"/>
                <a:ea typeface="ＭＳ Ｐゴシック" charset="0"/>
              </a:defRPr>
            </a:lvl6pPr>
            <a:lvl7pPr marL="914400" fontAlgn="base">
              <a:spcBef>
                <a:spcPct val="0"/>
              </a:spcBef>
              <a:spcAft>
                <a:spcPct val="0"/>
              </a:spcAft>
              <a:defRPr>
                <a:solidFill>
                  <a:schemeClr val="tx1"/>
                </a:solidFill>
                <a:latin typeface="Arial" charset="0"/>
                <a:ea typeface="ＭＳ Ｐゴシック" charset="0"/>
              </a:defRPr>
            </a:lvl7pPr>
            <a:lvl8pPr marL="1371600" fontAlgn="base">
              <a:spcBef>
                <a:spcPct val="0"/>
              </a:spcBef>
              <a:spcAft>
                <a:spcPct val="0"/>
              </a:spcAft>
              <a:defRPr>
                <a:solidFill>
                  <a:schemeClr val="tx1"/>
                </a:solidFill>
                <a:latin typeface="Arial" charset="0"/>
                <a:ea typeface="ＭＳ Ｐゴシック" charset="0"/>
              </a:defRPr>
            </a:lvl8pPr>
            <a:lvl9pPr marL="1828800" fontAlgn="base">
              <a:spcBef>
                <a:spcPct val="0"/>
              </a:spcBef>
              <a:spcAft>
                <a:spcPct val="0"/>
              </a:spcAft>
              <a:defRPr>
                <a:solidFill>
                  <a:schemeClr val="tx1"/>
                </a:solidFill>
                <a:latin typeface="Arial" charset="0"/>
                <a:ea typeface="ＭＳ Ｐゴシック" charset="0"/>
              </a:defRPr>
            </a:lvl9pPr>
          </a:lstStyle>
          <a:p>
            <a:pPr marL="0" marR="0" lvl="0" indent="0" algn="r" defTabSz="914400" rtl="0" eaLnBrk="0" fontAlgn="auto" latinLnBrk="0" hangingPunct="0">
              <a:lnSpc>
                <a:spcPct val="100000"/>
              </a:lnSpc>
              <a:spcBef>
                <a:spcPts val="0"/>
              </a:spcBef>
              <a:spcAft>
                <a:spcPts val="0"/>
              </a:spcAft>
              <a:buClrTx/>
              <a:buSzTx/>
              <a:buFontTx/>
              <a:buNone/>
              <a:tabLst/>
              <a:defRPr/>
            </a:pPr>
            <a:fld id="{2A7D298E-EA3F-BB43-8C51-108576466ADB}" type="slidenum">
              <a:rPr kumimoji="0" lang="en-US" sz="1200" b="0" i="0" u="none" strike="noStrike" kern="1200" cap="none" spc="0" normalizeH="0" baseline="0" noProof="0">
                <a:ln>
                  <a:noFill/>
                </a:ln>
                <a:solidFill>
                  <a:prstClr val="black"/>
                </a:solidFill>
                <a:effectLst/>
                <a:uLnTx/>
                <a:uFillTx/>
                <a:latin typeface="Times" charset="0"/>
                <a:ea typeface="ＭＳ Ｐゴシック" charset="0"/>
                <a:cs typeface="ＭＳ Ｐゴシック" charset="0"/>
              </a:rPr>
              <a:pPr marL="0" marR="0" lvl="0" indent="0" algn="r" defTabSz="914400" rtl="0" eaLnBrk="0" fontAlgn="auto" latinLnBrk="0" hangingPunct="0">
                <a:lnSpc>
                  <a:spcPct val="100000"/>
                </a:lnSpc>
                <a:spcBef>
                  <a:spcPts val="0"/>
                </a:spcBef>
                <a:spcAft>
                  <a:spcPts val="0"/>
                </a:spcAft>
                <a:buClrTx/>
                <a:buSzTx/>
                <a:buFontTx/>
                <a:buNone/>
                <a:tabLst/>
                <a:defRPr/>
              </a:pPr>
              <a:t>83</a:t>
            </a:fld>
            <a:endParaRPr kumimoji="0" lang="en-US" sz="1200" b="0" i="0" u="none" strike="noStrike" kern="1200" cap="none" spc="0" normalizeH="0" baseline="0" noProof="0" dirty="0">
              <a:ln>
                <a:noFill/>
              </a:ln>
              <a:solidFill>
                <a:prstClr val="black"/>
              </a:solidFill>
              <a:effectLst/>
              <a:uLnTx/>
              <a:uFillTx/>
              <a:latin typeface="Times" charset="0"/>
              <a:ea typeface="ＭＳ Ｐゴシック" charset="0"/>
              <a:cs typeface="ＭＳ Ｐゴシック" charset="0"/>
            </a:endParaRPr>
          </a:p>
        </p:txBody>
      </p:sp>
      <p:sp>
        <p:nvSpPr>
          <p:cNvPr id="55299"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55300" name="Rectangle 3"/>
          <p:cNvSpPr>
            <a:spLocks noGrp="1" noChangeArrowheads="1"/>
          </p:cNvSpPr>
          <p:nvPr>
            <p:ph type="body" idx="1"/>
          </p:nvPr>
        </p:nvSpPr>
        <p:spPr>
          <a:xfrm>
            <a:off x="914400" y="4343400"/>
            <a:ext cx="5029200" cy="4114800"/>
          </a:xfr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12584207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92DCF3-8AC7-4D43-958B-015CB08AC035}"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144211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2DCF3-8AC7-4D43-958B-015CB08AC035}"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3862419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2DCF3-8AC7-4D43-958B-015CB08AC035}"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750624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92DCF3-8AC7-4D43-958B-015CB08AC035}"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2399225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92DCF3-8AC7-4D43-958B-015CB08AC035}" type="datetimeFigureOut">
              <a:rPr lang="en-US" smtClean="0"/>
              <a:t>10/22/2024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2852631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92DCF3-8AC7-4D43-958B-015CB08AC035}" type="datetimeFigureOut">
              <a:rPr lang="en-US" smtClean="0"/>
              <a:t>10/22/2024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2794223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2DCF3-8AC7-4D43-958B-015CB08AC035}" type="datetimeFigureOut">
              <a:rPr lang="en-US" smtClean="0"/>
              <a:t>10/22/2024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1026602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92DCF3-8AC7-4D43-958B-015CB08AC035}"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2802003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92DCF3-8AC7-4D43-958B-015CB08AC035}" type="datetimeFigureOut">
              <a:rPr lang="en-US" smtClean="0"/>
              <a:t>10/22/2024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3121535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2DCF3-8AC7-4D43-958B-015CB08AC035}"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2308768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92DCF3-8AC7-4D43-958B-015CB08AC035}" type="datetimeFigureOut">
              <a:rPr lang="en-US" smtClean="0"/>
              <a:t>10/22/2024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6F18F2-ABB2-4FC8-AD72-95ABDD125AE4}" type="slidenum">
              <a:rPr lang="en-US" smtClean="0"/>
              <a:t>‹#›</a:t>
            </a:fld>
            <a:endParaRPr lang="en-US"/>
          </a:p>
        </p:txBody>
      </p:sp>
    </p:spTree>
    <p:extLst>
      <p:ext uri="{BB962C8B-B14F-4D97-AF65-F5344CB8AC3E}">
        <p14:creationId xmlns:p14="http://schemas.microsoft.com/office/powerpoint/2010/main" val="3526432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0110679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956750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163586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5466199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r>
              <a:rPr lang="en-GB" dirty="0"/>
              <a:t>www.id-book.com</a:t>
            </a:r>
          </a:p>
        </p:txBody>
      </p:sp>
      <p:sp>
        <p:nvSpPr>
          <p:cNvPr id="9" name="Slide Number Placeholder 8"/>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062976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r>
              <a:rPr lang="en-GB" dirty="0"/>
              <a:t>www.id-book.com</a:t>
            </a:r>
          </a:p>
        </p:txBody>
      </p:sp>
      <p:sp>
        <p:nvSpPr>
          <p:cNvPr id="5" name="Slide Number Placeholder 4"/>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291158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p>
            <a:r>
              <a:rPr lang="en-GB" dirty="0"/>
              <a:t>www.id-book.com</a:t>
            </a:r>
          </a:p>
        </p:txBody>
      </p:sp>
      <p:sp>
        <p:nvSpPr>
          <p:cNvPr id="4" name="Slide Number Placeholder 3"/>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7282585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1310056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2619703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718351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1834168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1896632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81904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206830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0171044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r>
              <a:rPr lang="en-GB" dirty="0"/>
              <a:t>www.id-book.com</a:t>
            </a:r>
          </a:p>
        </p:txBody>
      </p:sp>
      <p:sp>
        <p:nvSpPr>
          <p:cNvPr id="9" name="Slide Number Placeholder 8"/>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1188389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r>
              <a:rPr lang="en-GB" dirty="0"/>
              <a:t>www.id-book.com</a:t>
            </a:r>
          </a:p>
        </p:txBody>
      </p:sp>
      <p:sp>
        <p:nvSpPr>
          <p:cNvPr id="5" name="Slide Number Placeholder 4"/>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8954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4" name="Slide Number Placeholder 3"/>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33905689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7" name="Slide Number Placeholder 6"/>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21670700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1618183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9795612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6694951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r>
              <a:rPr lang="en-US" dirty="0"/>
              <a:t>www.id-book.com</a:t>
            </a:r>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23956642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r>
              <a:rPr lang="en-US" dirty="0"/>
              <a:t>www.id-book.com</a:t>
            </a:r>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893993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www.id-book.com</a:t>
            </a:r>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1227189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r>
              <a:rPr lang="en-US" dirty="0"/>
              <a:t>www.id-book.com</a:t>
            </a:r>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6040549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r>
              <a:rPr lang="en-US" dirty="0"/>
              <a:t>www.id-book.com</a:t>
            </a:r>
            <a:endParaRPr lang="en-GB" dirty="0"/>
          </a:p>
        </p:txBody>
      </p:sp>
      <p:sp>
        <p:nvSpPr>
          <p:cNvPr id="8" name="Footer Placeholder 7"/>
          <p:cNvSpPr>
            <a:spLocks noGrp="1"/>
          </p:cNvSpPr>
          <p:nvPr>
            <p:ph type="ftr" sz="quarter" idx="11"/>
          </p:nvPr>
        </p:nvSpPr>
        <p:spPr/>
        <p:txBody>
          <a:bodyPr/>
          <a:lstStyle/>
          <a:p>
            <a:r>
              <a:rPr lang="en-GB" dirty="0"/>
              <a:t>www.id-book.com</a:t>
            </a:r>
          </a:p>
        </p:txBody>
      </p:sp>
      <p:sp>
        <p:nvSpPr>
          <p:cNvPr id="9" name="Slide Number Placeholder 8"/>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4057679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r>
              <a:rPr lang="en-US" dirty="0"/>
              <a:t>www.id-book.com</a:t>
            </a:r>
            <a:endParaRPr lang="en-GB" dirty="0"/>
          </a:p>
        </p:txBody>
      </p:sp>
      <p:sp>
        <p:nvSpPr>
          <p:cNvPr id="4" name="Footer Placeholder 3"/>
          <p:cNvSpPr>
            <a:spLocks noGrp="1"/>
          </p:cNvSpPr>
          <p:nvPr>
            <p:ph type="ftr" sz="quarter" idx="11"/>
          </p:nvPr>
        </p:nvSpPr>
        <p:spPr/>
        <p:txBody>
          <a:bodyPr/>
          <a:lstStyle/>
          <a:p>
            <a:r>
              <a:rPr lang="en-GB" dirty="0"/>
              <a:t>www.id-book.com</a:t>
            </a:r>
          </a:p>
        </p:txBody>
      </p:sp>
      <p:sp>
        <p:nvSpPr>
          <p:cNvPr id="5" name="Slide Number Placeholder 4"/>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8720839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www.id-book.com</a:t>
            </a:r>
            <a:endParaRPr lang="en-GB" dirty="0"/>
          </a:p>
        </p:txBody>
      </p:sp>
      <p:sp>
        <p:nvSpPr>
          <p:cNvPr id="3" name="Footer Placeholder 2"/>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4" name="Slide Number Placeholder 3"/>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53294368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www.id-book.com</a:t>
            </a:r>
            <a:endParaRPr lang="en-GB" dirty="0"/>
          </a:p>
        </p:txBody>
      </p:sp>
      <p:sp>
        <p:nvSpPr>
          <p:cNvPr id="6" name="Footer Placeholder 5"/>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7" name="Slide Number Placeholder 6"/>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35541942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www.id-book.com</a:t>
            </a:r>
            <a:endParaRPr lang="en-GB" dirty="0"/>
          </a:p>
        </p:txBody>
      </p:sp>
      <p:sp>
        <p:nvSpPr>
          <p:cNvPr id="6" name="Footer Placeholder 5"/>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7" name="Slide Number Placeholder 6"/>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4113991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r>
              <a:rPr lang="en-US" dirty="0"/>
              <a:t>www.id-book.com</a:t>
            </a:r>
            <a:endParaRPr lang="en-GB" dirty="0"/>
          </a:p>
        </p:txBody>
      </p:sp>
      <p:sp>
        <p:nvSpPr>
          <p:cNvPr id="5" name="Footer Placeholder 4"/>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26285741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r>
              <a:rPr lang="en-US" dirty="0"/>
              <a:t>www.id-book.com</a:t>
            </a:r>
            <a:endParaRPr lang="en-GB" dirty="0"/>
          </a:p>
        </p:txBody>
      </p:sp>
      <p:sp>
        <p:nvSpPr>
          <p:cNvPr id="5" name="Footer Placeholder 4"/>
          <p:cNvSpPr>
            <a:spLocks noGrp="1"/>
          </p:cNvSpPr>
          <p:nvPr>
            <p:ph type="ftr" sz="quarter" idx="11"/>
          </p:nvPr>
        </p:nvSpPr>
        <p:spPr/>
        <p:txBody>
          <a:bodyPr/>
          <a:lstStyle>
            <a:lvl1pPr>
              <a:defRPr>
                <a:solidFill>
                  <a:schemeClr val="accent6">
                    <a:lumMod val="75000"/>
                  </a:schemeClr>
                </a:solidFill>
              </a:defRPr>
            </a:lvl1pPr>
          </a:lstStyle>
          <a:p>
            <a:r>
              <a:rPr lang="en-GB" dirty="0"/>
              <a:t>www.id-book.com</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A7EA2D8D-44E5-43C4-BBA1-AE3E32EF0894}" type="slidenum">
              <a:rPr lang="en-GB" smtClean="0"/>
              <a:pPr/>
              <a:t>‹#›</a:t>
            </a:fld>
            <a:endParaRPr lang="en-GB" dirty="0"/>
          </a:p>
        </p:txBody>
      </p:sp>
    </p:spTree>
    <p:extLst>
      <p:ext uri="{BB962C8B-B14F-4D97-AF65-F5344CB8AC3E}">
        <p14:creationId xmlns:p14="http://schemas.microsoft.com/office/powerpoint/2010/main" val="651228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92DCF3-8AC7-4D43-958B-015CB08AC035}" type="datetimeFigureOut">
              <a:rPr lang="en-US" smtClean="0"/>
              <a:t>10/22/2024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6F18F2-ABB2-4FC8-AD72-95ABDD125AE4}" type="slidenum">
              <a:rPr lang="en-US" smtClean="0"/>
              <a:t>‹#›</a:t>
            </a:fld>
            <a:endParaRPr lang="en-US"/>
          </a:p>
        </p:txBody>
      </p:sp>
    </p:spTree>
    <p:extLst>
      <p:ext uri="{BB962C8B-B14F-4D97-AF65-F5344CB8AC3E}">
        <p14:creationId xmlns:p14="http://schemas.microsoft.com/office/powerpoint/2010/main" val="14652155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endParaRPr lang="en-GB"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dirty="0"/>
              <a:t>www.id-book.com</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fld id="{A7EA2D8D-44E5-43C4-BBA1-AE3E32EF0894}" type="slidenum">
              <a:rPr lang="en-GB" smtClean="0"/>
              <a:pPr/>
              <a:t>‹#›</a:t>
            </a:fld>
            <a:endParaRPr lang="en-GB" dirty="0"/>
          </a:p>
        </p:txBody>
      </p:sp>
      <p:sp>
        <p:nvSpPr>
          <p:cNvPr id="7" name="Rectangle 6"/>
          <p:cNvSpPr/>
          <p:nvPr userDrawn="1"/>
        </p:nvSpPr>
        <p:spPr>
          <a:xfrm>
            <a:off x="0" y="0"/>
            <a:ext cx="12192000" cy="68580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Tree>
    <p:extLst>
      <p:ext uri="{BB962C8B-B14F-4D97-AF65-F5344CB8AC3E}">
        <p14:creationId xmlns:p14="http://schemas.microsoft.com/office/powerpoint/2010/main" val="34062576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spcBef>
          <a:spcPct val="0"/>
        </a:spcBef>
        <a:buNone/>
        <a:defRPr sz="4400" kern="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Liberation Sans" panose="020B0604020202020204" pitchFamily="34" charset="0"/>
          <a:ea typeface="Liberation Sans" panose="020B0604020202020204" pitchFamily="34" charset="0"/>
          <a:cs typeface="Liberation Sans"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endParaRPr lang="en-GB"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dirty="0"/>
              <a:t>www.id-book.com</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fld id="{A7EA2D8D-44E5-43C4-BBA1-AE3E32EF0894}" type="slidenum">
              <a:rPr lang="en-GB" smtClean="0"/>
              <a:pPr/>
              <a:t>‹#›</a:t>
            </a:fld>
            <a:endParaRPr lang="en-GB" dirty="0"/>
          </a:p>
        </p:txBody>
      </p:sp>
      <p:sp>
        <p:nvSpPr>
          <p:cNvPr id="7" name="Rectangle 6"/>
          <p:cNvSpPr/>
          <p:nvPr userDrawn="1"/>
        </p:nvSpPr>
        <p:spPr>
          <a:xfrm>
            <a:off x="0" y="0"/>
            <a:ext cx="12192000" cy="68580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Tree>
    <p:extLst>
      <p:ext uri="{BB962C8B-B14F-4D97-AF65-F5344CB8AC3E}">
        <p14:creationId xmlns:p14="http://schemas.microsoft.com/office/powerpoint/2010/main" val="1023652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defTabSz="914400" rtl="0" eaLnBrk="1" latinLnBrk="0" hangingPunct="1">
        <a:spcBef>
          <a:spcPct val="0"/>
        </a:spcBef>
        <a:buNone/>
        <a:defRPr sz="4400" kern="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Liberation Sans" panose="020B0604020202020204" pitchFamily="34" charset="0"/>
          <a:ea typeface="Liberation Sans" panose="020B0604020202020204" pitchFamily="34" charset="0"/>
          <a:cs typeface="Liberation Sans"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US" dirty="0"/>
              <a:t>www.id-book.com</a:t>
            </a:r>
            <a:endParaRPr lang="en-GB"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dirty="0"/>
              <a:t>www.id-book.com</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fld id="{A7EA2D8D-44E5-43C4-BBA1-AE3E32EF0894}" type="slidenum">
              <a:rPr lang="en-GB" smtClean="0"/>
              <a:pPr/>
              <a:t>‹#›</a:t>
            </a:fld>
            <a:endParaRPr lang="en-GB" dirty="0"/>
          </a:p>
        </p:txBody>
      </p:sp>
      <p:sp>
        <p:nvSpPr>
          <p:cNvPr id="7" name="Rectangle 6"/>
          <p:cNvSpPr/>
          <p:nvPr userDrawn="1"/>
        </p:nvSpPr>
        <p:spPr>
          <a:xfrm>
            <a:off x="0" y="0"/>
            <a:ext cx="12192000" cy="68580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Tree>
    <p:extLst>
      <p:ext uri="{BB962C8B-B14F-4D97-AF65-F5344CB8AC3E}">
        <p14:creationId xmlns:p14="http://schemas.microsoft.com/office/powerpoint/2010/main" val="23310235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ctr" defTabSz="914400" rtl="0" eaLnBrk="1" latinLnBrk="0" hangingPunct="1">
        <a:spcBef>
          <a:spcPct val="0"/>
        </a:spcBef>
        <a:buNone/>
        <a:defRPr sz="4400" kern="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Liberation Sans" panose="020B0604020202020204" pitchFamily="34" charset="0"/>
          <a:ea typeface="Liberation Sans" panose="020B0604020202020204" pitchFamily="34" charset="0"/>
          <a:cs typeface="Liberation Sans"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hyperlink" Target="https://asktog.com/" TargetMode="External"/><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hyperlink" Target="https://www.inaturalist.org/" TargetMode="Externa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hyperlink" Target="https://www.acm.org/publication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hyperlink" Target="https://www.acm.org/publications"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acm.org/publications" TargetMode="External"/><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hyperlink" Target="https://www.acm.org/publications" TargetMode="External"/><Relationship Id="rId2" Type="http://schemas.openxmlformats.org/officeDocument/2006/relationships/image" Target="../media/image17.emf"/><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eu.wiley.com/WileyCDA/WileyTitle/productCd-1119020751.html" TargetMode="External"/><Relationship Id="rId1" Type="http://schemas.openxmlformats.org/officeDocument/2006/relationships/slideLayout" Target="../slideLayouts/slideLayout23.xml"/><Relationship Id="rId4" Type="http://schemas.openxmlformats.org/officeDocument/2006/relationships/image" Target="../media/image13.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hyperlink" Target="https://www.acm.org/publications" TargetMode="External"/><Relationship Id="rId2" Type="http://schemas.openxmlformats.org/officeDocument/2006/relationships/notesSlide" Target="../notesSlides/notesSlide16.xml"/><Relationship Id="rId1" Type="http://schemas.openxmlformats.org/officeDocument/2006/relationships/slideLayout" Target="../slideLayouts/slideLayout29.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hyperlink" Target="https://www.nngroup.com/" TargetMode="External"/><Relationship Id="rId2" Type="http://schemas.openxmlformats.org/officeDocument/2006/relationships/notesSlide" Target="../notesSlides/notesSlide17.xml"/><Relationship Id="rId1" Type="http://schemas.openxmlformats.org/officeDocument/2006/relationships/slideLayout" Target="../slideLayouts/slideLayout29.xml"/><Relationship Id="rId4" Type="http://schemas.openxmlformats.org/officeDocument/2006/relationships/image" Target="../media/image21.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hyperlink" Target="https://www.nngroup.com/" TargetMode="External"/></Relationships>
</file>

<file path=ppt/slides/_rels/slide40.xml.rels><?xml version="1.0" encoding="UTF-8" standalone="yes"?>
<Relationships xmlns="http://schemas.openxmlformats.org/package/2006/relationships"><Relationship Id="rId2" Type="http://schemas.openxmlformats.org/officeDocument/2006/relationships/hyperlink" Target="https://www.nngroup.com/" TargetMode="Externa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9.xml"/><Relationship Id="rId1" Type="http://schemas.openxmlformats.org/officeDocument/2006/relationships/vmlDrawing" Target="../drawings/vmlDrawing1.vml"/><Relationship Id="rId5" Type="http://schemas.openxmlformats.org/officeDocument/2006/relationships/image" Target="../media/image23.emf"/><Relationship Id="rId4" Type="http://schemas.openxmlformats.org/officeDocument/2006/relationships/oleObject" Target="../embeddings/oleObject1.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www.acm.org/publications" TargetMode="External"/><Relationship Id="rId1" Type="http://schemas.openxmlformats.org/officeDocument/2006/relationships/slideLayout" Target="../slideLayouts/slideLayout2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eu.wiley.com/WileyCDA/WileyTitle/productCd-1119020751.html" TargetMode="External"/><Relationship Id="rId1" Type="http://schemas.openxmlformats.org/officeDocument/2006/relationships/slideLayout" Target="../slideLayouts/slideLayout34.xml"/><Relationship Id="rId4" Type="http://schemas.openxmlformats.org/officeDocument/2006/relationships/image" Target="../media/image13.jpe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0.xml"/></Relationships>
</file>

<file path=ppt/slides/_rels/slide6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6.xml"/><Relationship Id="rId1" Type="http://schemas.openxmlformats.org/officeDocument/2006/relationships/slideLayout" Target="../slideLayouts/slideLayout40.xml"/><Relationship Id="rId4" Type="http://schemas.openxmlformats.org/officeDocument/2006/relationships/hyperlink" Target="https://www.wiley.com/en-us" TargetMode="Externa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0.xml"/></Relationships>
</file>

<file path=ppt/slides/_rels/slide68.xml.rels><?xml version="1.0" encoding="UTF-8" standalone="yes"?>
<Relationships xmlns="http://schemas.openxmlformats.org/package/2006/relationships"><Relationship Id="rId3" Type="http://schemas.openxmlformats.org/officeDocument/2006/relationships/hyperlink" Target="https://www.w3.org/WAI/standards-guidelines/wcag/glance/" TargetMode="External"/><Relationship Id="rId2" Type="http://schemas.openxmlformats.org/officeDocument/2006/relationships/notesSlide" Target="../notesSlides/notesSlide41.xml"/><Relationship Id="rId1" Type="http://schemas.openxmlformats.org/officeDocument/2006/relationships/slideLayout" Target="../slideLayouts/slideLayout4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0.xml"/></Relationships>
</file>

<file path=ppt/slides/_rels/slide74.xml.rels><?xml version="1.0" encoding="UTF-8" standalone="yes"?>
<Relationships xmlns="http://schemas.openxmlformats.org/package/2006/relationships"><Relationship Id="rId3" Type="http://schemas.openxmlformats.org/officeDocument/2006/relationships/hyperlink" Target="http://www.id-book.com/" TargetMode="External"/><Relationship Id="rId2" Type="http://schemas.openxmlformats.org/officeDocument/2006/relationships/notesSlide" Target="../notesSlides/notesSlide47.xml"/><Relationship Id="rId1" Type="http://schemas.openxmlformats.org/officeDocument/2006/relationships/slideLayout" Target="../slideLayouts/slideLayout40.xml"/><Relationship Id="rId4" Type="http://schemas.openxmlformats.org/officeDocument/2006/relationships/image" Target="../media/image26.emf"/></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40.xml"/><Relationship Id="rId4" Type="http://schemas.openxmlformats.org/officeDocument/2006/relationships/hyperlink" Target="http://www.id-book.com/"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40.xml"/><Relationship Id="rId4" Type="http://schemas.openxmlformats.org/officeDocument/2006/relationships/hyperlink" Target="http://http/www.visistat.com/tracking/monthly-page-views.php"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29.tif"/><Relationship Id="rId2" Type="http://schemas.openxmlformats.org/officeDocument/2006/relationships/notesSlide" Target="../notesSlides/notesSlide50.xml"/><Relationship Id="rId1" Type="http://schemas.openxmlformats.org/officeDocument/2006/relationships/slideLayout" Target="../slideLayouts/slideLayout40.xml"/><Relationship Id="rId4" Type="http://schemas.openxmlformats.org/officeDocument/2006/relationships/hyperlink" Target="http://http/www.visistat.com/tracking/monthly-page-views.php"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0.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0.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3" descr="C:\Users\ThaoPT\Google Drive\2017 CÔNG VIỆC PHÒNG QAFEHO\3 VIET TAI LIEU\Logo2016\FE new logo ver Dec 2016\Logo-F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500" y="444500"/>
            <a:ext cx="2792678" cy="8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itle 4"/>
          <p:cNvSpPr>
            <a:spLocks noGrp="1"/>
          </p:cNvSpPr>
          <p:nvPr>
            <p:ph type="title"/>
          </p:nvPr>
        </p:nvSpPr>
        <p:spPr>
          <a:xfrm>
            <a:off x="762000" y="2921000"/>
            <a:ext cx="10972271" cy="1143000"/>
          </a:xfrm>
        </p:spPr>
        <p:txBody>
          <a:bodyPr/>
          <a:lstStyle/>
          <a:p>
            <a:r>
              <a:rPr lang="en-US" dirty="0"/>
              <a:t>Mobile App Design Process</a:t>
            </a:r>
          </a:p>
        </p:txBody>
      </p:sp>
      <p:sp>
        <p:nvSpPr>
          <p:cNvPr id="4" name="Subtitle 2"/>
          <p:cNvSpPr txBox="1">
            <a:spLocks/>
          </p:cNvSpPr>
          <p:nvPr/>
        </p:nvSpPr>
        <p:spPr>
          <a:xfrm>
            <a:off x="762000" y="3862136"/>
            <a:ext cx="9144000" cy="13956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bg2">
                    <a:lumMod val="50000"/>
                  </a:schemeClr>
                </a:solidFill>
              </a:rPr>
              <a:t>Research, Design, Implementation: Agile Process for Mobility</a:t>
            </a:r>
          </a:p>
        </p:txBody>
      </p:sp>
    </p:spTree>
    <p:extLst>
      <p:ext uri="{BB962C8B-B14F-4D97-AF65-F5344CB8AC3E}">
        <p14:creationId xmlns:p14="http://schemas.microsoft.com/office/powerpoint/2010/main" val="2580514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92966-7E69-493A-A9F8-669BC1003FE5}"/>
              </a:ext>
            </a:extLst>
          </p:cNvPr>
          <p:cNvSpPr>
            <a:spLocks noGrp="1"/>
          </p:cNvSpPr>
          <p:nvPr>
            <p:ph type="title"/>
          </p:nvPr>
        </p:nvSpPr>
        <p:spPr/>
        <p:txBody>
          <a:bodyPr/>
          <a:lstStyle/>
          <a:p>
            <a:r>
              <a:rPr lang="en-US" dirty="0"/>
              <a:t>Next…</a:t>
            </a:r>
          </a:p>
        </p:txBody>
      </p:sp>
      <p:pic>
        <p:nvPicPr>
          <p:cNvPr id="4" name="Picture 3">
            <a:extLst>
              <a:ext uri="{FF2B5EF4-FFF2-40B4-BE49-F238E27FC236}">
                <a16:creationId xmlns:a16="http://schemas.microsoft.com/office/drawing/2014/main" id="{2630F698-344A-4A14-BE3C-AB4B368048EB}"/>
              </a:ext>
            </a:extLst>
          </p:cNvPr>
          <p:cNvPicPr>
            <a:picLocks noChangeAspect="1"/>
          </p:cNvPicPr>
          <p:nvPr/>
        </p:nvPicPr>
        <p:blipFill>
          <a:blip r:embed="rId2"/>
          <a:stretch>
            <a:fillRect/>
          </a:stretch>
        </p:blipFill>
        <p:spPr>
          <a:xfrm>
            <a:off x="950614" y="1941226"/>
            <a:ext cx="10534040" cy="3934473"/>
          </a:xfrm>
          <a:prstGeom prst="rect">
            <a:avLst/>
          </a:prstGeom>
        </p:spPr>
      </p:pic>
    </p:spTree>
    <p:extLst>
      <p:ext uri="{BB962C8B-B14F-4D97-AF65-F5344CB8AC3E}">
        <p14:creationId xmlns:p14="http://schemas.microsoft.com/office/powerpoint/2010/main" val="1681225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95B43-A8DD-4AFA-A55F-DD64EFD4E102}"/>
              </a:ext>
            </a:extLst>
          </p:cNvPr>
          <p:cNvSpPr>
            <a:spLocks noGrp="1"/>
          </p:cNvSpPr>
          <p:nvPr>
            <p:ph type="title"/>
          </p:nvPr>
        </p:nvSpPr>
        <p:spPr/>
        <p:txBody>
          <a:bodyPr/>
          <a:lstStyle/>
          <a:p>
            <a:r>
              <a:rPr lang="en-US" dirty="0"/>
              <a:t>Create a case study for your portfolio project</a:t>
            </a:r>
          </a:p>
        </p:txBody>
      </p:sp>
      <p:pic>
        <p:nvPicPr>
          <p:cNvPr id="4" name="Picture 3">
            <a:extLst>
              <a:ext uri="{FF2B5EF4-FFF2-40B4-BE49-F238E27FC236}">
                <a16:creationId xmlns:a16="http://schemas.microsoft.com/office/drawing/2014/main" id="{FB74659E-D765-4D09-9E2C-777272D2C205}"/>
              </a:ext>
            </a:extLst>
          </p:cNvPr>
          <p:cNvPicPr>
            <a:picLocks noChangeAspect="1"/>
          </p:cNvPicPr>
          <p:nvPr/>
        </p:nvPicPr>
        <p:blipFill>
          <a:blip r:embed="rId2"/>
          <a:stretch>
            <a:fillRect/>
          </a:stretch>
        </p:blipFill>
        <p:spPr>
          <a:xfrm>
            <a:off x="913476" y="1804988"/>
            <a:ext cx="6156283" cy="3219774"/>
          </a:xfrm>
          <a:prstGeom prst="rect">
            <a:avLst/>
          </a:prstGeom>
        </p:spPr>
      </p:pic>
      <p:pic>
        <p:nvPicPr>
          <p:cNvPr id="5" name="Picture 4">
            <a:extLst>
              <a:ext uri="{FF2B5EF4-FFF2-40B4-BE49-F238E27FC236}">
                <a16:creationId xmlns:a16="http://schemas.microsoft.com/office/drawing/2014/main" id="{CF17DA0C-EEF0-4309-ACD9-E8543E0025DF}"/>
              </a:ext>
            </a:extLst>
          </p:cNvPr>
          <p:cNvPicPr>
            <a:picLocks noChangeAspect="1"/>
          </p:cNvPicPr>
          <p:nvPr/>
        </p:nvPicPr>
        <p:blipFill>
          <a:blip r:embed="rId3"/>
          <a:stretch>
            <a:fillRect/>
          </a:stretch>
        </p:blipFill>
        <p:spPr>
          <a:xfrm>
            <a:off x="6684885" y="1631474"/>
            <a:ext cx="4883444" cy="2248068"/>
          </a:xfrm>
          <a:prstGeom prst="rect">
            <a:avLst/>
          </a:prstGeom>
        </p:spPr>
      </p:pic>
      <p:pic>
        <p:nvPicPr>
          <p:cNvPr id="6" name="Picture 5">
            <a:extLst>
              <a:ext uri="{FF2B5EF4-FFF2-40B4-BE49-F238E27FC236}">
                <a16:creationId xmlns:a16="http://schemas.microsoft.com/office/drawing/2014/main" id="{43F89CE3-467F-467B-AA84-F42F961F047C}"/>
              </a:ext>
            </a:extLst>
          </p:cNvPr>
          <p:cNvPicPr>
            <a:picLocks noChangeAspect="1"/>
          </p:cNvPicPr>
          <p:nvPr/>
        </p:nvPicPr>
        <p:blipFill>
          <a:blip r:embed="rId4"/>
          <a:stretch>
            <a:fillRect/>
          </a:stretch>
        </p:blipFill>
        <p:spPr>
          <a:xfrm>
            <a:off x="5534944" y="3845312"/>
            <a:ext cx="5818856" cy="2693479"/>
          </a:xfrm>
          <a:prstGeom prst="rect">
            <a:avLst/>
          </a:prstGeom>
        </p:spPr>
      </p:pic>
    </p:spTree>
    <p:extLst>
      <p:ext uri="{BB962C8B-B14F-4D97-AF65-F5344CB8AC3E}">
        <p14:creationId xmlns:p14="http://schemas.microsoft.com/office/powerpoint/2010/main" val="1045027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38078-0DC3-43AC-82F7-902EFF185434}"/>
              </a:ext>
            </a:extLst>
          </p:cNvPr>
          <p:cNvSpPr>
            <a:spLocks noGrp="1"/>
          </p:cNvSpPr>
          <p:nvPr>
            <p:ph type="title"/>
          </p:nvPr>
        </p:nvSpPr>
        <p:spPr/>
        <p:txBody>
          <a:bodyPr/>
          <a:lstStyle/>
          <a:p>
            <a:r>
              <a:rPr lang="en-US" dirty="0"/>
              <a:t>Create a case study for your portfolio project</a:t>
            </a:r>
          </a:p>
        </p:txBody>
      </p:sp>
      <p:pic>
        <p:nvPicPr>
          <p:cNvPr id="4" name="Picture 3">
            <a:extLst>
              <a:ext uri="{FF2B5EF4-FFF2-40B4-BE49-F238E27FC236}">
                <a16:creationId xmlns:a16="http://schemas.microsoft.com/office/drawing/2014/main" id="{DB2D9CEA-1548-45CA-A86C-44364D5A489E}"/>
              </a:ext>
            </a:extLst>
          </p:cNvPr>
          <p:cNvPicPr>
            <a:picLocks noChangeAspect="1"/>
          </p:cNvPicPr>
          <p:nvPr/>
        </p:nvPicPr>
        <p:blipFill>
          <a:blip r:embed="rId2"/>
          <a:stretch>
            <a:fillRect/>
          </a:stretch>
        </p:blipFill>
        <p:spPr>
          <a:xfrm>
            <a:off x="906447" y="1766702"/>
            <a:ext cx="4468319" cy="2228249"/>
          </a:xfrm>
          <a:prstGeom prst="rect">
            <a:avLst/>
          </a:prstGeom>
        </p:spPr>
      </p:pic>
      <p:pic>
        <p:nvPicPr>
          <p:cNvPr id="5" name="Picture 4">
            <a:extLst>
              <a:ext uri="{FF2B5EF4-FFF2-40B4-BE49-F238E27FC236}">
                <a16:creationId xmlns:a16="http://schemas.microsoft.com/office/drawing/2014/main" id="{D4B584E6-95CF-4808-A5F8-2C1B971DA89F}"/>
              </a:ext>
            </a:extLst>
          </p:cNvPr>
          <p:cNvPicPr>
            <a:picLocks noChangeAspect="1"/>
          </p:cNvPicPr>
          <p:nvPr/>
        </p:nvPicPr>
        <p:blipFill>
          <a:blip r:embed="rId3"/>
          <a:stretch>
            <a:fillRect/>
          </a:stretch>
        </p:blipFill>
        <p:spPr>
          <a:xfrm>
            <a:off x="5491254" y="1766702"/>
            <a:ext cx="6121705" cy="4057049"/>
          </a:xfrm>
          <a:prstGeom prst="rect">
            <a:avLst/>
          </a:prstGeom>
        </p:spPr>
      </p:pic>
    </p:spTree>
    <p:extLst>
      <p:ext uri="{BB962C8B-B14F-4D97-AF65-F5344CB8AC3E}">
        <p14:creationId xmlns:p14="http://schemas.microsoft.com/office/powerpoint/2010/main" val="833552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0C8B4-724B-4B94-9C1F-0B6C8AFF6B60}"/>
              </a:ext>
            </a:extLst>
          </p:cNvPr>
          <p:cNvSpPr>
            <a:spLocks noGrp="1"/>
          </p:cNvSpPr>
          <p:nvPr>
            <p:ph type="title"/>
          </p:nvPr>
        </p:nvSpPr>
        <p:spPr/>
        <p:txBody>
          <a:bodyPr/>
          <a:lstStyle/>
          <a:p>
            <a:r>
              <a:rPr lang="en-US" dirty="0"/>
              <a:t>Create a case study for your portfolio project</a:t>
            </a:r>
          </a:p>
        </p:txBody>
      </p:sp>
      <p:pic>
        <p:nvPicPr>
          <p:cNvPr id="4" name="Picture 3">
            <a:extLst>
              <a:ext uri="{FF2B5EF4-FFF2-40B4-BE49-F238E27FC236}">
                <a16:creationId xmlns:a16="http://schemas.microsoft.com/office/drawing/2014/main" id="{883DD50C-1387-4E98-AF4E-3D92B86B3091}"/>
              </a:ext>
            </a:extLst>
          </p:cNvPr>
          <p:cNvPicPr>
            <a:picLocks noChangeAspect="1"/>
          </p:cNvPicPr>
          <p:nvPr/>
        </p:nvPicPr>
        <p:blipFill>
          <a:blip r:embed="rId2"/>
          <a:stretch>
            <a:fillRect/>
          </a:stretch>
        </p:blipFill>
        <p:spPr>
          <a:xfrm>
            <a:off x="143337" y="2096054"/>
            <a:ext cx="5860340" cy="3248303"/>
          </a:xfrm>
          <a:prstGeom prst="rect">
            <a:avLst/>
          </a:prstGeom>
        </p:spPr>
      </p:pic>
      <p:pic>
        <p:nvPicPr>
          <p:cNvPr id="5" name="Picture 4">
            <a:extLst>
              <a:ext uri="{FF2B5EF4-FFF2-40B4-BE49-F238E27FC236}">
                <a16:creationId xmlns:a16="http://schemas.microsoft.com/office/drawing/2014/main" id="{06908789-3A1E-41B5-958C-F3E0C431A91B}"/>
              </a:ext>
            </a:extLst>
          </p:cNvPr>
          <p:cNvPicPr>
            <a:picLocks noChangeAspect="1"/>
          </p:cNvPicPr>
          <p:nvPr/>
        </p:nvPicPr>
        <p:blipFill>
          <a:blip r:embed="rId3"/>
          <a:stretch>
            <a:fillRect/>
          </a:stretch>
        </p:blipFill>
        <p:spPr>
          <a:xfrm>
            <a:off x="5755102" y="2096054"/>
            <a:ext cx="5860340" cy="3047377"/>
          </a:xfrm>
          <a:prstGeom prst="rect">
            <a:avLst/>
          </a:prstGeom>
        </p:spPr>
      </p:pic>
    </p:spTree>
    <p:extLst>
      <p:ext uri="{BB962C8B-B14F-4D97-AF65-F5344CB8AC3E}">
        <p14:creationId xmlns:p14="http://schemas.microsoft.com/office/powerpoint/2010/main" val="2946795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AA75-757A-440C-98D9-4742220C835D}"/>
              </a:ext>
            </a:extLst>
          </p:cNvPr>
          <p:cNvSpPr>
            <a:spLocks noGrp="1"/>
          </p:cNvSpPr>
          <p:nvPr>
            <p:ph type="title"/>
          </p:nvPr>
        </p:nvSpPr>
        <p:spPr/>
        <p:txBody>
          <a:bodyPr/>
          <a:lstStyle/>
          <a:p>
            <a:r>
              <a:rPr lang="en-US" dirty="0"/>
              <a:t>Create a case study for your portfolio project</a:t>
            </a:r>
          </a:p>
        </p:txBody>
      </p:sp>
      <p:pic>
        <p:nvPicPr>
          <p:cNvPr id="4" name="Picture 3">
            <a:extLst>
              <a:ext uri="{FF2B5EF4-FFF2-40B4-BE49-F238E27FC236}">
                <a16:creationId xmlns:a16="http://schemas.microsoft.com/office/drawing/2014/main" id="{E675E182-9A68-40D1-B995-9A24935035B8}"/>
              </a:ext>
            </a:extLst>
          </p:cNvPr>
          <p:cNvPicPr>
            <a:picLocks noChangeAspect="1"/>
          </p:cNvPicPr>
          <p:nvPr/>
        </p:nvPicPr>
        <p:blipFill>
          <a:blip r:embed="rId2"/>
          <a:stretch>
            <a:fillRect/>
          </a:stretch>
        </p:blipFill>
        <p:spPr>
          <a:xfrm>
            <a:off x="674795" y="2232596"/>
            <a:ext cx="5077347" cy="2641246"/>
          </a:xfrm>
          <a:prstGeom prst="rect">
            <a:avLst/>
          </a:prstGeom>
        </p:spPr>
      </p:pic>
      <p:pic>
        <p:nvPicPr>
          <p:cNvPr id="5" name="Picture 4">
            <a:extLst>
              <a:ext uri="{FF2B5EF4-FFF2-40B4-BE49-F238E27FC236}">
                <a16:creationId xmlns:a16="http://schemas.microsoft.com/office/drawing/2014/main" id="{1E78D549-73F4-438A-B14C-26E9A4C3847B}"/>
              </a:ext>
            </a:extLst>
          </p:cNvPr>
          <p:cNvPicPr>
            <a:picLocks noChangeAspect="1"/>
          </p:cNvPicPr>
          <p:nvPr/>
        </p:nvPicPr>
        <p:blipFill>
          <a:blip r:embed="rId3"/>
          <a:stretch>
            <a:fillRect/>
          </a:stretch>
        </p:blipFill>
        <p:spPr>
          <a:xfrm>
            <a:off x="5577141" y="2056659"/>
            <a:ext cx="5940064" cy="3509639"/>
          </a:xfrm>
          <a:prstGeom prst="rect">
            <a:avLst/>
          </a:prstGeom>
        </p:spPr>
      </p:pic>
    </p:spTree>
    <p:extLst>
      <p:ext uri="{BB962C8B-B14F-4D97-AF65-F5344CB8AC3E}">
        <p14:creationId xmlns:p14="http://schemas.microsoft.com/office/powerpoint/2010/main" val="215001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5E382-1B8B-4BB0-8C30-2BA7757D168A}"/>
              </a:ext>
            </a:extLst>
          </p:cNvPr>
          <p:cNvSpPr>
            <a:spLocks noGrp="1"/>
          </p:cNvSpPr>
          <p:nvPr>
            <p:ph type="title"/>
          </p:nvPr>
        </p:nvSpPr>
        <p:spPr/>
        <p:txBody>
          <a:bodyPr/>
          <a:lstStyle/>
          <a:p>
            <a:r>
              <a:rPr lang="en-US" dirty="0"/>
              <a:t>Create a case study for your portfolio project</a:t>
            </a:r>
          </a:p>
        </p:txBody>
      </p:sp>
      <p:pic>
        <p:nvPicPr>
          <p:cNvPr id="4" name="Picture 3">
            <a:extLst>
              <a:ext uri="{FF2B5EF4-FFF2-40B4-BE49-F238E27FC236}">
                <a16:creationId xmlns:a16="http://schemas.microsoft.com/office/drawing/2014/main" id="{E83486CC-C5C3-436B-BCEE-0E8EFAA6B256}"/>
              </a:ext>
            </a:extLst>
          </p:cNvPr>
          <p:cNvPicPr>
            <a:picLocks noChangeAspect="1"/>
          </p:cNvPicPr>
          <p:nvPr/>
        </p:nvPicPr>
        <p:blipFill>
          <a:blip r:embed="rId2"/>
          <a:stretch>
            <a:fillRect/>
          </a:stretch>
        </p:blipFill>
        <p:spPr>
          <a:xfrm>
            <a:off x="1841377" y="1949435"/>
            <a:ext cx="7604464" cy="4329987"/>
          </a:xfrm>
          <a:prstGeom prst="rect">
            <a:avLst/>
          </a:prstGeom>
        </p:spPr>
      </p:pic>
    </p:spTree>
    <p:extLst>
      <p:ext uri="{BB962C8B-B14F-4D97-AF65-F5344CB8AC3E}">
        <p14:creationId xmlns:p14="http://schemas.microsoft.com/office/powerpoint/2010/main" val="369163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75676" y="4581128"/>
            <a:ext cx="4817857" cy="1077218"/>
          </a:xfrm>
          <a:prstGeom prst="rect">
            <a:avLst/>
          </a:prstGeom>
          <a:noFill/>
        </p:spPr>
        <p:txBody>
          <a:bodyPr wrap="none" rtlCol="0">
            <a:spAutoFit/>
          </a:bodyPr>
          <a:lstStyle/>
          <a:p>
            <a:pPr algn="ctr"/>
            <a:br>
              <a:rPr lang="en-GB" sz="3200" dirty="0">
                <a:solidFill>
                  <a:srgbClr val="77A363">
                    <a:lumMod val="75000"/>
                  </a:srgbClr>
                </a:solidFill>
                <a:latin typeface="Calibri"/>
                <a:ea typeface="Liberation Sans" panose="020B0604020202020204" pitchFamily="34" charset="0"/>
                <a:cs typeface="Liberation Sans" panose="020B0604020202020204" pitchFamily="34" charset="0"/>
              </a:rPr>
            </a:br>
            <a:r>
              <a:rPr lang="en-GB" sz="3200" dirty="0">
                <a:solidFill>
                  <a:srgbClr val="77A363">
                    <a:lumMod val="75000"/>
                  </a:srgbClr>
                </a:solidFill>
                <a:latin typeface="Calibri"/>
                <a:ea typeface="Liberation Sans" panose="020B0604020202020204" pitchFamily="34" charset="0"/>
                <a:cs typeface="Liberation Sans" panose="020B0604020202020204" pitchFamily="34" charset="0"/>
              </a:rPr>
              <a:t>INTRODUCING EVALUATION</a:t>
            </a:r>
            <a:endParaRPr lang="en-GB" sz="1400" dirty="0">
              <a:solidFill>
                <a:srgbClr val="77A363">
                  <a:lumMod val="75000"/>
                </a:srgbClr>
              </a:solidFill>
              <a:latin typeface="Calibri"/>
              <a:ea typeface="Liberation Sans" panose="020B0604020202020204" pitchFamily="34" charset="0"/>
              <a:cs typeface="Liberation Sans" panose="020B0604020202020204" pitchFamily="34" charset="0"/>
            </a:endParaRPr>
          </a:p>
        </p:txBody>
      </p:sp>
      <p:pic>
        <p:nvPicPr>
          <p:cNvPr id="5" name="Picture 4" descr="Cover of the book Interaction Design, Fifth Edition">
            <a:extLst>
              <a:ext uri="{FF2B5EF4-FFF2-40B4-BE49-F238E27FC236}">
                <a16:creationId xmlns:a16="http://schemas.microsoft.com/office/drawing/2014/main" id="{77AFC0ED-47E6-F343-A5A9-06DC9704DC7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1575" t="2693" r="1964" b="2693"/>
          <a:stretch/>
        </p:blipFill>
        <p:spPr>
          <a:xfrm>
            <a:off x="4499527" y="547785"/>
            <a:ext cx="3192946" cy="4004712"/>
          </a:xfrm>
          <a:prstGeom prst="rect">
            <a:avLst/>
          </a:prstGeom>
        </p:spPr>
      </p:pic>
    </p:spTree>
    <p:extLst>
      <p:ext uri="{BB962C8B-B14F-4D97-AF65-F5344CB8AC3E}">
        <p14:creationId xmlns:p14="http://schemas.microsoft.com/office/powerpoint/2010/main" val="2067272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a:xfrm>
            <a:off x="1981200" y="274638"/>
            <a:ext cx="8229600" cy="944562"/>
          </a:xfrm>
        </p:spPr>
        <p:txBody>
          <a:bodyPr/>
          <a:lstStyle/>
          <a:p>
            <a:pPr eaLnBrk="1" hangingPunct="1"/>
            <a:r>
              <a:rPr lang="en-GB" dirty="0">
                <a:latin typeface="Liberation Sans"/>
                <a:ea typeface="ＭＳ Ｐゴシック" charset="0"/>
                <a:cs typeface="ＭＳ Ｐゴシック" charset="0"/>
              </a:rPr>
              <a:t>Goals</a:t>
            </a:r>
          </a:p>
        </p:txBody>
      </p:sp>
      <p:sp>
        <p:nvSpPr>
          <p:cNvPr id="15365" name="Rectangle 3"/>
          <p:cNvSpPr>
            <a:spLocks noGrp="1" noChangeArrowheads="1"/>
          </p:cNvSpPr>
          <p:nvPr>
            <p:ph type="body" idx="4294967295"/>
          </p:nvPr>
        </p:nvSpPr>
        <p:spPr>
          <a:xfrm>
            <a:off x="1752600" y="1219200"/>
            <a:ext cx="8610600" cy="4730080"/>
          </a:xfrm>
        </p:spPr>
        <p:txBody>
          <a:bodyPr>
            <a:normAutofit fontScale="92500" lnSpcReduction="10000"/>
          </a:bodyPr>
          <a:lstStyle/>
          <a:p>
            <a:pPr lvl="0"/>
            <a:r>
              <a:rPr lang="en-US" dirty="0">
                <a:latin typeface="Liberation Sans"/>
              </a:rPr>
              <a:t>Explain the key concepts and terms used in evaluation</a:t>
            </a:r>
            <a:endParaRPr lang="en-US" sz="1000" dirty="0">
              <a:latin typeface="Liberation Sans"/>
            </a:endParaRPr>
          </a:p>
          <a:p>
            <a:pPr>
              <a:spcBef>
                <a:spcPts val="1200"/>
              </a:spcBef>
            </a:pPr>
            <a:r>
              <a:rPr lang="en-US" dirty="0">
                <a:latin typeface="Liberation Sans"/>
              </a:rPr>
              <a:t>Introduce range of different types of evaluation methods</a:t>
            </a:r>
            <a:endParaRPr lang="en-US" sz="1000" dirty="0">
              <a:latin typeface="Liberation Sans"/>
            </a:endParaRPr>
          </a:p>
          <a:p>
            <a:pPr>
              <a:spcBef>
                <a:spcPts val="1200"/>
              </a:spcBef>
            </a:pPr>
            <a:r>
              <a:rPr lang="en-US" dirty="0">
                <a:latin typeface="Liberation Sans"/>
              </a:rPr>
              <a:t>Show how different evaluation methods are used for different purposes at different stages of the design process and in different contexts of use</a:t>
            </a:r>
            <a:endParaRPr lang="en-US" sz="1000" dirty="0">
              <a:latin typeface="Liberation Sans"/>
            </a:endParaRPr>
          </a:p>
          <a:p>
            <a:pPr>
              <a:spcBef>
                <a:spcPts val="1200"/>
              </a:spcBef>
            </a:pPr>
            <a:r>
              <a:rPr lang="en-US" dirty="0">
                <a:latin typeface="Liberation Sans"/>
              </a:rPr>
              <a:t>Show how evaluators mixed and modified to meet the demands of evaluating novel systems</a:t>
            </a:r>
            <a:endParaRPr lang="en-US" sz="1000" dirty="0">
              <a:latin typeface="Liberation Sans"/>
            </a:endParaRPr>
          </a:p>
        </p:txBody>
      </p:sp>
      <p:sp>
        <p:nvSpPr>
          <p:cNvPr id="15366" name="Rectangle 4"/>
          <p:cNvSpPr>
            <a:spLocks noChangeArrowheads="1"/>
          </p:cNvSpPr>
          <p:nvPr/>
        </p:nvSpPr>
        <p:spPr bwMode="auto">
          <a:xfrm>
            <a:off x="1558925" y="-219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en-US" sz="2400" dirty="0">
              <a:solidFill>
                <a:srgbClr val="000000"/>
              </a:solidFill>
              <a:latin typeface="Liberation Sans"/>
            </a:endParaRP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9</a:t>
            </a:fld>
            <a:endParaRPr lang="en-GB" dirty="0">
              <a:solidFill>
                <a:srgbClr val="77A363">
                  <a:lumMod val="75000"/>
                </a:srgbClr>
              </a:solidFill>
            </a:endParaRPr>
          </a:p>
        </p:txBody>
      </p:sp>
    </p:spTree>
    <p:extLst>
      <p:ext uri="{BB962C8B-B14F-4D97-AF65-F5344CB8AC3E}">
        <p14:creationId xmlns:p14="http://schemas.microsoft.com/office/powerpoint/2010/main" val="2101265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a:xfrm>
            <a:off x="1981200" y="274638"/>
            <a:ext cx="8229600" cy="944562"/>
          </a:xfrm>
        </p:spPr>
        <p:txBody>
          <a:bodyPr/>
          <a:lstStyle/>
          <a:p>
            <a:pPr eaLnBrk="1" hangingPunct="1"/>
            <a:r>
              <a:rPr lang="en-GB" dirty="0">
                <a:latin typeface="Liberation Sans"/>
                <a:ea typeface="ＭＳ Ｐゴシック" charset="0"/>
                <a:cs typeface="ＭＳ Ｐゴシック" charset="0"/>
              </a:rPr>
              <a:t>Goals </a:t>
            </a:r>
            <a:r>
              <a:rPr lang="en-GB" sz="2800" i="1" dirty="0">
                <a:latin typeface="Liberation Sans"/>
                <a:ea typeface="ＭＳ Ｐゴシック" charset="0"/>
                <a:cs typeface="ＭＳ Ｐゴシック" charset="0"/>
              </a:rPr>
              <a:t>(continued)</a:t>
            </a:r>
            <a:endParaRPr lang="en-GB" i="1" dirty="0">
              <a:latin typeface="Liberation Sans"/>
              <a:ea typeface="ＭＳ Ｐゴシック" charset="0"/>
              <a:cs typeface="ＭＳ Ｐゴシック" charset="0"/>
            </a:endParaRPr>
          </a:p>
        </p:txBody>
      </p:sp>
      <p:sp>
        <p:nvSpPr>
          <p:cNvPr id="15365" name="Rectangle 3"/>
          <p:cNvSpPr>
            <a:spLocks noGrp="1" noChangeArrowheads="1"/>
          </p:cNvSpPr>
          <p:nvPr>
            <p:ph type="body" idx="4294967295"/>
          </p:nvPr>
        </p:nvSpPr>
        <p:spPr>
          <a:xfrm>
            <a:off x="1752600" y="1219200"/>
            <a:ext cx="8610600" cy="4658072"/>
          </a:xfrm>
        </p:spPr>
        <p:txBody>
          <a:bodyPr>
            <a:normAutofit/>
          </a:bodyPr>
          <a:lstStyle/>
          <a:p>
            <a:pPr lvl="0"/>
            <a:r>
              <a:rPr lang="en-US" dirty="0">
                <a:latin typeface="Liberation Sans"/>
              </a:rPr>
              <a:t>Discuss some of the practical challenges of doing evaluation</a:t>
            </a:r>
          </a:p>
          <a:p>
            <a:pPr>
              <a:spcBef>
                <a:spcPts val="2400"/>
              </a:spcBef>
            </a:pPr>
            <a:r>
              <a:rPr lang="en-US" dirty="0">
                <a:latin typeface="Liberation Sans"/>
              </a:rPr>
              <a:t>Through case studies, illustrate how methods discussed in Chapters 8, 9, and 10 are used in evaluation, and describe some methods that are specific to evaluation</a:t>
            </a:r>
          </a:p>
          <a:p>
            <a:pPr>
              <a:spcBef>
                <a:spcPts val="2400"/>
              </a:spcBef>
            </a:pPr>
            <a:r>
              <a:rPr lang="en-US" dirty="0">
                <a:latin typeface="Liberation Sans"/>
              </a:rPr>
              <a:t>Provide an overview of methods that are discussed in detail in the next two chapters</a:t>
            </a:r>
          </a:p>
        </p:txBody>
      </p:sp>
      <p:sp>
        <p:nvSpPr>
          <p:cNvPr id="15366" name="Rectangle 4"/>
          <p:cNvSpPr>
            <a:spLocks noChangeArrowheads="1"/>
          </p:cNvSpPr>
          <p:nvPr/>
        </p:nvSpPr>
        <p:spPr bwMode="auto">
          <a:xfrm>
            <a:off x="1558925" y="-219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en-US" sz="2400" dirty="0">
              <a:solidFill>
                <a:srgbClr val="000000"/>
              </a:solidFill>
              <a:latin typeface="Liberation Sans"/>
            </a:endParaRP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10</a:t>
            </a:fld>
            <a:endParaRPr lang="en-GB" dirty="0">
              <a:solidFill>
                <a:srgbClr val="77A363">
                  <a:lumMod val="75000"/>
                </a:srgbClr>
              </a:solidFill>
            </a:endParaRPr>
          </a:p>
        </p:txBody>
      </p:sp>
    </p:spTree>
    <p:extLst>
      <p:ext uri="{BB962C8B-B14F-4D97-AF65-F5344CB8AC3E}">
        <p14:creationId xmlns:p14="http://schemas.microsoft.com/office/powerpoint/2010/main" val="3314149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2670448" y="260648"/>
            <a:ext cx="6851104" cy="1143000"/>
          </a:xfrm>
        </p:spPr>
        <p:txBody>
          <a:bodyPr>
            <a:normAutofit fontScale="90000"/>
          </a:bodyPr>
          <a:lstStyle/>
          <a:p>
            <a:pPr eaLnBrk="1" hangingPunct="1"/>
            <a:r>
              <a:rPr lang="en-US" dirty="0">
                <a:latin typeface="Liberation Sans"/>
                <a:ea typeface="ＭＳ Ｐゴシック" charset="0"/>
                <a:cs typeface="ＭＳ Ｐゴシック" charset="0"/>
              </a:rPr>
              <a:t>Why, what, where, and when to evaluate</a:t>
            </a:r>
          </a:p>
        </p:txBody>
      </p:sp>
      <p:sp>
        <p:nvSpPr>
          <p:cNvPr id="17413" name="Rectangle 3"/>
          <p:cNvSpPr>
            <a:spLocks noGrp="1" noChangeArrowheads="1"/>
          </p:cNvSpPr>
          <p:nvPr>
            <p:ph type="body" idx="4294967295"/>
          </p:nvPr>
        </p:nvSpPr>
        <p:spPr>
          <a:xfrm>
            <a:off x="2133600" y="1752600"/>
            <a:ext cx="8153400" cy="4724400"/>
          </a:xfrm>
        </p:spPr>
        <p:txBody>
          <a:bodyPr>
            <a:normAutofit/>
          </a:bodyPr>
          <a:lstStyle/>
          <a:p>
            <a:pPr marL="0" indent="0">
              <a:lnSpc>
                <a:spcPct val="90000"/>
              </a:lnSpc>
              <a:buNone/>
            </a:pPr>
            <a:r>
              <a:rPr lang="en-US" sz="2500" dirty="0">
                <a:latin typeface="Liberation Sans"/>
                <a:ea typeface="ＭＳ Ｐゴシック" charset="0"/>
                <a:cs typeface="ＭＳ Ｐゴシック" charset="0"/>
              </a:rPr>
              <a:t>Iterative design and evaluation is a continuous process that examines:</a:t>
            </a:r>
          </a:p>
          <a:p>
            <a:pPr marL="0" indent="0">
              <a:lnSpc>
                <a:spcPct val="90000"/>
              </a:lnSpc>
              <a:spcBef>
                <a:spcPts val="1800"/>
              </a:spcBef>
              <a:buNone/>
            </a:pPr>
            <a:r>
              <a:rPr lang="en-US" sz="2500" b="1" dirty="0">
                <a:latin typeface="Liberation Sans"/>
                <a:ea typeface="ＭＳ Ｐゴシック" charset="0"/>
                <a:cs typeface="ＭＳ Ｐゴシック" charset="0"/>
              </a:rPr>
              <a:t>Why</a:t>
            </a:r>
            <a:r>
              <a:rPr lang="en-US" sz="2500" dirty="0">
                <a:latin typeface="Liberation Sans"/>
                <a:ea typeface="ＭＳ Ｐゴシック" charset="0"/>
                <a:cs typeface="ＭＳ Ｐゴシック" charset="0"/>
              </a:rPr>
              <a:t>: To check users’ requirements and confirm that users can utilize the product and that they like it</a:t>
            </a:r>
          </a:p>
          <a:p>
            <a:pPr marL="0" indent="0">
              <a:lnSpc>
                <a:spcPct val="90000"/>
              </a:lnSpc>
              <a:spcBef>
                <a:spcPts val="1800"/>
              </a:spcBef>
              <a:buNone/>
            </a:pPr>
            <a:r>
              <a:rPr lang="en-US" sz="2500" b="1" dirty="0">
                <a:latin typeface="Liberation Sans"/>
                <a:ea typeface="ＭＳ Ｐゴシック" charset="0"/>
                <a:cs typeface="ＭＳ Ｐゴシック" charset="0"/>
              </a:rPr>
              <a:t>What</a:t>
            </a:r>
            <a:r>
              <a:rPr lang="en-US" sz="2500" dirty="0">
                <a:latin typeface="Liberation Sans"/>
                <a:ea typeface="ＭＳ Ｐゴシック" charset="0"/>
                <a:cs typeface="ＭＳ Ｐゴシック" charset="0"/>
              </a:rPr>
              <a:t>: A conceptual model, early and subsequent prototypes of a new system, more complete prototypes, and a prototype to compare with competitors’ products</a:t>
            </a:r>
          </a:p>
          <a:p>
            <a:pPr marL="0" indent="0">
              <a:lnSpc>
                <a:spcPct val="90000"/>
              </a:lnSpc>
              <a:spcBef>
                <a:spcPts val="1800"/>
              </a:spcBef>
              <a:buNone/>
            </a:pPr>
            <a:r>
              <a:rPr lang="en-US" sz="2500" b="1" dirty="0">
                <a:latin typeface="Liberation Sans"/>
                <a:ea typeface="ＭＳ Ｐゴシック" charset="0"/>
                <a:cs typeface="ＭＳ Ｐゴシック" charset="0"/>
              </a:rPr>
              <a:t>Where</a:t>
            </a:r>
            <a:r>
              <a:rPr lang="en-US" sz="2500" dirty="0">
                <a:latin typeface="Liberation Sans"/>
                <a:ea typeface="ＭＳ Ｐゴシック" charset="0"/>
                <a:cs typeface="ＭＳ Ｐゴシック" charset="0"/>
              </a:rPr>
              <a:t>: In natural, in-the-wild, and laboratory settings</a:t>
            </a:r>
          </a:p>
          <a:p>
            <a:pPr marL="0" indent="0">
              <a:lnSpc>
                <a:spcPct val="90000"/>
              </a:lnSpc>
              <a:spcBef>
                <a:spcPts val="1800"/>
              </a:spcBef>
              <a:buNone/>
            </a:pPr>
            <a:r>
              <a:rPr lang="en-US" sz="2500" b="1" dirty="0">
                <a:latin typeface="Liberation Sans"/>
                <a:ea typeface="ＭＳ Ｐゴシック" charset="0"/>
                <a:cs typeface="ＭＳ Ｐゴシック" charset="0"/>
              </a:rPr>
              <a:t>When</a:t>
            </a:r>
            <a:r>
              <a:rPr lang="en-US" sz="2500" dirty="0">
                <a:latin typeface="Liberation Sans"/>
                <a:ea typeface="ＭＳ Ｐゴシック" charset="0"/>
                <a:cs typeface="ＭＳ Ｐゴシック" charset="0"/>
              </a:rPr>
              <a:t>: Throughout design; finished products can be evaluated to collect information to inform new products</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11</a:t>
            </a:fld>
            <a:endParaRPr lang="en-GB" dirty="0">
              <a:solidFill>
                <a:srgbClr val="77A363">
                  <a:lumMod val="75000"/>
                </a:srgbClr>
              </a:solidFill>
            </a:endParaRPr>
          </a:p>
        </p:txBody>
      </p:sp>
    </p:spTree>
    <p:extLst>
      <p:ext uri="{BB962C8B-B14F-4D97-AF65-F5344CB8AC3E}">
        <p14:creationId xmlns:p14="http://schemas.microsoft.com/office/powerpoint/2010/main" val="1154820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3354524" y="342107"/>
            <a:ext cx="5482952" cy="1143000"/>
          </a:xfrm>
        </p:spPr>
        <p:txBody>
          <a:bodyPr>
            <a:normAutofit fontScale="90000"/>
          </a:bodyPr>
          <a:lstStyle/>
          <a:p>
            <a:pPr eaLnBrk="1" hangingPunct="1"/>
            <a:r>
              <a:rPr lang="en-US" sz="3600" dirty="0">
                <a:latin typeface="Liberation Sans"/>
                <a:ea typeface="ＭＳ Ｐゴシック" charset="0"/>
                <a:cs typeface="ＭＳ Ｐゴシック" charset="0"/>
              </a:rPr>
              <a:t>Bruce Tognazzini tells you why you need to evaluate</a:t>
            </a:r>
          </a:p>
        </p:txBody>
      </p:sp>
      <p:sp>
        <p:nvSpPr>
          <p:cNvPr id="19461" name="Rectangle 3"/>
          <p:cNvSpPr>
            <a:spLocks noGrp="1" noChangeArrowheads="1"/>
          </p:cNvSpPr>
          <p:nvPr>
            <p:ph type="body" idx="4294967295"/>
          </p:nvPr>
        </p:nvSpPr>
        <p:spPr/>
        <p:txBody>
          <a:bodyPr>
            <a:normAutofit/>
          </a:bodyPr>
          <a:lstStyle/>
          <a:p>
            <a:pPr marL="228600" indent="0">
              <a:lnSpc>
                <a:spcPct val="90000"/>
              </a:lnSpc>
              <a:buNone/>
            </a:pPr>
            <a:r>
              <a:rPr lang="en-US" sz="2800" i="1" dirty="0">
                <a:latin typeface="Liberation Sans"/>
                <a:ea typeface="ＭＳ Ｐゴシック" charset="0"/>
                <a:cs typeface="ＭＳ Ｐゴシック" charset="0"/>
              </a:rPr>
              <a:t>“Iterative design, with its repeating cycle of design and testing, is the only validated methodology in existence that will consistently produce successful results. If you don’t have user-testing as an integral part of your design process you are going to throw buckets of money down the drain.”</a:t>
            </a:r>
            <a:r>
              <a:rPr lang="en-US" sz="2800" dirty="0">
                <a:latin typeface="Liberation Sans"/>
                <a:ea typeface="ＭＳ Ｐゴシック" charset="0"/>
                <a:cs typeface="ＭＳ Ｐゴシック" charset="0"/>
              </a:rPr>
              <a:t> </a:t>
            </a:r>
          </a:p>
          <a:p>
            <a:pPr>
              <a:lnSpc>
                <a:spcPct val="90000"/>
              </a:lnSpc>
              <a:spcBef>
                <a:spcPts val="2400"/>
              </a:spcBef>
              <a:buNone/>
            </a:pPr>
            <a:r>
              <a:rPr lang="en-US" sz="2400" dirty="0">
                <a:latin typeface="Liberation Sans"/>
                <a:ea typeface="ＭＳ Ｐゴシック" charset="0"/>
                <a:cs typeface="ＭＳ Ｐゴシック" charset="0"/>
              </a:rPr>
              <a:t>	See </a:t>
            </a:r>
            <a:r>
              <a:rPr lang="en-US" sz="2400" dirty="0">
                <a:latin typeface="Liberation Sans"/>
                <a:ea typeface="ＭＳ Ｐゴシック" charset="0"/>
                <a:cs typeface="ＭＳ Ｐゴシック" charset="0"/>
                <a:hlinkClick r:id="rId3"/>
              </a:rPr>
              <a:t>AskTog.com</a:t>
            </a:r>
            <a:r>
              <a:rPr lang="en-US" sz="2400" dirty="0">
                <a:latin typeface="Liberation Sans"/>
                <a:ea typeface="ＭＳ Ｐゴシック" charset="0"/>
                <a:cs typeface="ＭＳ Ｐゴシック" charset="0"/>
              </a:rPr>
              <a:t> for topical discussions about design and evaluation</a:t>
            </a:r>
          </a:p>
          <a:p>
            <a:pPr eaLnBrk="1" hangingPunct="1">
              <a:lnSpc>
                <a:spcPct val="90000"/>
              </a:lnSpc>
            </a:pPr>
            <a:endParaRPr lang="en-US" sz="2800" dirty="0">
              <a:latin typeface="Liberation Sans"/>
              <a:ea typeface="ＭＳ Ｐゴシック" charset="0"/>
              <a:cs typeface="ＭＳ Ｐゴシック" charset="0"/>
            </a:endParaRP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12</a:t>
            </a:fld>
            <a:endParaRPr lang="en-GB" dirty="0">
              <a:solidFill>
                <a:srgbClr val="77A363">
                  <a:lumMod val="75000"/>
                </a:srgbClr>
              </a:solidFill>
            </a:endParaRPr>
          </a:p>
        </p:txBody>
      </p:sp>
    </p:spTree>
    <p:extLst>
      <p:ext uri="{BB962C8B-B14F-4D97-AF65-F5344CB8AC3E}">
        <p14:creationId xmlns:p14="http://schemas.microsoft.com/office/powerpoint/2010/main" val="2468522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1981200" y="274638"/>
            <a:ext cx="8229600" cy="1143000"/>
          </a:xfrm>
        </p:spPr>
        <p:txBody>
          <a:bodyPr>
            <a:normAutofit/>
          </a:bodyPr>
          <a:lstStyle/>
          <a:p>
            <a:pPr eaLnBrk="1" hangingPunct="1"/>
            <a:r>
              <a:rPr lang="en-US" dirty="0">
                <a:latin typeface="Liberation Sans"/>
                <a:ea typeface="ＭＳ Ｐゴシック" charset="0"/>
                <a:cs typeface="ＭＳ Ｐゴシック" charset="0"/>
              </a:rPr>
              <a:t>Types of evaluation</a:t>
            </a:r>
          </a:p>
        </p:txBody>
      </p:sp>
      <p:sp>
        <p:nvSpPr>
          <p:cNvPr id="17413" name="Rectangle 3"/>
          <p:cNvSpPr>
            <a:spLocks noGrp="1" noChangeArrowheads="1"/>
          </p:cNvSpPr>
          <p:nvPr>
            <p:ph type="body" idx="4294967295"/>
          </p:nvPr>
        </p:nvSpPr>
        <p:spPr>
          <a:xfrm>
            <a:off x="1981200" y="1628800"/>
            <a:ext cx="8153400" cy="4620394"/>
          </a:xfrm>
        </p:spPr>
        <p:txBody>
          <a:bodyPr>
            <a:normAutofit/>
          </a:bodyPr>
          <a:lstStyle/>
          <a:p>
            <a:pPr marL="6350" indent="-6350">
              <a:lnSpc>
                <a:spcPct val="90000"/>
              </a:lnSpc>
              <a:buNone/>
            </a:pPr>
            <a:r>
              <a:rPr lang="en-US" sz="2600" dirty="0">
                <a:latin typeface="Liberation Sans"/>
                <a:ea typeface="ＭＳ Ｐゴシック" charset="0"/>
                <a:cs typeface="ＭＳ Ｐゴシック" charset="0"/>
              </a:rPr>
              <a:t>	</a:t>
            </a:r>
            <a:r>
              <a:rPr lang="en-US" sz="2800" dirty="0">
                <a:latin typeface="Liberation Sans"/>
                <a:ea typeface="ＭＳ Ｐゴシック" charset="0"/>
                <a:cs typeface="ＭＳ Ｐゴシック" charset="0"/>
              </a:rPr>
              <a:t>Controlled settings that directly involve us</a:t>
            </a:r>
            <a:r>
              <a:rPr lang="en-US" sz="2800" dirty="0">
                <a:latin typeface="Liberation Sans"/>
                <a:ea typeface="ＭＳ Ｐゴシック" charset="0"/>
              </a:rPr>
              <a:t>ers (for example, usability and research labs)</a:t>
            </a:r>
            <a:r>
              <a:rPr lang="en-US" sz="2600" dirty="0">
                <a:latin typeface="Liberation Sans"/>
                <a:ea typeface="ＭＳ Ｐゴシック" charset="0"/>
                <a:cs typeface="ＭＳ Ｐゴシック" charset="0"/>
              </a:rPr>
              <a:t> </a:t>
            </a:r>
            <a:endParaRPr lang="en-US" sz="800" dirty="0">
              <a:latin typeface="Liberation Sans"/>
              <a:ea typeface="ＭＳ Ｐゴシック" charset="0"/>
              <a:cs typeface="ＭＳ Ｐゴシック" charset="0"/>
            </a:endParaRPr>
          </a:p>
          <a:p>
            <a:pPr>
              <a:lnSpc>
                <a:spcPct val="90000"/>
              </a:lnSpc>
              <a:spcBef>
                <a:spcPts val="1800"/>
              </a:spcBef>
            </a:pPr>
            <a:r>
              <a:rPr lang="en-US" sz="2400" dirty="0">
                <a:latin typeface="Liberation Sans"/>
                <a:ea typeface="ＭＳ Ｐゴシック" charset="0"/>
                <a:cs typeface="ＭＳ Ｐゴシック" charset="0"/>
              </a:rPr>
              <a:t>Natural settings involving users (for instance, online communities and products that are used in public places)</a:t>
            </a:r>
          </a:p>
          <a:p>
            <a:pPr lvl="1">
              <a:lnSpc>
                <a:spcPct val="90000"/>
              </a:lnSpc>
              <a:spcBef>
                <a:spcPts val="1800"/>
              </a:spcBef>
              <a:buFont typeface="Wingdings" pitchFamily="2" charset="2"/>
              <a:buChar char="§"/>
            </a:pPr>
            <a:r>
              <a:rPr lang="en-US" sz="2200" dirty="0">
                <a:solidFill>
                  <a:schemeClr val="tx1"/>
                </a:solidFill>
                <a:latin typeface="Liberation Sans"/>
                <a:ea typeface="ＭＳ Ｐゴシック" charset="0"/>
                <a:cs typeface="ＭＳ Ｐゴシック" charset="0"/>
              </a:rPr>
              <a:t>Often there is little or no control over what users do, especially in in-the-wild settings</a:t>
            </a:r>
          </a:p>
          <a:p>
            <a:pPr>
              <a:lnSpc>
                <a:spcPct val="90000"/>
              </a:lnSpc>
              <a:spcBef>
                <a:spcPts val="1800"/>
              </a:spcBef>
            </a:pPr>
            <a:r>
              <a:rPr lang="en-US" sz="2400" dirty="0">
                <a:latin typeface="Liberation Sans"/>
                <a:ea typeface="ＭＳ Ｐゴシック" charset="0"/>
                <a:cs typeface="ＭＳ Ｐゴシック" charset="0"/>
              </a:rPr>
              <a:t>Any setting that doesn’t directly involve users (for example, consultants and researchers critique the prototypes, and may predict and model how successful they will be when used by users</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13</a:t>
            </a:fld>
            <a:endParaRPr lang="en-GB" dirty="0">
              <a:solidFill>
                <a:srgbClr val="77A363">
                  <a:lumMod val="75000"/>
                </a:srgbClr>
              </a:solidFill>
            </a:endParaRPr>
          </a:p>
        </p:txBody>
      </p:sp>
    </p:spTree>
    <p:extLst>
      <p:ext uri="{BB962C8B-B14F-4D97-AF65-F5344CB8AC3E}">
        <p14:creationId xmlns:p14="http://schemas.microsoft.com/office/powerpoint/2010/main" val="3386389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itle 1"/>
          <p:cNvSpPr>
            <a:spLocks noGrp="1"/>
          </p:cNvSpPr>
          <p:nvPr>
            <p:ph type="title" idx="4294967295"/>
          </p:nvPr>
        </p:nvSpPr>
        <p:spPr/>
        <p:txBody>
          <a:bodyPr/>
          <a:lstStyle/>
          <a:p>
            <a:pPr eaLnBrk="1" hangingPunct="1"/>
            <a:r>
              <a:rPr lang="en-US" dirty="0">
                <a:latin typeface="Liberation Sans"/>
                <a:ea typeface="ＭＳ Ｐゴシック" charset="0"/>
                <a:cs typeface="ＭＳ Ｐゴシック" charset="0"/>
              </a:rPr>
              <a:t>Living labs</a:t>
            </a:r>
          </a:p>
        </p:txBody>
      </p:sp>
      <p:sp>
        <p:nvSpPr>
          <p:cNvPr id="23557" name="Content Placeholder 2"/>
          <p:cNvSpPr>
            <a:spLocks noGrp="1"/>
          </p:cNvSpPr>
          <p:nvPr>
            <p:ph idx="4294967295"/>
          </p:nvPr>
        </p:nvSpPr>
        <p:spPr>
          <a:xfrm>
            <a:off x="1981200" y="1556793"/>
            <a:ext cx="8229600" cy="4569371"/>
          </a:xfrm>
        </p:spPr>
        <p:txBody>
          <a:bodyPr>
            <a:normAutofit lnSpcReduction="10000"/>
          </a:bodyPr>
          <a:lstStyle/>
          <a:p>
            <a:pPr eaLnBrk="1" hangingPunct="1"/>
            <a:r>
              <a:rPr lang="en-US" dirty="0">
                <a:latin typeface="Liberation Sans"/>
                <a:ea typeface="ＭＳ Ｐゴシック" charset="0"/>
                <a:cs typeface="ＭＳ Ｐゴシック" charset="0"/>
              </a:rPr>
              <a:t>People’s use of technology in their everyday lives can be evaluated in living labs</a:t>
            </a:r>
          </a:p>
          <a:p>
            <a:pPr eaLnBrk="1" hangingPunct="1"/>
            <a:endParaRPr lang="en-US" sz="900" dirty="0">
              <a:latin typeface="Liberation Sans"/>
              <a:ea typeface="ＭＳ Ｐゴシック" charset="0"/>
              <a:cs typeface="ＭＳ Ｐゴシック" charset="0"/>
            </a:endParaRPr>
          </a:p>
          <a:p>
            <a:pPr eaLnBrk="1" hangingPunct="1"/>
            <a:r>
              <a:rPr lang="en-US" dirty="0">
                <a:latin typeface="Liberation Sans"/>
                <a:ea typeface="ＭＳ Ｐゴシック" charset="0"/>
                <a:cs typeface="ＭＳ Ｐゴシック" charset="0"/>
              </a:rPr>
              <a:t>Such evaluations are too difficult to do in a usability lab</a:t>
            </a:r>
          </a:p>
          <a:p>
            <a:pPr eaLnBrk="1" hangingPunct="1"/>
            <a:endParaRPr lang="en-US" sz="900" dirty="0">
              <a:latin typeface="Liberation Sans"/>
              <a:ea typeface="ＭＳ Ｐゴシック" charset="0"/>
              <a:cs typeface="ＭＳ Ｐゴシック" charset="0"/>
            </a:endParaRPr>
          </a:p>
          <a:p>
            <a:pPr eaLnBrk="1" hangingPunct="1"/>
            <a:r>
              <a:rPr lang="en-US" dirty="0">
                <a:latin typeface="Liberation Sans"/>
                <a:ea typeface="ＭＳ Ｐゴシック" charset="0"/>
                <a:cs typeface="ＭＳ Ｐゴシック" charset="0"/>
              </a:rPr>
              <a:t>An early example was the Aware Home that was embedded with a complex network of sensors and audio/video recording devices </a:t>
            </a:r>
            <a:r>
              <a:rPr lang="en-US" sz="2400" dirty="0">
                <a:latin typeface="Liberation Sans"/>
                <a:ea typeface="ＭＳ Ｐゴシック" charset="0"/>
                <a:cs typeface="ＭＳ Ｐゴシック" charset="0"/>
              </a:rPr>
              <a:t>(Abowd et al., 2000)</a:t>
            </a:r>
            <a:endParaRPr lang="en-US" dirty="0">
              <a:latin typeface="Liberation Sans"/>
              <a:ea typeface="ＭＳ Ｐゴシック" charset="0"/>
              <a:cs typeface="ＭＳ Ｐゴシック" charset="0"/>
            </a:endParaRPr>
          </a:p>
          <a:p>
            <a:pPr marL="0" indent="0">
              <a:buNone/>
            </a:pPr>
            <a:endParaRPr lang="en-US" dirty="0">
              <a:latin typeface="Liberation Sans"/>
              <a:ea typeface="ＭＳ Ｐゴシック" charset="0"/>
              <a:cs typeface="ＭＳ Ｐゴシック" charset="0"/>
            </a:endParaRP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14</a:t>
            </a:fld>
            <a:endParaRPr lang="en-GB" dirty="0">
              <a:solidFill>
                <a:srgbClr val="77A363">
                  <a:lumMod val="75000"/>
                </a:srgbClr>
              </a:solidFill>
            </a:endParaRPr>
          </a:p>
        </p:txBody>
      </p:sp>
    </p:spTree>
    <p:extLst>
      <p:ext uri="{BB962C8B-B14F-4D97-AF65-F5344CB8AC3E}">
        <p14:creationId xmlns:p14="http://schemas.microsoft.com/office/powerpoint/2010/main" val="3367660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itle 1"/>
          <p:cNvSpPr>
            <a:spLocks noGrp="1"/>
          </p:cNvSpPr>
          <p:nvPr>
            <p:ph type="title" idx="4294967295"/>
          </p:nvPr>
        </p:nvSpPr>
        <p:spPr/>
        <p:txBody>
          <a:bodyPr/>
          <a:lstStyle/>
          <a:p>
            <a:pPr eaLnBrk="1" hangingPunct="1"/>
            <a:r>
              <a:rPr lang="en-US" dirty="0">
                <a:latin typeface="Liberation Sans"/>
                <a:ea typeface="ＭＳ Ｐゴシック" charset="0"/>
                <a:cs typeface="ＭＳ Ｐゴシック" charset="0"/>
              </a:rPr>
              <a:t>Living labs </a:t>
            </a:r>
            <a:r>
              <a:rPr lang="en-US" sz="2800" i="1" dirty="0">
                <a:latin typeface="Liberation Sans"/>
                <a:ea typeface="ＭＳ Ｐゴシック" charset="0"/>
                <a:cs typeface="ＭＳ Ｐゴシック" charset="0"/>
              </a:rPr>
              <a:t>(continued)</a:t>
            </a:r>
            <a:endParaRPr lang="en-US" i="1" dirty="0">
              <a:latin typeface="Liberation Sans"/>
              <a:ea typeface="ＭＳ Ｐゴシック" charset="0"/>
              <a:cs typeface="ＭＳ Ｐゴシック" charset="0"/>
            </a:endParaRPr>
          </a:p>
        </p:txBody>
      </p:sp>
      <p:sp>
        <p:nvSpPr>
          <p:cNvPr id="23557" name="Content Placeholder 2"/>
          <p:cNvSpPr>
            <a:spLocks noGrp="1"/>
          </p:cNvSpPr>
          <p:nvPr>
            <p:ph idx="4294967295"/>
          </p:nvPr>
        </p:nvSpPr>
        <p:spPr>
          <a:xfrm>
            <a:off x="1981200" y="1556793"/>
            <a:ext cx="8229600" cy="4569371"/>
          </a:xfrm>
        </p:spPr>
        <p:txBody>
          <a:bodyPr>
            <a:normAutofit fontScale="92500" lnSpcReduction="10000"/>
          </a:bodyPr>
          <a:lstStyle/>
          <a:p>
            <a:pPr eaLnBrk="1" hangingPunct="1"/>
            <a:r>
              <a:rPr lang="en-US" sz="3000" dirty="0">
                <a:latin typeface="Liberation Sans"/>
                <a:ea typeface="ＭＳ Ｐゴシック" charset="0"/>
                <a:cs typeface="ＭＳ Ｐゴシック" charset="0"/>
              </a:rPr>
              <a:t>More recent examples include whole blocks and cities that house hundreds of people, for example, Verma et al., research in Switzerland (2017)</a:t>
            </a:r>
          </a:p>
          <a:p>
            <a:pPr>
              <a:spcBef>
                <a:spcPts val="900"/>
              </a:spcBef>
            </a:pPr>
            <a:r>
              <a:rPr lang="en-US" sz="3000" dirty="0">
                <a:latin typeface="Liberation Sans"/>
                <a:ea typeface="ＭＳ Ｐゴシック" charset="0"/>
                <a:cs typeface="ＭＳ Ｐゴシック" charset="0"/>
              </a:rPr>
              <a:t>Many citizen science projects can also be thought of as living labs, for instance, </a:t>
            </a:r>
            <a:r>
              <a:rPr lang="en-US" sz="3000" dirty="0">
                <a:latin typeface="Liberation Sans"/>
                <a:ea typeface="ＭＳ Ｐゴシック" charset="0"/>
                <a:cs typeface="ＭＳ Ｐゴシック" charset="0"/>
                <a:hlinkClick r:id="rId2"/>
              </a:rPr>
              <a:t>iNaturalist.org</a:t>
            </a:r>
            <a:endParaRPr lang="en-US" sz="3000" dirty="0">
              <a:latin typeface="Liberation Sans"/>
              <a:ea typeface="ＭＳ Ｐゴシック" charset="0"/>
              <a:cs typeface="ＭＳ Ｐゴシック" charset="0"/>
            </a:endParaRPr>
          </a:p>
          <a:p>
            <a:pPr>
              <a:spcBef>
                <a:spcPts val="900"/>
              </a:spcBef>
            </a:pPr>
            <a:r>
              <a:rPr lang="en-US" sz="3000" dirty="0">
                <a:latin typeface="Liberation Sans"/>
                <a:ea typeface="ＭＳ Ｐゴシック" charset="0"/>
                <a:cs typeface="ＭＳ Ｐゴシック" charset="0"/>
              </a:rPr>
              <a:t>These examples illustrate how the concept of a lab is changing to include other spaces where people’s use of technology can be studied in realistic environments</a:t>
            </a:r>
          </a:p>
          <a:p>
            <a:pPr marL="0" indent="0">
              <a:buNone/>
            </a:pPr>
            <a:endParaRPr lang="en-US" dirty="0">
              <a:latin typeface="Liberation Sans"/>
              <a:ea typeface="ＭＳ Ｐゴシック" charset="0"/>
              <a:cs typeface="ＭＳ Ｐゴシック" charset="0"/>
            </a:endParaRP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15</a:t>
            </a:fld>
            <a:endParaRPr lang="en-GB" dirty="0">
              <a:solidFill>
                <a:srgbClr val="77A363">
                  <a:lumMod val="75000"/>
                </a:srgbClr>
              </a:solidFill>
            </a:endParaRPr>
          </a:p>
        </p:txBody>
      </p:sp>
    </p:spTree>
    <p:extLst>
      <p:ext uri="{BB962C8B-B14F-4D97-AF65-F5344CB8AC3E}">
        <p14:creationId xmlns:p14="http://schemas.microsoft.com/office/powerpoint/2010/main" val="547180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idx="4294967295"/>
          </p:nvPr>
        </p:nvSpPr>
        <p:spPr/>
        <p:txBody>
          <a:bodyPr/>
          <a:lstStyle/>
          <a:p>
            <a:pPr eaLnBrk="1" hangingPunct="1"/>
            <a:r>
              <a:rPr lang="en-US" dirty="0">
                <a:latin typeface="Liberation Sans"/>
                <a:ea typeface="ＭＳ Ｐゴシック" charset="0"/>
                <a:cs typeface="ＭＳ Ｐゴシック" charset="0"/>
              </a:rPr>
              <a:t>Evaluation case studies</a:t>
            </a:r>
          </a:p>
        </p:txBody>
      </p:sp>
      <p:sp>
        <p:nvSpPr>
          <p:cNvPr id="25605" name="Rectangle 3"/>
          <p:cNvSpPr>
            <a:spLocks noGrp="1" noChangeArrowheads="1"/>
          </p:cNvSpPr>
          <p:nvPr>
            <p:ph type="body" idx="4294967295"/>
          </p:nvPr>
        </p:nvSpPr>
        <p:spPr>
          <a:xfrm>
            <a:off x="2133600" y="1676400"/>
            <a:ext cx="7772400" cy="4495800"/>
          </a:xfrm>
        </p:spPr>
        <p:txBody>
          <a:bodyPr>
            <a:normAutofit lnSpcReduction="10000"/>
          </a:bodyPr>
          <a:lstStyle/>
          <a:p>
            <a:pPr>
              <a:spcBef>
                <a:spcPts val="1800"/>
              </a:spcBef>
            </a:pPr>
            <a:r>
              <a:rPr lang="en-US" sz="2800" dirty="0">
                <a:latin typeface="Liberation Sans"/>
                <a:ea typeface="ＭＳ Ｐゴシック" charset="0"/>
                <a:cs typeface="ＭＳ Ｐゴシック" charset="0"/>
              </a:rPr>
              <a:t>A classic experimental investigation into the physiological responses of players of a computer game</a:t>
            </a:r>
          </a:p>
          <a:p>
            <a:pPr>
              <a:spcBef>
                <a:spcPts val="1800"/>
              </a:spcBef>
            </a:pPr>
            <a:r>
              <a:rPr lang="en-US" sz="2800" dirty="0">
                <a:latin typeface="Liberation Sans"/>
                <a:ea typeface="ＭＳ Ｐゴシック" charset="0"/>
                <a:cs typeface="ＭＳ Ｐゴシック" charset="0"/>
              </a:rPr>
              <a:t>An ethnographic study of visitors at the the Royal Highland show in which participants are directed and tracked using a mobile phone app</a:t>
            </a:r>
          </a:p>
          <a:p>
            <a:pPr>
              <a:spcBef>
                <a:spcPts val="1800"/>
              </a:spcBef>
            </a:pPr>
            <a:r>
              <a:rPr lang="en-US" sz="2800" dirty="0">
                <a:latin typeface="Liberation Sans"/>
                <a:ea typeface="ＭＳ Ｐゴシック" charset="0"/>
                <a:cs typeface="ＭＳ Ｐゴシック" charset="0"/>
              </a:rPr>
              <a:t>Crowdsourcing in which the opinions and reactions of volunteers (for example, from the crowd) inform technology evaluation</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16</a:t>
            </a:fld>
            <a:endParaRPr lang="en-GB" dirty="0">
              <a:solidFill>
                <a:srgbClr val="77A363">
                  <a:lumMod val="75000"/>
                </a:srgbClr>
              </a:solidFill>
            </a:endParaRPr>
          </a:p>
        </p:txBody>
      </p:sp>
    </p:spTree>
    <p:extLst>
      <p:ext uri="{BB962C8B-B14F-4D97-AF65-F5344CB8AC3E}">
        <p14:creationId xmlns:p14="http://schemas.microsoft.com/office/powerpoint/2010/main" val="655260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idx="4294967295"/>
          </p:nvPr>
        </p:nvSpPr>
        <p:spPr>
          <a:xfrm>
            <a:off x="1905000" y="304800"/>
            <a:ext cx="8077200" cy="1447800"/>
          </a:xfrm>
        </p:spPr>
        <p:txBody>
          <a:bodyPr>
            <a:normAutofit/>
          </a:bodyPr>
          <a:lstStyle/>
          <a:p>
            <a:pPr eaLnBrk="1" hangingPunct="1"/>
            <a:r>
              <a:rPr lang="en-US" dirty="0">
                <a:latin typeface="Liberation Sans"/>
                <a:ea typeface="ＭＳ Ｐゴシック" charset="0"/>
                <a:cs typeface="ＭＳ Ｐゴシック" charset="0"/>
              </a:rPr>
              <a:t>Challenge and engagement in a collaborative immersive game</a:t>
            </a:r>
          </a:p>
        </p:txBody>
      </p:sp>
      <p:sp>
        <p:nvSpPr>
          <p:cNvPr id="27654" name="Rectangle 3"/>
          <p:cNvSpPr>
            <a:spLocks noGrp="1" noChangeArrowheads="1"/>
          </p:cNvSpPr>
          <p:nvPr>
            <p:ph type="body" sz="half" idx="4294967295"/>
          </p:nvPr>
        </p:nvSpPr>
        <p:spPr>
          <a:xfrm>
            <a:off x="1703512" y="2060848"/>
            <a:ext cx="8352928" cy="3672408"/>
          </a:xfrm>
        </p:spPr>
        <p:txBody>
          <a:bodyPr>
            <a:normAutofit/>
          </a:bodyPr>
          <a:lstStyle/>
          <a:p>
            <a:pPr eaLnBrk="1" hangingPunct="1">
              <a:lnSpc>
                <a:spcPct val="90000"/>
              </a:lnSpc>
            </a:pPr>
            <a:r>
              <a:rPr lang="en-US" dirty="0">
                <a:latin typeface="Liberation Sans"/>
                <a:ea typeface="ＭＳ Ｐゴシック" charset="0"/>
                <a:cs typeface="ＭＳ Ｐゴシック" charset="0"/>
              </a:rPr>
              <a:t>Physiological measures were used</a:t>
            </a:r>
            <a:endParaRPr lang="en-US" sz="1050" dirty="0">
              <a:latin typeface="Liberation Sans"/>
              <a:ea typeface="ＭＳ Ｐゴシック" charset="0"/>
              <a:cs typeface="ＭＳ Ｐゴシック" charset="0"/>
            </a:endParaRPr>
          </a:p>
          <a:p>
            <a:pPr>
              <a:lnSpc>
                <a:spcPct val="90000"/>
              </a:lnSpc>
              <a:spcBef>
                <a:spcPts val="2400"/>
              </a:spcBef>
            </a:pPr>
            <a:r>
              <a:rPr lang="en-US" dirty="0">
                <a:latin typeface="Liberation Sans"/>
                <a:ea typeface="ＭＳ Ｐゴシック" charset="0"/>
                <a:cs typeface="ＭＳ Ｐゴシック" charset="0"/>
              </a:rPr>
              <a:t>Players were more engaged when playing against another person than when playing against a computer</a:t>
            </a:r>
          </a:p>
          <a:p>
            <a:pPr>
              <a:lnSpc>
                <a:spcPct val="90000"/>
              </a:lnSpc>
              <a:spcBef>
                <a:spcPts val="2400"/>
              </a:spcBef>
            </a:pPr>
            <a:r>
              <a:rPr lang="en-US" dirty="0">
                <a:latin typeface="Liberation Sans"/>
                <a:ea typeface="ＭＳ Ｐゴシック" charset="0"/>
                <a:cs typeface="ＭＳ Ｐゴシック" charset="0"/>
              </a:rPr>
              <a:t>Why was the physiological data collected normalized?</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17</a:t>
            </a:fld>
            <a:endParaRPr lang="en-GB" dirty="0">
              <a:solidFill>
                <a:srgbClr val="77A363">
                  <a:lumMod val="75000"/>
                </a:srgbClr>
              </a:solidFill>
            </a:endParaRPr>
          </a:p>
        </p:txBody>
      </p:sp>
    </p:spTree>
    <p:extLst>
      <p:ext uri="{BB962C8B-B14F-4D97-AF65-F5344CB8AC3E}">
        <p14:creationId xmlns:p14="http://schemas.microsoft.com/office/powerpoint/2010/main" val="1313526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idx="4294967295"/>
          </p:nvPr>
        </p:nvSpPr>
        <p:spPr>
          <a:xfrm>
            <a:off x="1905000" y="304800"/>
            <a:ext cx="8077200" cy="1447800"/>
          </a:xfrm>
        </p:spPr>
        <p:txBody>
          <a:bodyPr>
            <a:normAutofit/>
          </a:bodyPr>
          <a:lstStyle/>
          <a:p>
            <a:r>
              <a:rPr lang="en-US" b="1" dirty="0"/>
              <a:t>Physiological data of participants in a videogame</a:t>
            </a:r>
            <a:endParaRPr lang="en-US" dirty="0"/>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18</a:t>
            </a:fld>
            <a:endParaRPr lang="en-GB" dirty="0">
              <a:solidFill>
                <a:srgbClr val="77A363">
                  <a:lumMod val="75000"/>
                </a:srgbClr>
              </a:solidFill>
            </a:endParaRPr>
          </a:p>
        </p:txBody>
      </p:sp>
      <p:pic>
        <p:nvPicPr>
          <p:cNvPr id="4" name="Picture 3" descr="Photos depict the physiological data (top right), two participants, and a screen of the game they played.">
            <a:extLst>
              <a:ext uri="{FF2B5EF4-FFF2-40B4-BE49-F238E27FC236}">
                <a16:creationId xmlns:a16="http://schemas.microsoft.com/office/drawing/2014/main" id="{8BF4FF3E-6402-F841-9085-0E98BB9962F0}"/>
              </a:ext>
            </a:extLst>
          </p:cNvPr>
          <p:cNvPicPr>
            <a:picLocks noChangeAspect="1"/>
          </p:cNvPicPr>
          <p:nvPr/>
        </p:nvPicPr>
        <p:blipFill>
          <a:blip r:embed="rId3"/>
          <a:stretch>
            <a:fillRect/>
          </a:stretch>
        </p:blipFill>
        <p:spPr>
          <a:xfrm>
            <a:off x="3533428" y="1954056"/>
            <a:ext cx="4722812" cy="3552376"/>
          </a:xfrm>
          <a:prstGeom prst="rect">
            <a:avLst/>
          </a:prstGeom>
        </p:spPr>
      </p:pic>
      <p:sp>
        <p:nvSpPr>
          <p:cNvPr id="5" name="TextBox 4">
            <a:extLst>
              <a:ext uri="{FF2B5EF4-FFF2-40B4-BE49-F238E27FC236}">
                <a16:creationId xmlns:a16="http://schemas.microsoft.com/office/drawing/2014/main" id="{D13EFA3B-95A0-8B46-820F-5F2846892997}"/>
              </a:ext>
            </a:extLst>
          </p:cNvPr>
          <p:cNvSpPr txBox="1"/>
          <p:nvPr/>
        </p:nvSpPr>
        <p:spPr>
          <a:xfrm>
            <a:off x="1902872" y="5707889"/>
            <a:ext cx="8077200" cy="830997"/>
          </a:xfrm>
          <a:prstGeom prst="rect">
            <a:avLst/>
          </a:prstGeom>
          <a:noFill/>
        </p:spPr>
        <p:txBody>
          <a:bodyPr wrap="square" rtlCol="0">
            <a:spAutoFit/>
          </a:bodyPr>
          <a:lstStyle/>
          <a:p>
            <a:r>
              <a:rPr lang="en-US" sz="1600" i="1" dirty="0">
                <a:solidFill>
                  <a:srgbClr val="000000"/>
                </a:solidFill>
                <a:latin typeface="Calibri"/>
              </a:rPr>
              <a:t>Source</a:t>
            </a:r>
            <a:r>
              <a:rPr lang="en-US" sz="1600" dirty="0">
                <a:solidFill>
                  <a:srgbClr val="000000"/>
                </a:solidFill>
                <a:latin typeface="Calibri"/>
              </a:rPr>
              <a:t>: Mandryk and Inkpen (2004), “</a:t>
            </a:r>
            <a:r>
              <a:rPr lang="en-US" sz="1600" i="1" dirty="0">
                <a:solidFill>
                  <a:srgbClr val="000000"/>
                </a:solidFill>
                <a:latin typeface="Calibri"/>
              </a:rPr>
              <a:t>The Physiological Indicators for the Evaluation of Co-located Collaborative Play,” </a:t>
            </a:r>
            <a:r>
              <a:rPr lang="en-US" sz="1600" dirty="0">
                <a:solidFill>
                  <a:srgbClr val="000000"/>
                </a:solidFill>
                <a:latin typeface="Calibri"/>
              </a:rPr>
              <a:t>CSCW’2004, pp 102-111. Reproduced with permission of </a:t>
            </a:r>
            <a:r>
              <a:rPr lang="en-US" sz="1600" dirty="0">
                <a:solidFill>
                  <a:srgbClr val="000000"/>
                </a:solidFill>
                <a:latin typeface="Calibri"/>
                <a:hlinkClick r:id="rId4"/>
              </a:rPr>
              <a:t>ACM Publications</a:t>
            </a:r>
            <a:r>
              <a:rPr lang="en-US" sz="1600" dirty="0">
                <a:solidFill>
                  <a:srgbClr val="000000"/>
                </a:solidFill>
                <a:latin typeface="Calibri"/>
              </a:rPr>
              <a:t>. </a:t>
            </a:r>
          </a:p>
        </p:txBody>
      </p:sp>
    </p:spTree>
    <p:extLst>
      <p:ext uri="{BB962C8B-B14F-4D97-AF65-F5344CB8AC3E}">
        <p14:creationId xmlns:p14="http://schemas.microsoft.com/office/powerpoint/2010/main" val="49669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p:cNvSpPr>
            <a:spLocks noGrp="1" noChangeArrowheads="1"/>
          </p:cNvSpPr>
          <p:nvPr>
            <p:ph type="title" idx="4294967295"/>
          </p:nvPr>
        </p:nvSpPr>
        <p:spPr>
          <a:xfrm>
            <a:off x="1905000" y="304800"/>
            <a:ext cx="8151440" cy="1035968"/>
          </a:xfrm>
        </p:spPr>
        <p:txBody>
          <a:bodyPr>
            <a:noAutofit/>
          </a:bodyPr>
          <a:lstStyle/>
          <a:p>
            <a:pPr eaLnBrk="1" hangingPunct="1"/>
            <a:r>
              <a:rPr lang="en-US" dirty="0">
                <a:latin typeface="Liberation Sans"/>
                <a:ea typeface="ＭＳ Ｐゴシック" charset="0"/>
                <a:cs typeface="ＭＳ Ｐゴシック" charset="0"/>
              </a:rPr>
              <a:t>Example of physiological data</a:t>
            </a:r>
          </a:p>
        </p:txBody>
      </p:sp>
      <p:sp>
        <p:nvSpPr>
          <p:cNvPr id="27654" name="Rectangle 3"/>
          <p:cNvSpPr>
            <a:spLocks noGrp="1" noChangeArrowheads="1"/>
          </p:cNvSpPr>
          <p:nvPr>
            <p:ph type="body" sz="half" idx="4294967295"/>
          </p:nvPr>
        </p:nvSpPr>
        <p:spPr>
          <a:xfrm>
            <a:off x="1703512" y="2060848"/>
            <a:ext cx="8352928" cy="3456384"/>
          </a:xfrm>
        </p:spPr>
        <p:txBody>
          <a:bodyPr>
            <a:normAutofit/>
          </a:bodyPr>
          <a:lstStyle/>
          <a:p>
            <a:pPr eaLnBrk="1" hangingPunct="1">
              <a:lnSpc>
                <a:spcPct val="90000"/>
              </a:lnSpc>
            </a:pPr>
            <a:endParaRPr lang="en-US" sz="1000" dirty="0">
              <a:solidFill>
                <a:srgbClr val="7030A0"/>
              </a:solidFill>
              <a:latin typeface="Liberation Sans"/>
              <a:ea typeface="ＭＳ Ｐゴシック" charset="0"/>
              <a:cs typeface="ＭＳ Ｐゴシック" charset="0"/>
            </a:endParaRPr>
          </a:p>
          <a:p>
            <a:pPr marL="0" indent="0">
              <a:lnSpc>
                <a:spcPct val="90000"/>
              </a:lnSpc>
              <a:buNone/>
            </a:pPr>
            <a:endParaRPr lang="en-US" sz="2800" dirty="0">
              <a:solidFill>
                <a:srgbClr val="7030A0"/>
              </a:solidFill>
              <a:latin typeface="Liberation Sans"/>
              <a:ea typeface="ＭＳ Ｐゴシック" charset="0"/>
              <a:cs typeface="ＭＳ Ｐゴシック" charset="0"/>
            </a:endParaRP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19</a:t>
            </a:fld>
            <a:endParaRPr lang="en-GB" dirty="0">
              <a:solidFill>
                <a:srgbClr val="77A363">
                  <a:lumMod val="75000"/>
                </a:srgbClr>
              </a:solidFill>
            </a:endParaRPr>
          </a:p>
        </p:txBody>
      </p:sp>
      <p:pic>
        <p:nvPicPr>
          <p:cNvPr id="6" name="Picture 5" descr="Graphs depict (a) a participant's skin response when scoring a goal against a friend versus against the computer, and (b) another participant's response when engaging in a hockey fight against a friend versus against the computer.">
            <a:extLst>
              <a:ext uri="{FF2B5EF4-FFF2-40B4-BE49-F238E27FC236}">
                <a16:creationId xmlns:a16="http://schemas.microsoft.com/office/drawing/2014/main" id="{053C7884-2E54-5D4E-82E1-A202D6A5EA1F}"/>
              </a:ext>
            </a:extLst>
          </p:cNvPr>
          <p:cNvPicPr>
            <a:picLocks noChangeAspect="1"/>
          </p:cNvPicPr>
          <p:nvPr/>
        </p:nvPicPr>
        <p:blipFill>
          <a:blip r:embed="rId3"/>
          <a:stretch>
            <a:fillRect/>
          </a:stretch>
        </p:blipFill>
        <p:spPr>
          <a:xfrm>
            <a:off x="2006601" y="1535196"/>
            <a:ext cx="8178799" cy="2929496"/>
          </a:xfrm>
          <a:prstGeom prst="rect">
            <a:avLst/>
          </a:prstGeom>
        </p:spPr>
      </p:pic>
      <p:sp>
        <p:nvSpPr>
          <p:cNvPr id="4" name="TextBox 3">
            <a:extLst>
              <a:ext uri="{FF2B5EF4-FFF2-40B4-BE49-F238E27FC236}">
                <a16:creationId xmlns:a16="http://schemas.microsoft.com/office/drawing/2014/main" id="{8C90D3C6-BA51-C245-90CD-AD56B1D69755}"/>
              </a:ext>
            </a:extLst>
          </p:cNvPr>
          <p:cNvSpPr txBox="1"/>
          <p:nvPr/>
        </p:nvSpPr>
        <p:spPr>
          <a:xfrm>
            <a:off x="1902872" y="4663412"/>
            <a:ext cx="8307928" cy="923330"/>
          </a:xfrm>
          <a:prstGeom prst="rect">
            <a:avLst/>
          </a:prstGeom>
          <a:noFill/>
        </p:spPr>
        <p:txBody>
          <a:bodyPr wrap="square" rtlCol="0">
            <a:spAutoFit/>
          </a:bodyPr>
          <a:lstStyle/>
          <a:p>
            <a:r>
              <a:rPr lang="en-US" dirty="0">
                <a:solidFill>
                  <a:srgbClr val="000000"/>
                </a:solidFill>
                <a:latin typeface="Liberation Sans"/>
                <a:ea typeface="ＭＳ Ｐゴシック" charset="0"/>
                <a:cs typeface="ＭＳ Ｐゴシック" charset="0"/>
              </a:rPr>
              <a:t>A participants’ skin response when scoring a goal against a friend (a), and another participants’ response when when engaging in a hockey fight against a friend versus against the computer (b).</a:t>
            </a:r>
          </a:p>
        </p:txBody>
      </p:sp>
      <p:sp>
        <p:nvSpPr>
          <p:cNvPr id="8" name="TextBox 7">
            <a:extLst>
              <a:ext uri="{FF2B5EF4-FFF2-40B4-BE49-F238E27FC236}">
                <a16:creationId xmlns:a16="http://schemas.microsoft.com/office/drawing/2014/main" id="{51DD50DF-A318-3F4C-9FC9-C7CDEEF64B4F}"/>
              </a:ext>
            </a:extLst>
          </p:cNvPr>
          <p:cNvSpPr txBox="1"/>
          <p:nvPr/>
        </p:nvSpPr>
        <p:spPr>
          <a:xfrm>
            <a:off x="1902872" y="5707889"/>
            <a:ext cx="8077200" cy="830997"/>
          </a:xfrm>
          <a:prstGeom prst="rect">
            <a:avLst/>
          </a:prstGeom>
          <a:noFill/>
        </p:spPr>
        <p:txBody>
          <a:bodyPr wrap="square" rtlCol="0">
            <a:spAutoFit/>
          </a:bodyPr>
          <a:lstStyle/>
          <a:p>
            <a:r>
              <a:rPr lang="en-US" sz="1600" i="1" dirty="0">
                <a:solidFill>
                  <a:srgbClr val="000000"/>
                </a:solidFill>
                <a:latin typeface="Calibri"/>
              </a:rPr>
              <a:t>Source</a:t>
            </a:r>
            <a:r>
              <a:rPr lang="en-US" sz="1600" dirty="0">
                <a:solidFill>
                  <a:srgbClr val="000000"/>
                </a:solidFill>
                <a:latin typeface="Calibri"/>
              </a:rPr>
              <a:t>: Mandryk and Inkpen (2004), “</a:t>
            </a:r>
            <a:r>
              <a:rPr lang="en-US" sz="1600" i="1" dirty="0">
                <a:solidFill>
                  <a:srgbClr val="000000"/>
                </a:solidFill>
                <a:latin typeface="Calibri"/>
              </a:rPr>
              <a:t>The Physiological Indicators for the Evaluation of Co-located Collaborative Play,” </a:t>
            </a:r>
            <a:r>
              <a:rPr lang="en-US" sz="1600" dirty="0">
                <a:solidFill>
                  <a:srgbClr val="000000"/>
                </a:solidFill>
                <a:latin typeface="Calibri"/>
              </a:rPr>
              <a:t>CSCW’2004, pp 102-111. Reproduced with permission of </a:t>
            </a:r>
            <a:r>
              <a:rPr lang="en-US" sz="1600" dirty="0">
                <a:solidFill>
                  <a:srgbClr val="000000"/>
                </a:solidFill>
                <a:latin typeface="Calibri"/>
                <a:hlinkClick r:id="rId4"/>
              </a:rPr>
              <a:t>ACM Publications</a:t>
            </a:r>
            <a:r>
              <a:rPr lang="en-US" sz="1600" dirty="0">
                <a:solidFill>
                  <a:srgbClr val="000000"/>
                </a:solidFill>
                <a:latin typeface="Calibri"/>
              </a:rPr>
              <a:t>. </a:t>
            </a:r>
          </a:p>
        </p:txBody>
      </p:sp>
    </p:spTree>
    <p:extLst>
      <p:ext uri="{BB962C8B-B14F-4D97-AF65-F5344CB8AC3E}">
        <p14:creationId xmlns:p14="http://schemas.microsoft.com/office/powerpoint/2010/main" val="1802603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itle 1"/>
          <p:cNvSpPr>
            <a:spLocks noGrp="1"/>
          </p:cNvSpPr>
          <p:nvPr>
            <p:ph type="title" idx="4294967295"/>
          </p:nvPr>
        </p:nvSpPr>
        <p:spPr>
          <a:xfrm>
            <a:off x="3060572" y="404664"/>
            <a:ext cx="6070856" cy="1008112"/>
          </a:xfrm>
        </p:spPr>
        <p:txBody>
          <a:bodyPr>
            <a:normAutofit fontScale="90000"/>
          </a:bodyPr>
          <a:lstStyle/>
          <a:p>
            <a:pPr eaLnBrk="1" hangingPunct="1"/>
            <a:r>
              <a:rPr lang="en-US" dirty="0">
                <a:latin typeface="Liberation Sans"/>
                <a:ea typeface="ＭＳ Ｐゴシック" charset="0"/>
                <a:cs typeface="ＭＳ Ｐゴシック" charset="0"/>
              </a:rPr>
              <a:t>Ethnobot app used at the Royal Highland Show</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20</a:t>
            </a:fld>
            <a:endParaRPr lang="en-GB" dirty="0">
              <a:solidFill>
                <a:srgbClr val="77A363">
                  <a:lumMod val="75000"/>
                </a:srgbClr>
              </a:solidFill>
            </a:endParaRPr>
          </a:p>
        </p:txBody>
      </p:sp>
      <p:pic>
        <p:nvPicPr>
          <p:cNvPr id="4" name="Picture 3" descr="Photo depicts the Ethnobot used at the Royal Highland Show in Scotland. ">
            <a:extLst>
              <a:ext uri="{FF2B5EF4-FFF2-40B4-BE49-F238E27FC236}">
                <a16:creationId xmlns:a16="http://schemas.microsoft.com/office/drawing/2014/main" id="{53CB398A-72E3-3743-BB81-C6F7191D1129}"/>
              </a:ext>
            </a:extLst>
          </p:cNvPr>
          <p:cNvPicPr>
            <a:picLocks noChangeAspect="1"/>
          </p:cNvPicPr>
          <p:nvPr/>
        </p:nvPicPr>
        <p:blipFill>
          <a:blip r:embed="rId2"/>
          <a:stretch>
            <a:fillRect/>
          </a:stretch>
        </p:blipFill>
        <p:spPr>
          <a:xfrm>
            <a:off x="6888089" y="1680247"/>
            <a:ext cx="3322712" cy="4108582"/>
          </a:xfrm>
          <a:prstGeom prst="rect">
            <a:avLst/>
          </a:prstGeom>
        </p:spPr>
      </p:pic>
      <p:sp>
        <p:nvSpPr>
          <p:cNvPr id="5" name="TextBox 4">
            <a:extLst>
              <a:ext uri="{FF2B5EF4-FFF2-40B4-BE49-F238E27FC236}">
                <a16:creationId xmlns:a16="http://schemas.microsoft.com/office/drawing/2014/main" id="{A2617236-8F37-A247-861A-9A1A41D44F05}"/>
              </a:ext>
            </a:extLst>
          </p:cNvPr>
          <p:cNvSpPr txBox="1"/>
          <p:nvPr/>
        </p:nvSpPr>
        <p:spPr>
          <a:xfrm>
            <a:off x="2063552" y="5999133"/>
            <a:ext cx="8147248" cy="369332"/>
          </a:xfrm>
          <a:prstGeom prst="rect">
            <a:avLst/>
          </a:prstGeom>
          <a:noFill/>
        </p:spPr>
        <p:txBody>
          <a:bodyPr wrap="square" rtlCol="0">
            <a:spAutoFit/>
          </a:bodyPr>
          <a:lstStyle/>
          <a:p>
            <a:r>
              <a:rPr lang="en-US" i="1" dirty="0">
                <a:solidFill>
                  <a:srgbClr val="000000"/>
                </a:solidFill>
                <a:latin typeface="Calibri"/>
              </a:rPr>
              <a:t>Source</a:t>
            </a:r>
            <a:r>
              <a:rPr lang="en-US" dirty="0">
                <a:solidFill>
                  <a:srgbClr val="000000"/>
                </a:solidFill>
                <a:latin typeface="Calibri"/>
              </a:rPr>
              <a:t>: Tallyn et al. (2018) Reproduced with permission of </a:t>
            </a:r>
            <a:r>
              <a:rPr lang="en-US" dirty="0">
                <a:solidFill>
                  <a:srgbClr val="000000"/>
                </a:solidFill>
                <a:latin typeface="Calibri"/>
                <a:hlinkClick r:id="rId3"/>
              </a:rPr>
              <a:t>ACM Publications</a:t>
            </a:r>
            <a:r>
              <a:rPr lang="en-US" dirty="0">
                <a:solidFill>
                  <a:srgbClr val="000000"/>
                </a:solidFill>
                <a:latin typeface="Calibri"/>
              </a:rPr>
              <a:t>. </a:t>
            </a:r>
          </a:p>
        </p:txBody>
      </p:sp>
      <p:sp>
        <p:nvSpPr>
          <p:cNvPr id="7" name="TextBox 6">
            <a:extLst>
              <a:ext uri="{FF2B5EF4-FFF2-40B4-BE49-F238E27FC236}">
                <a16:creationId xmlns:a16="http://schemas.microsoft.com/office/drawing/2014/main" id="{FE6CF17E-0269-C244-8DA7-BDA81ABC915A}"/>
              </a:ext>
            </a:extLst>
          </p:cNvPr>
          <p:cNvSpPr txBox="1"/>
          <p:nvPr/>
        </p:nvSpPr>
        <p:spPr>
          <a:xfrm>
            <a:off x="1968715" y="1615588"/>
            <a:ext cx="4487325" cy="4278094"/>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rgbClr val="000000"/>
                </a:solidFill>
                <a:latin typeface="Arial" panose="020B0604020202020204" pitchFamily="34" charset="0"/>
                <a:cs typeface="Arial" panose="020B0604020202020204" pitchFamily="34" charset="0"/>
              </a:rPr>
              <a:t>The Ethnobat directed Billy to a particular place (Aberdeenshire Village)</a:t>
            </a:r>
          </a:p>
          <a:p>
            <a:pPr marL="285750" indent="-285750">
              <a:spcBef>
                <a:spcPts val="1200"/>
              </a:spcBef>
              <a:buFont typeface="Arial" panose="020B0604020202020204" pitchFamily="34" charset="0"/>
              <a:buChar char="•"/>
            </a:pPr>
            <a:r>
              <a:rPr lang="en-US" sz="2800" dirty="0">
                <a:solidFill>
                  <a:srgbClr val="000000"/>
                </a:solidFill>
                <a:latin typeface="Arial" panose="020B0604020202020204" pitchFamily="34" charset="0"/>
                <a:cs typeface="Arial" panose="020B0604020202020204" pitchFamily="34" charset="0"/>
              </a:rPr>
              <a:t>Next, Ethnobot asks “…what’s going on?”</a:t>
            </a:r>
          </a:p>
          <a:p>
            <a:pPr marL="285750" indent="-285750">
              <a:spcBef>
                <a:spcPts val="1200"/>
              </a:spcBef>
              <a:buFont typeface="Arial" panose="020B0604020202020204" pitchFamily="34" charset="0"/>
              <a:buChar char="•"/>
            </a:pPr>
            <a:r>
              <a:rPr lang="en-US" sz="2800" dirty="0">
                <a:solidFill>
                  <a:srgbClr val="000000"/>
                </a:solidFill>
                <a:latin typeface="Arial" panose="020B0604020202020204" pitchFamily="34" charset="0"/>
                <a:cs typeface="Arial" panose="020B0604020202020204" pitchFamily="34" charset="0"/>
              </a:rPr>
              <a:t>The screen shows five of the experience buttons from which Billy needs to select a response</a:t>
            </a:r>
          </a:p>
        </p:txBody>
      </p:sp>
    </p:spTree>
    <p:extLst>
      <p:ext uri="{BB962C8B-B14F-4D97-AF65-F5344CB8AC3E}">
        <p14:creationId xmlns:p14="http://schemas.microsoft.com/office/powerpoint/2010/main" val="4279243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itle 1"/>
          <p:cNvSpPr>
            <a:spLocks noGrp="1"/>
          </p:cNvSpPr>
          <p:nvPr>
            <p:ph type="title" idx="4294967295"/>
          </p:nvPr>
        </p:nvSpPr>
        <p:spPr>
          <a:xfrm>
            <a:off x="2567289" y="404664"/>
            <a:ext cx="7056784" cy="1008112"/>
          </a:xfrm>
        </p:spPr>
        <p:txBody>
          <a:bodyPr>
            <a:normAutofit fontScale="90000"/>
          </a:bodyPr>
          <a:lstStyle/>
          <a:p>
            <a:pPr eaLnBrk="1" hangingPunct="1"/>
            <a:r>
              <a:rPr lang="en-US" dirty="0">
                <a:latin typeface="Liberation Sans"/>
                <a:ea typeface="ＭＳ Ｐゴシック" charset="0"/>
                <a:cs typeface="ＭＳ Ｐゴシック" charset="0"/>
              </a:rPr>
              <a:t>Experience responses submitted in Ethnobot</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21</a:t>
            </a:fld>
            <a:endParaRPr lang="en-GB" dirty="0">
              <a:solidFill>
                <a:srgbClr val="77A363">
                  <a:lumMod val="75000"/>
                </a:srgbClr>
              </a:solidFill>
            </a:endParaRPr>
          </a:p>
        </p:txBody>
      </p:sp>
      <p:sp>
        <p:nvSpPr>
          <p:cNvPr id="5" name="TextBox 4">
            <a:extLst>
              <a:ext uri="{FF2B5EF4-FFF2-40B4-BE49-F238E27FC236}">
                <a16:creationId xmlns:a16="http://schemas.microsoft.com/office/drawing/2014/main" id="{A2617236-8F37-A247-861A-9A1A41D44F05}"/>
              </a:ext>
            </a:extLst>
          </p:cNvPr>
          <p:cNvSpPr txBox="1"/>
          <p:nvPr/>
        </p:nvSpPr>
        <p:spPr>
          <a:xfrm>
            <a:off x="2392920" y="5143714"/>
            <a:ext cx="7488513" cy="646331"/>
          </a:xfrm>
          <a:prstGeom prst="rect">
            <a:avLst/>
          </a:prstGeom>
          <a:noFill/>
        </p:spPr>
        <p:txBody>
          <a:bodyPr wrap="square" rtlCol="0">
            <a:spAutoFit/>
          </a:bodyPr>
          <a:lstStyle/>
          <a:p>
            <a:r>
              <a:rPr lang="en-US" dirty="0">
                <a:solidFill>
                  <a:srgbClr val="000000"/>
                </a:solidFill>
                <a:latin typeface="Calibri"/>
              </a:rPr>
              <a:t>Number of prewritten experience responses submitted by participants to the pre-established questions that Ethnobot asked them about their experiences</a:t>
            </a:r>
          </a:p>
        </p:txBody>
      </p:sp>
      <p:pic>
        <p:nvPicPr>
          <p:cNvPr id="7" name="Picture 6" descr="Bar chart depicts the number of prewritten experience responses submitted by participants to the pre-established questions that Ethnobot asked them about their experience.">
            <a:extLst>
              <a:ext uri="{FF2B5EF4-FFF2-40B4-BE49-F238E27FC236}">
                <a16:creationId xmlns:a16="http://schemas.microsoft.com/office/drawing/2014/main" id="{50F1B793-50CA-8542-818A-3B62B9080B82}"/>
              </a:ext>
            </a:extLst>
          </p:cNvPr>
          <p:cNvPicPr>
            <a:picLocks noChangeAspect="1"/>
          </p:cNvPicPr>
          <p:nvPr/>
        </p:nvPicPr>
        <p:blipFill>
          <a:blip r:embed="rId2"/>
          <a:stretch>
            <a:fillRect/>
          </a:stretch>
        </p:blipFill>
        <p:spPr>
          <a:xfrm>
            <a:off x="3161674" y="1801412"/>
            <a:ext cx="5868652" cy="3118875"/>
          </a:xfrm>
          <a:prstGeom prst="rect">
            <a:avLst/>
          </a:prstGeom>
        </p:spPr>
      </p:pic>
      <p:sp>
        <p:nvSpPr>
          <p:cNvPr id="8" name="TextBox 7">
            <a:extLst>
              <a:ext uri="{FF2B5EF4-FFF2-40B4-BE49-F238E27FC236}">
                <a16:creationId xmlns:a16="http://schemas.microsoft.com/office/drawing/2014/main" id="{87A18DC6-8F0F-8541-AE98-900F7A9A8CF1}"/>
              </a:ext>
            </a:extLst>
          </p:cNvPr>
          <p:cNvSpPr txBox="1"/>
          <p:nvPr/>
        </p:nvSpPr>
        <p:spPr>
          <a:xfrm>
            <a:off x="1981200" y="6017796"/>
            <a:ext cx="8147248" cy="338554"/>
          </a:xfrm>
          <a:prstGeom prst="rect">
            <a:avLst/>
          </a:prstGeom>
          <a:noFill/>
        </p:spPr>
        <p:txBody>
          <a:bodyPr wrap="square" rtlCol="0">
            <a:spAutoFit/>
          </a:bodyPr>
          <a:lstStyle/>
          <a:p>
            <a:r>
              <a:rPr lang="en-US" sz="1600" i="1" dirty="0">
                <a:solidFill>
                  <a:srgbClr val="000000"/>
                </a:solidFill>
                <a:latin typeface="Calibri"/>
              </a:rPr>
              <a:t>Source</a:t>
            </a:r>
            <a:r>
              <a:rPr lang="en-US" sz="1600" dirty="0">
                <a:solidFill>
                  <a:srgbClr val="000000"/>
                </a:solidFill>
                <a:latin typeface="Calibri"/>
              </a:rPr>
              <a:t>: Tallyn et al. (2018) Reproduced with permission of </a:t>
            </a:r>
            <a:r>
              <a:rPr lang="en-US" sz="1600" dirty="0">
                <a:solidFill>
                  <a:srgbClr val="000000"/>
                </a:solidFill>
                <a:latin typeface="Calibri"/>
                <a:hlinkClick r:id="rId3"/>
              </a:rPr>
              <a:t>ACM Publications</a:t>
            </a:r>
            <a:r>
              <a:rPr lang="en-US" sz="1600" dirty="0">
                <a:solidFill>
                  <a:srgbClr val="000000"/>
                </a:solidFill>
                <a:latin typeface="Calibri"/>
              </a:rPr>
              <a:t>. </a:t>
            </a:r>
          </a:p>
        </p:txBody>
      </p:sp>
    </p:spTree>
    <p:extLst>
      <p:ext uri="{BB962C8B-B14F-4D97-AF65-F5344CB8AC3E}">
        <p14:creationId xmlns:p14="http://schemas.microsoft.com/office/powerpoint/2010/main" val="502495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2496" y="260648"/>
            <a:ext cx="5987008" cy="1143000"/>
          </a:xfrm>
        </p:spPr>
        <p:txBody>
          <a:bodyPr>
            <a:normAutofit fontScale="90000"/>
          </a:bodyPr>
          <a:lstStyle/>
          <a:p>
            <a:r>
              <a:rPr lang="en-GB" dirty="0"/>
              <a:t>What did we learn from the case studies?</a:t>
            </a:r>
          </a:p>
        </p:txBody>
      </p:sp>
      <p:sp>
        <p:nvSpPr>
          <p:cNvPr id="3" name="Content Placeholder 2"/>
          <p:cNvSpPr>
            <a:spLocks noGrp="1"/>
          </p:cNvSpPr>
          <p:nvPr>
            <p:ph idx="1"/>
          </p:nvPr>
        </p:nvSpPr>
        <p:spPr>
          <a:xfrm>
            <a:off x="1991544" y="1700809"/>
            <a:ext cx="8229600" cy="4525963"/>
          </a:xfrm>
        </p:spPr>
        <p:txBody>
          <a:bodyPr>
            <a:noAutofit/>
          </a:bodyPr>
          <a:lstStyle/>
          <a:p>
            <a:pPr>
              <a:spcBef>
                <a:spcPts val="1200"/>
              </a:spcBef>
            </a:pPr>
            <a:r>
              <a:rPr lang="en-US" dirty="0"/>
              <a:t>How to observe users in the lab and in natural settings</a:t>
            </a:r>
          </a:p>
          <a:p>
            <a:pPr>
              <a:spcBef>
                <a:spcPts val="2400"/>
              </a:spcBef>
            </a:pPr>
            <a:r>
              <a:rPr lang="en-US" dirty="0"/>
              <a:t>How evaluators excerpt different levels of control in the lab and in natural settings and in crowdsourcing evaluation studies</a:t>
            </a:r>
          </a:p>
          <a:p>
            <a:pPr>
              <a:spcBef>
                <a:spcPts val="2400"/>
              </a:spcBef>
            </a:pPr>
            <a:r>
              <a:rPr lang="en-US" dirty="0"/>
              <a:t>Use of different evaluation methods </a:t>
            </a:r>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22</a:t>
            </a:fld>
            <a:endParaRPr lang="en-GB" dirty="0">
              <a:solidFill>
                <a:srgbClr val="77A363">
                  <a:lumMod val="75000"/>
                </a:srgbClr>
              </a:solidFill>
            </a:endParaRPr>
          </a:p>
        </p:txBody>
      </p:sp>
    </p:spTree>
    <p:extLst>
      <p:ext uri="{BB962C8B-B14F-4D97-AF65-F5344CB8AC3E}">
        <p14:creationId xmlns:p14="http://schemas.microsoft.com/office/powerpoint/2010/main" val="3942127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5052" y="260648"/>
            <a:ext cx="6521896" cy="1143000"/>
          </a:xfrm>
        </p:spPr>
        <p:txBody>
          <a:bodyPr>
            <a:normAutofit fontScale="90000"/>
          </a:bodyPr>
          <a:lstStyle/>
          <a:p>
            <a:r>
              <a:rPr lang="en-GB" dirty="0"/>
              <a:t>What did we learn from the case studies? </a:t>
            </a:r>
            <a:r>
              <a:rPr lang="en-GB" sz="3100" i="1" dirty="0"/>
              <a:t>(continued)</a:t>
            </a:r>
          </a:p>
        </p:txBody>
      </p:sp>
      <p:sp>
        <p:nvSpPr>
          <p:cNvPr id="3" name="Content Placeholder 2"/>
          <p:cNvSpPr>
            <a:spLocks noGrp="1"/>
          </p:cNvSpPr>
          <p:nvPr>
            <p:ph idx="1"/>
          </p:nvPr>
        </p:nvSpPr>
        <p:spPr>
          <a:xfrm>
            <a:off x="1991544" y="1700809"/>
            <a:ext cx="8229600" cy="4525963"/>
          </a:xfrm>
        </p:spPr>
        <p:txBody>
          <a:bodyPr>
            <a:noAutofit/>
          </a:bodyPr>
          <a:lstStyle/>
          <a:p>
            <a:pPr>
              <a:spcBef>
                <a:spcPts val="1200"/>
              </a:spcBef>
            </a:pPr>
            <a:r>
              <a:rPr lang="en-US" sz="3000" dirty="0"/>
              <a:t>How to develop different data collection and analysis techniques to evaluate user experience goals such as challenge and engagement</a:t>
            </a:r>
          </a:p>
          <a:p>
            <a:pPr>
              <a:spcBef>
                <a:spcPts val="1200"/>
              </a:spcBef>
            </a:pPr>
            <a:r>
              <a:rPr lang="en-US" sz="3000" dirty="0"/>
              <a:t>The ability to run experiments on the Internet that are quick and inexpensive using crowdsourcing</a:t>
            </a:r>
          </a:p>
          <a:p>
            <a:pPr>
              <a:spcBef>
                <a:spcPts val="1200"/>
              </a:spcBef>
            </a:pPr>
            <a:r>
              <a:rPr lang="en-US" sz="3000" dirty="0"/>
              <a:t>How a large number of participants can be recruited using Mechanical Turk</a:t>
            </a:r>
            <a:endParaRPr lang="en-GB" sz="3000" dirty="0"/>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23</a:t>
            </a:fld>
            <a:endParaRPr lang="en-GB" dirty="0">
              <a:solidFill>
                <a:srgbClr val="77A363">
                  <a:lumMod val="75000"/>
                </a:srgbClr>
              </a:solidFill>
            </a:endParaRPr>
          </a:p>
        </p:txBody>
      </p:sp>
    </p:spTree>
    <p:extLst>
      <p:ext uri="{BB962C8B-B14F-4D97-AF65-F5344CB8AC3E}">
        <p14:creationId xmlns:p14="http://schemas.microsoft.com/office/powerpoint/2010/main" val="2304940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idx="4294967295"/>
          </p:nvPr>
        </p:nvSpPr>
        <p:spPr>
          <a:xfrm>
            <a:off x="1991544" y="116632"/>
            <a:ext cx="8229600" cy="639762"/>
          </a:xfrm>
        </p:spPr>
        <p:txBody>
          <a:bodyPr>
            <a:normAutofit fontScale="90000"/>
          </a:bodyPr>
          <a:lstStyle/>
          <a:p>
            <a:pPr eaLnBrk="1" hangingPunct="1"/>
            <a:r>
              <a:rPr lang="en-US" dirty="0">
                <a:latin typeface="Liberation Sans"/>
                <a:ea typeface="ＭＳ Ｐゴシック" charset="0"/>
                <a:cs typeface="ＭＳ Ｐゴシック" charset="0"/>
              </a:rPr>
              <a:t>Evaluation methods</a:t>
            </a:r>
          </a:p>
        </p:txBody>
      </p:sp>
      <p:graphicFrame>
        <p:nvGraphicFramePr>
          <p:cNvPr id="78894" name="Group 46" descr="Table illustrating different evaluation methods in controlled settings, natural settings, and without users. Criteria include observing, asking others, asking experts, testing, and modeling."/>
          <p:cNvGraphicFramePr>
            <a:graphicFrameLocks noGrp="1"/>
          </p:cNvGraphicFramePr>
          <p:nvPr>
            <p:extLst/>
          </p:nvPr>
        </p:nvGraphicFramePr>
        <p:xfrm>
          <a:off x="1991544" y="764704"/>
          <a:ext cx="8229600" cy="5543550"/>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990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Method</a:t>
                      </a:r>
                      <a:endPar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Controlled settings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Natural settings </a:t>
                      </a:r>
                      <a:endParaRPr kumimoji="0" lang="en-US" sz="2400" b="0" i="0" u="none" strike="noStrike" cap="none" normalizeH="0" baseline="0" dirty="0">
                        <a:ln>
                          <a:noFill/>
                        </a:ln>
                        <a:solidFill>
                          <a:schemeClr val="tx1"/>
                        </a:solidFill>
                        <a:effectLst/>
                        <a:latin typeface="Liberation Sans"/>
                        <a:ea typeface="ＭＳ Ｐゴシック" charset="0"/>
                        <a:cs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Without users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58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Observing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58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Asking users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58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Asking experts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175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Testing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588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chemeClr val="tx1"/>
                          </a:solidFill>
                          <a:effectLst/>
                          <a:latin typeface="Liberation Sans"/>
                          <a:ea typeface="ＭＳ Ｐゴシック" charset="0"/>
                          <a:cs typeface="ＭＳ Ｐゴシック" charset="0"/>
                        </a:rPr>
                        <a:t>Modeling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Liberation Sans"/>
                          <a:ea typeface="ＭＳ Ｐゴシック" charset="0"/>
                          <a:cs typeface="ＭＳ Ｐゴシック" charset="0"/>
                        </a:rPr>
                        <a:t>    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24</a:t>
            </a:fld>
            <a:endParaRPr lang="en-GB" dirty="0">
              <a:solidFill>
                <a:srgbClr val="77A363">
                  <a:lumMod val="75000"/>
                </a:srgbClr>
              </a:solidFill>
            </a:endParaRPr>
          </a:p>
        </p:txBody>
      </p:sp>
    </p:spTree>
    <p:extLst>
      <p:ext uri="{BB962C8B-B14F-4D97-AF65-F5344CB8AC3E}">
        <p14:creationId xmlns:p14="http://schemas.microsoft.com/office/powerpoint/2010/main" val="4282084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idx="4294967295"/>
          </p:nvPr>
        </p:nvSpPr>
        <p:spPr>
          <a:xfrm>
            <a:off x="1981200" y="274638"/>
            <a:ext cx="8229600" cy="944562"/>
          </a:xfrm>
        </p:spPr>
        <p:txBody>
          <a:bodyPr/>
          <a:lstStyle/>
          <a:p>
            <a:pPr eaLnBrk="1" hangingPunct="1"/>
            <a:r>
              <a:rPr lang="en-US" dirty="0">
                <a:latin typeface="Liberation Sans"/>
                <a:ea typeface="ＭＳ Ｐゴシック" charset="0"/>
                <a:cs typeface="ＭＳ Ｐゴシック" charset="0"/>
              </a:rPr>
              <a:t>The language of evaluation</a:t>
            </a:r>
          </a:p>
        </p:txBody>
      </p:sp>
      <p:sp>
        <p:nvSpPr>
          <p:cNvPr id="38917" name="Rectangle 3"/>
          <p:cNvSpPr>
            <a:spLocks noGrp="1" noChangeArrowheads="1"/>
          </p:cNvSpPr>
          <p:nvPr>
            <p:ph type="body" sz="half" idx="4294967295"/>
          </p:nvPr>
        </p:nvSpPr>
        <p:spPr>
          <a:xfrm>
            <a:off x="2207568" y="1340768"/>
            <a:ext cx="3848100" cy="5105400"/>
          </a:xfrm>
        </p:spPr>
        <p:txBody>
          <a:bodyPr>
            <a:normAutofit fontScale="92500" lnSpcReduction="10000"/>
          </a:bodyPr>
          <a:lstStyle/>
          <a:p>
            <a:r>
              <a:rPr lang="en-US" sz="2800" dirty="0">
                <a:latin typeface="Liberation Sans"/>
                <a:ea typeface="ＭＳ Ｐゴシック" charset="0"/>
                <a:cs typeface="ＭＳ Ｐゴシック" charset="0"/>
              </a:rPr>
              <a:t>Analytics </a:t>
            </a:r>
          </a:p>
          <a:p>
            <a:pPr>
              <a:spcBef>
                <a:spcPts val="700"/>
              </a:spcBef>
            </a:pPr>
            <a:r>
              <a:rPr lang="en-US" sz="2800" dirty="0">
                <a:latin typeface="Liberation Sans"/>
                <a:ea typeface="ＭＳ Ｐゴシック" charset="0"/>
                <a:cs typeface="ＭＳ Ｐゴシック" charset="0"/>
              </a:rPr>
              <a:t>Analytical evaluation</a:t>
            </a:r>
          </a:p>
          <a:p>
            <a:pPr>
              <a:spcBef>
                <a:spcPts val="700"/>
              </a:spcBef>
            </a:pPr>
            <a:r>
              <a:rPr lang="en-US" sz="2800" dirty="0">
                <a:latin typeface="Liberation Sans"/>
                <a:ea typeface="ＭＳ Ｐゴシック" charset="0"/>
                <a:cs typeface="ＭＳ Ｐゴシック" charset="0"/>
              </a:rPr>
              <a:t>Biases</a:t>
            </a:r>
          </a:p>
          <a:p>
            <a:pPr>
              <a:spcBef>
                <a:spcPts val="700"/>
              </a:spcBef>
            </a:pPr>
            <a:r>
              <a:rPr lang="en-US" sz="2800" dirty="0">
                <a:latin typeface="Liberation Sans"/>
                <a:ea typeface="ＭＳ Ｐゴシック" charset="0"/>
                <a:cs typeface="ＭＳ Ｐゴシック" charset="0"/>
              </a:rPr>
              <a:t>Controlled experiment</a:t>
            </a:r>
          </a:p>
          <a:p>
            <a:pPr>
              <a:spcBef>
                <a:spcPts val="700"/>
              </a:spcBef>
            </a:pPr>
            <a:r>
              <a:rPr lang="en-US" sz="2800" dirty="0">
                <a:latin typeface="Liberation Sans"/>
                <a:ea typeface="ＭＳ Ｐゴシック" charset="0"/>
                <a:cs typeface="ＭＳ Ｐゴシック" charset="0"/>
              </a:rPr>
              <a:t>Crowdsourcing</a:t>
            </a:r>
          </a:p>
          <a:p>
            <a:pPr>
              <a:spcBef>
                <a:spcPts val="700"/>
              </a:spcBef>
            </a:pPr>
            <a:r>
              <a:rPr lang="en-US" sz="2800" dirty="0">
                <a:latin typeface="Liberation Sans"/>
                <a:ea typeface="ＭＳ Ｐゴシック" charset="0"/>
                <a:cs typeface="ＭＳ Ｐゴシック" charset="0"/>
              </a:rPr>
              <a:t>Ecological validity</a:t>
            </a:r>
          </a:p>
          <a:p>
            <a:pPr>
              <a:spcBef>
                <a:spcPts val="700"/>
              </a:spcBef>
            </a:pPr>
            <a:r>
              <a:rPr lang="en-US" sz="2800" dirty="0">
                <a:latin typeface="Liberation Sans"/>
                <a:ea typeface="ＭＳ Ｐゴシック" charset="0"/>
                <a:cs typeface="ＭＳ Ｐゴシック" charset="0"/>
              </a:rPr>
              <a:t>Expert review or criticism </a:t>
            </a:r>
          </a:p>
          <a:p>
            <a:pPr>
              <a:spcBef>
                <a:spcPts val="700"/>
              </a:spcBef>
            </a:pPr>
            <a:r>
              <a:rPr lang="en-US" sz="2800" dirty="0">
                <a:latin typeface="Liberation Sans"/>
                <a:ea typeface="ＭＳ Ｐゴシック" charset="0"/>
                <a:cs typeface="ＭＳ Ｐゴシック" charset="0"/>
              </a:rPr>
              <a:t>Field study </a:t>
            </a:r>
          </a:p>
          <a:p>
            <a:pPr>
              <a:spcBef>
                <a:spcPts val="700"/>
              </a:spcBef>
            </a:pPr>
            <a:r>
              <a:rPr lang="en-US" sz="2800" dirty="0">
                <a:latin typeface="Liberation Sans"/>
                <a:ea typeface="ＭＳ Ｐゴシック" charset="0"/>
                <a:cs typeface="ＭＳ Ｐゴシック" charset="0"/>
              </a:rPr>
              <a:t>Formative evaluation</a:t>
            </a:r>
          </a:p>
          <a:p>
            <a:pPr>
              <a:spcBef>
                <a:spcPts val="700"/>
              </a:spcBef>
            </a:pPr>
            <a:r>
              <a:rPr lang="en-US" sz="2800" dirty="0">
                <a:latin typeface="Liberation Sans"/>
                <a:ea typeface="ＭＳ Ｐゴシック" charset="0"/>
                <a:cs typeface="ＭＳ Ｐゴシック" charset="0"/>
              </a:rPr>
              <a:t>Heuristic evaluation</a:t>
            </a:r>
            <a:r>
              <a:rPr lang="en-US" dirty="0">
                <a:latin typeface="Liberation Sans"/>
                <a:ea typeface="ＭＳ Ｐゴシック" charset="0"/>
                <a:cs typeface="ＭＳ Ｐゴシック" charset="0"/>
              </a:rPr>
              <a:t> </a:t>
            </a:r>
          </a:p>
          <a:p>
            <a:pPr eaLnBrk="1" hangingPunct="1">
              <a:buFontTx/>
              <a:buNone/>
            </a:pPr>
            <a:endParaRPr lang="en-US" sz="2800" dirty="0">
              <a:latin typeface="Liberation Sans"/>
              <a:ea typeface="ＭＳ Ｐゴシック" charset="0"/>
              <a:cs typeface="ＭＳ Ｐゴシック" charset="0"/>
            </a:endParaRPr>
          </a:p>
        </p:txBody>
      </p:sp>
      <p:sp>
        <p:nvSpPr>
          <p:cNvPr id="38918" name="Rectangle 4"/>
          <p:cNvSpPr>
            <a:spLocks noGrp="1" noChangeArrowheads="1"/>
          </p:cNvSpPr>
          <p:nvPr>
            <p:ph type="body" sz="half" idx="4294967295"/>
          </p:nvPr>
        </p:nvSpPr>
        <p:spPr>
          <a:xfrm>
            <a:off x="6168009" y="1340769"/>
            <a:ext cx="4035425" cy="4906963"/>
          </a:xfrm>
        </p:spPr>
        <p:txBody>
          <a:bodyPr>
            <a:normAutofit fontScale="92500" lnSpcReduction="20000"/>
          </a:bodyPr>
          <a:lstStyle/>
          <a:p>
            <a:r>
              <a:rPr lang="en-US" sz="2800" dirty="0">
                <a:latin typeface="Liberation Sans"/>
                <a:ea typeface="ＭＳ Ｐゴシック" charset="0"/>
                <a:cs typeface="ＭＳ Ｐゴシック" charset="0"/>
              </a:rPr>
              <a:t>Informed consent form</a:t>
            </a:r>
          </a:p>
          <a:p>
            <a:pPr>
              <a:spcBef>
                <a:spcPts val="700"/>
              </a:spcBef>
            </a:pPr>
            <a:r>
              <a:rPr lang="en-US" sz="2800" dirty="0">
                <a:latin typeface="Liberation Sans"/>
                <a:ea typeface="ＭＳ Ｐゴシック" charset="0"/>
                <a:cs typeface="ＭＳ Ｐゴシック" charset="0"/>
              </a:rPr>
              <a:t>In the wild evaluation</a:t>
            </a:r>
          </a:p>
          <a:p>
            <a:pPr>
              <a:spcBef>
                <a:spcPts val="700"/>
              </a:spcBef>
            </a:pPr>
            <a:r>
              <a:rPr lang="en-US" sz="2800" dirty="0">
                <a:latin typeface="Liberation Sans"/>
                <a:ea typeface="ＭＳ Ｐゴシック" charset="0"/>
                <a:cs typeface="ＭＳ Ｐゴシック" charset="0"/>
              </a:rPr>
              <a:t>Living laboratory</a:t>
            </a:r>
          </a:p>
          <a:p>
            <a:pPr>
              <a:spcBef>
                <a:spcPts val="700"/>
              </a:spcBef>
            </a:pPr>
            <a:r>
              <a:rPr lang="en-US" sz="2800" dirty="0">
                <a:latin typeface="Liberation Sans"/>
                <a:ea typeface="ＭＳ Ｐゴシック" charset="0"/>
                <a:cs typeface="ＭＳ Ｐゴシック" charset="0"/>
              </a:rPr>
              <a:t>Predictive evaluation</a:t>
            </a:r>
          </a:p>
          <a:p>
            <a:pPr>
              <a:spcBef>
                <a:spcPts val="700"/>
              </a:spcBef>
            </a:pPr>
            <a:r>
              <a:rPr lang="en-US" sz="2800" dirty="0">
                <a:latin typeface="Liberation Sans"/>
                <a:ea typeface="ＭＳ Ｐゴシック" charset="0"/>
                <a:cs typeface="ＭＳ Ｐゴシック" charset="0"/>
              </a:rPr>
              <a:t>Reliability</a:t>
            </a:r>
          </a:p>
          <a:p>
            <a:pPr>
              <a:spcBef>
                <a:spcPts val="700"/>
              </a:spcBef>
            </a:pPr>
            <a:r>
              <a:rPr lang="en-US" sz="2800" dirty="0">
                <a:latin typeface="Liberation Sans"/>
                <a:ea typeface="ＭＳ Ｐゴシック" charset="0"/>
                <a:cs typeface="ＭＳ Ｐゴシック" charset="0"/>
              </a:rPr>
              <a:t>Scope</a:t>
            </a:r>
          </a:p>
          <a:p>
            <a:pPr>
              <a:spcBef>
                <a:spcPts val="700"/>
              </a:spcBef>
            </a:pPr>
            <a:r>
              <a:rPr lang="en-US" sz="2800" dirty="0">
                <a:latin typeface="Liberation Sans"/>
                <a:ea typeface="ＭＳ Ｐゴシック" charset="0"/>
                <a:cs typeface="ＭＳ Ｐゴシック" charset="0"/>
              </a:rPr>
              <a:t>Summative evaluation</a:t>
            </a:r>
          </a:p>
          <a:p>
            <a:pPr>
              <a:spcBef>
                <a:spcPts val="700"/>
              </a:spcBef>
            </a:pPr>
            <a:r>
              <a:rPr lang="en-US" sz="2800" dirty="0">
                <a:latin typeface="Liberation Sans"/>
                <a:ea typeface="ＭＳ Ｐゴシック" charset="0"/>
                <a:cs typeface="ＭＳ Ｐゴシック" charset="0"/>
              </a:rPr>
              <a:t>Usability laboratory </a:t>
            </a:r>
          </a:p>
          <a:p>
            <a:pPr>
              <a:spcBef>
                <a:spcPts val="700"/>
              </a:spcBef>
            </a:pPr>
            <a:r>
              <a:rPr lang="en-US" sz="2800" dirty="0">
                <a:latin typeface="Liberation Sans"/>
                <a:ea typeface="ＭＳ Ｐゴシック" charset="0"/>
                <a:cs typeface="ＭＳ Ｐゴシック" charset="0"/>
              </a:rPr>
              <a:t>User studies </a:t>
            </a:r>
          </a:p>
          <a:p>
            <a:pPr>
              <a:spcBef>
                <a:spcPts val="700"/>
              </a:spcBef>
            </a:pPr>
            <a:r>
              <a:rPr lang="en-US" sz="2800" dirty="0">
                <a:latin typeface="Liberation Sans"/>
                <a:ea typeface="ＭＳ Ｐゴシック" charset="0"/>
                <a:cs typeface="ＭＳ Ｐゴシック" charset="0"/>
              </a:rPr>
              <a:t>Usability testing </a:t>
            </a:r>
          </a:p>
          <a:p>
            <a:pPr>
              <a:spcBef>
                <a:spcPts val="700"/>
              </a:spcBef>
            </a:pPr>
            <a:r>
              <a:rPr lang="en-US" sz="2800" dirty="0">
                <a:latin typeface="Liberation Sans"/>
                <a:ea typeface="ＭＳ Ｐゴシック" charset="0"/>
                <a:cs typeface="ＭＳ Ｐゴシック" charset="0"/>
              </a:rPr>
              <a:t>Users or participants</a:t>
            </a:r>
          </a:p>
          <a:p>
            <a:pPr>
              <a:spcBef>
                <a:spcPts val="700"/>
              </a:spcBef>
            </a:pPr>
            <a:r>
              <a:rPr lang="en-US" sz="2800" dirty="0">
                <a:latin typeface="Liberation Sans"/>
                <a:ea typeface="ＭＳ Ｐゴシック" charset="0"/>
                <a:cs typeface="ＭＳ Ｐゴシック" charset="0"/>
              </a:rPr>
              <a:t>Validity</a:t>
            </a:r>
          </a:p>
        </p:txBody>
      </p:sp>
      <p:sp>
        <p:nvSpPr>
          <p:cNvPr id="2" name="Footer Placeholder 1"/>
          <p:cNvSpPr>
            <a:spLocks noGrp="1"/>
          </p:cNvSpPr>
          <p:nvPr>
            <p:ph type="ftr" sz="quarter" idx="11"/>
          </p:nvPr>
        </p:nvSpPr>
        <p:spPr/>
        <p:txBody>
          <a:bodyPr/>
          <a:lstStyle/>
          <a:p>
            <a:r>
              <a:rPr lang="en-GB" dirty="0">
                <a:solidFill>
                  <a:srgbClr val="77A363">
                    <a:lumMod val="75000"/>
                  </a:srgbClr>
                </a:solidFill>
              </a:rPr>
              <a:t>www.id-book.com</a:t>
            </a:r>
          </a:p>
        </p:txBody>
      </p:sp>
      <p:sp>
        <p:nvSpPr>
          <p:cNvPr id="3" name="Slide Number Placeholder 2"/>
          <p:cNvSpPr>
            <a:spLocks noGrp="1"/>
          </p:cNvSpPr>
          <p:nvPr>
            <p:ph type="sldNum" sz="quarter" idx="12"/>
          </p:nvPr>
        </p:nvSpPr>
        <p:spPr/>
        <p:txBody>
          <a:bodyPr/>
          <a:lstStyle/>
          <a:p>
            <a:fld id="{A7EA2D8D-44E5-43C4-BBA1-AE3E32EF0894}" type="slidenum">
              <a:rPr lang="en-GB">
                <a:solidFill>
                  <a:srgbClr val="77A363">
                    <a:lumMod val="75000"/>
                  </a:srgbClr>
                </a:solidFill>
              </a:rPr>
              <a:pPr/>
              <a:t>25</a:t>
            </a:fld>
            <a:endParaRPr lang="en-GB" dirty="0">
              <a:solidFill>
                <a:srgbClr val="77A363">
                  <a:lumMod val="75000"/>
                </a:srgbClr>
              </a:solidFill>
            </a:endParaRPr>
          </a:p>
        </p:txBody>
      </p:sp>
    </p:spTree>
    <p:extLst>
      <p:ext uri="{BB962C8B-B14F-4D97-AF65-F5344CB8AC3E}">
        <p14:creationId xmlns:p14="http://schemas.microsoft.com/office/powerpoint/2010/main" val="312707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0812" y="332656"/>
            <a:ext cx="6491064" cy="1143000"/>
          </a:xfrm>
        </p:spPr>
        <p:txBody>
          <a:bodyPr>
            <a:normAutofit fontScale="90000"/>
          </a:bodyPr>
          <a:lstStyle/>
          <a:p>
            <a:r>
              <a:rPr lang="en-GB" dirty="0"/>
              <a:t>Participants’ rights and getting their consent</a:t>
            </a:r>
          </a:p>
        </p:txBody>
      </p:sp>
      <p:sp>
        <p:nvSpPr>
          <p:cNvPr id="3" name="Content Placeholder 2"/>
          <p:cNvSpPr>
            <a:spLocks noGrp="1"/>
          </p:cNvSpPr>
          <p:nvPr>
            <p:ph idx="1"/>
          </p:nvPr>
        </p:nvSpPr>
        <p:spPr>
          <a:xfrm>
            <a:off x="1991544" y="1700809"/>
            <a:ext cx="8229600" cy="4525963"/>
          </a:xfrm>
        </p:spPr>
        <p:txBody>
          <a:bodyPr>
            <a:normAutofit fontScale="85000" lnSpcReduction="10000"/>
          </a:bodyPr>
          <a:lstStyle/>
          <a:p>
            <a:r>
              <a:rPr lang="en-GB" dirty="0"/>
              <a:t>Participants need to be told why the evaluation is being done, what they will be asked to do and informed about their rights</a:t>
            </a:r>
          </a:p>
          <a:p>
            <a:endParaRPr lang="en-GB" sz="1100" dirty="0"/>
          </a:p>
          <a:p>
            <a:r>
              <a:rPr lang="en-GB" dirty="0"/>
              <a:t>Informed consent forms provide this information and act as a contract between participants and researchers</a:t>
            </a:r>
          </a:p>
          <a:p>
            <a:endParaRPr lang="en-GB" sz="1100" dirty="0"/>
          </a:p>
          <a:p>
            <a:r>
              <a:rPr lang="en-GB" dirty="0"/>
              <a:t>The design of the informed consent form, the evaluation process, data analysis, and data storage methods are typically approved by a high authority, such as the Institutional Review Board</a:t>
            </a:r>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26</a:t>
            </a:fld>
            <a:endParaRPr lang="en-GB" dirty="0">
              <a:solidFill>
                <a:srgbClr val="77A363">
                  <a:lumMod val="75000"/>
                </a:srgbClr>
              </a:solidFill>
            </a:endParaRPr>
          </a:p>
        </p:txBody>
      </p:sp>
    </p:spTree>
    <p:extLst>
      <p:ext uri="{BB962C8B-B14F-4D97-AF65-F5344CB8AC3E}">
        <p14:creationId xmlns:p14="http://schemas.microsoft.com/office/powerpoint/2010/main" val="482755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Things to consider when interpreting data</a:t>
            </a:r>
          </a:p>
        </p:txBody>
      </p:sp>
      <p:sp>
        <p:nvSpPr>
          <p:cNvPr id="3" name="Content Placeholder 2"/>
          <p:cNvSpPr>
            <a:spLocks noGrp="1"/>
          </p:cNvSpPr>
          <p:nvPr>
            <p:ph idx="1"/>
          </p:nvPr>
        </p:nvSpPr>
        <p:spPr>
          <a:xfrm>
            <a:off x="1991544" y="1700809"/>
            <a:ext cx="8229600" cy="4525963"/>
          </a:xfrm>
        </p:spPr>
        <p:txBody>
          <a:bodyPr>
            <a:normAutofit fontScale="92500" lnSpcReduction="10000"/>
          </a:bodyPr>
          <a:lstStyle/>
          <a:p>
            <a:pPr marL="0" indent="0">
              <a:buNone/>
            </a:pPr>
            <a:r>
              <a:rPr lang="en-GB" b="1" dirty="0"/>
              <a:t>Reliability</a:t>
            </a:r>
            <a:r>
              <a:rPr lang="en-GB" dirty="0"/>
              <a:t>: Does the method produce the same results on separate occasions?</a:t>
            </a:r>
            <a:endParaRPr lang="en-GB" sz="900" dirty="0"/>
          </a:p>
          <a:p>
            <a:pPr marL="0" indent="0">
              <a:spcBef>
                <a:spcPts val="1200"/>
              </a:spcBef>
              <a:buNone/>
            </a:pPr>
            <a:r>
              <a:rPr lang="en-GB" b="1" dirty="0"/>
              <a:t>Validity</a:t>
            </a:r>
            <a:r>
              <a:rPr lang="en-GB" dirty="0"/>
              <a:t>: Does the method measure what it is intended to measure?</a:t>
            </a:r>
            <a:endParaRPr lang="en-GB" sz="900" dirty="0"/>
          </a:p>
          <a:p>
            <a:pPr marL="0" indent="0">
              <a:spcBef>
                <a:spcPts val="1200"/>
              </a:spcBef>
              <a:buNone/>
            </a:pPr>
            <a:r>
              <a:rPr lang="en-GB" b="1" dirty="0"/>
              <a:t>Ecological validity</a:t>
            </a:r>
            <a:r>
              <a:rPr lang="en-GB" dirty="0"/>
              <a:t>: Does the environment of the evaluation distort the results?</a:t>
            </a:r>
            <a:endParaRPr lang="en-GB" sz="900" dirty="0"/>
          </a:p>
          <a:p>
            <a:pPr marL="0" indent="0">
              <a:spcBef>
                <a:spcPts val="1200"/>
              </a:spcBef>
              <a:buNone/>
            </a:pPr>
            <a:r>
              <a:rPr lang="en-GB" b="1" dirty="0"/>
              <a:t>Biases</a:t>
            </a:r>
            <a:r>
              <a:rPr lang="en-GB" dirty="0"/>
              <a:t>: Are there biases that distort the results?</a:t>
            </a:r>
            <a:endParaRPr lang="en-GB" sz="900" dirty="0"/>
          </a:p>
          <a:p>
            <a:pPr marL="0" indent="0">
              <a:spcBef>
                <a:spcPts val="1200"/>
              </a:spcBef>
              <a:buNone/>
            </a:pPr>
            <a:r>
              <a:rPr lang="en-GB" b="1" dirty="0"/>
              <a:t>Scope</a:t>
            </a:r>
            <a:r>
              <a:rPr lang="en-GB" dirty="0"/>
              <a:t>: How generalizable are the results?</a:t>
            </a:r>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27</a:t>
            </a:fld>
            <a:endParaRPr lang="en-GB" dirty="0">
              <a:solidFill>
                <a:srgbClr val="77A363">
                  <a:lumMod val="75000"/>
                </a:srgbClr>
              </a:solidFill>
            </a:endParaRPr>
          </a:p>
        </p:txBody>
      </p:sp>
    </p:spTree>
    <p:extLst>
      <p:ext uri="{BB962C8B-B14F-4D97-AF65-F5344CB8AC3E}">
        <p14:creationId xmlns:p14="http://schemas.microsoft.com/office/powerpoint/2010/main" val="2255651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3" name="Content Placeholder 2"/>
          <p:cNvSpPr>
            <a:spLocks noGrp="1"/>
          </p:cNvSpPr>
          <p:nvPr>
            <p:ph idx="1"/>
          </p:nvPr>
        </p:nvSpPr>
        <p:spPr>
          <a:xfrm>
            <a:off x="1981200" y="1628801"/>
            <a:ext cx="8229600" cy="4497363"/>
          </a:xfrm>
        </p:spPr>
        <p:txBody>
          <a:bodyPr>
            <a:normAutofit fontScale="92500" lnSpcReduction="10000"/>
          </a:bodyPr>
          <a:lstStyle/>
          <a:p>
            <a:r>
              <a:rPr lang="en-US" dirty="0"/>
              <a:t>Evaluation and design are very closely integrated</a:t>
            </a:r>
            <a:endParaRPr lang="en-US" sz="1300" dirty="0"/>
          </a:p>
          <a:p>
            <a:pPr>
              <a:spcBef>
                <a:spcPts val="900"/>
              </a:spcBef>
            </a:pPr>
            <a:r>
              <a:rPr lang="en-US" dirty="0"/>
              <a:t>Some of the same data gathering methods are used in evaluation as for establishing requirements and identifying users’ needs, for example, observation, interviews, and questionnaires</a:t>
            </a:r>
            <a:endParaRPr lang="en-US" sz="1300" dirty="0"/>
          </a:p>
          <a:p>
            <a:pPr>
              <a:spcBef>
                <a:spcPts val="900"/>
              </a:spcBef>
            </a:pPr>
            <a:r>
              <a:rPr lang="en-US" dirty="0"/>
              <a:t>Evaluations can be done in controlled settings such as laboratories, less controlled field settings, or where users are not present</a:t>
            </a:r>
          </a:p>
          <a:p>
            <a:endParaRPr lang="en-US" sz="1300" dirty="0"/>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28</a:t>
            </a:fld>
            <a:endParaRPr lang="en-GB" dirty="0">
              <a:solidFill>
                <a:srgbClr val="77A363">
                  <a:lumMod val="75000"/>
                </a:srgbClr>
              </a:solidFill>
            </a:endParaRPr>
          </a:p>
        </p:txBody>
      </p:sp>
    </p:spTree>
    <p:extLst>
      <p:ext uri="{BB962C8B-B14F-4D97-AF65-F5344CB8AC3E}">
        <p14:creationId xmlns:p14="http://schemas.microsoft.com/office/powerpoint/2010/main" val="3812092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 </a:t>
            </a:r>
            <a:r>
              <a:rPr lang="en-GB" sz="2800" i="1" dirty="0"/>
              <a:t>(continued)</a:t>
            </a:r>
          </a:p>
        </p:txBody>
      </p:sp>
      <p:sp>
        <p:nvSpPr>
          <p:cNvPr id="3" name="Content Placeholder 2"/>
          <p:cNvSpPr>
            <a:spLocks noGrp="1"/>
          </p:cNvSpPr>
          <p:nvPr>
            <p:ph idx="1"/>
          </p:nvPr>
        </p:nvSpPr>
        <p:spPr>
          <a:xfrm>
            <a:off x="1981200" y="1628801"/>
            <a:ext cx="8229600" cy="4497363"/>
          </a:xfrm>
        </p:spPr>
        <p:txBody>
          <a:bodyPr>
            <a:noAutofit/>
          </a:bodyPr>
          <a:lstStyle/>
          <a:p>
            <a:r>
              <a:rPr lang="en-US" sz="2700" dirty="0"/>
              <a:t>Usability testing and experiments enable the evaluator to have a high level of control over what gets tested, whereas evaluators typically impose little or no control on participants in field studies</a:t>
            </a:r>
          </a:p>
          <a:p>
            <a:pPr>
              <a:spcBef>
                <a:spcPts val="1800"/>
              </a:spcBef>
            </a:pPr>
            <a:r>
              <a:rPr lang="en-US" sz="2700" dirty="0"/>
              <a:t>Different methods can be combined to get different perspectives</a:t>
            </a:r>
          </a:p>
          <a:p>
            <a:pPr>
              <a:spcBef>
                <a:spcPts val="1800"/>
              </a:spcBef>
            </a:pPr>
            <a:r>
              <a:rPr lang="en-US" sz="2700" dirty="0"/>
              <a:t>Participants need to be made aware of their rights</a:t>
            </a:r>
          </a:p>
          <a:p>
            <a:pPr>
              <a:spcBef>
                <a:spcPts val="1800"/>
              </a:spcBef>
            </a:pPr>
            <a:r>
              <a:rPr lang="en-US" sz="2700" dirty="0"/>
              <a:t>It is important not to over-generalize findings from an evaluation</a:t>
            </a:r>
            <a:endParaRPr lang="en-GB" sz="2700" dirty="0"/>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29</a:t>
            </a:fld>
            <a:endParaRPr lang="en-GB" dirty="0">
              <a:solidFill>
                <a:srgbClr val="77A363">
                  <a:lumMod val="75000"/>
                </a:srgbClr>
              </a:solidFill>
            </a:endParaRPr>
          </a:p>
        </p:txBody>
      </p:sp>
    </p:spTree>
    <p:extLst>
      <p:ext uri="{BB962C8B-B14F-4D97-AF65-F5344CB8AC3E}">
        <p14:creationId xmlns:p14="http://schemas.microsoft.com/office/powerpoint/2010/main" val="3941165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media.wiley.com/product_data/coverImage300/51/11190207/1119020751.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840" y="620688"/>
            <a:ext cx="2857500" cy="37242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724545" y="4581128"/>
            <a:ext cx="6720108" cy="1292662"/>
          </a:xfrm>
          <a:prstGeom prst="rect">
            <a:avLst/>
          </a:prstGeom>
          <a:noFill/>
        </p:spPr>
        <p:txBody>
          <a:bodyPr wrap="none" rtlCol="0">
            <a:spAutoFit/>
          </a:bodyPr>
          <a:lstStyle/>
          <a:p>
            <a:pPr algn="ctr"/>
            <a:r>
              <a:rPr lang="en-GB" sz="3200" dirty="0">
                <a:solidFill>
                  <a:srgbClr val="77A363">
                    <a:lumMod val="75000"/>
                  </a:srgbClr>
                </a:solidFill>
                <a:latin typeface="Liberation Sans" panose="020B0604020202020204" pitchFamily="34" charset="0"/>
                <a:ea typeface="Liberation Sans" panose="020B0604020202020204" pitchFamily="34" charset="0"/>
                <a:cs typeface="Liberation Sans" panose="020B0604020202020204" pitchFamily="34" charset="0"/>
              </a:rPr>
              <a:t>Evaluation Studies:</a:t>
            </a:r>
          </a:p>
          <a:p>
            <a:pPr algn="ctr"/>
            <a:r>
              <a:rPr lang="en-GB" sz="3200" dirty="0">
                <a:solidFill>
                  <a:srgbClr val="77A363">
                    <a:lumMod val="75000"/>
                  </a:srgbClr>
                </a:solidFill>
                <a:latin typeface="Liberation Sans" panose="020B0604020202020204" pitchFamily="34" charset="0"/>
                <a:ea typeface="Liberation Sans" panose="020B0604020202020204" pitchFamily="34" charset="0"/>
                <a:cs typeface="Liberation Sans" panose="020B0604020202020204" pitchFamily="34" charset="0"/>
              </a:rPr>
              <a:t> From Controlled to Natural Settings</a:t>
            </a:r>
            <a:br>
              <a:rPr lang="en-GB" sz="3200" dirty="0">
                <a:solidFill>
                  <a:srgbClr val="77A363">
                    <a:lumMod val="75000"/>
                  </a:srgbClr>
                </a:solidFill>
                <a:latin typeface="Liberation Sans" panose="020B0604020202020204" pitchFamily="34" charset="0"/>
                <a:ea typeface="Liberation Sans" panose="020B0604020202020204" pitchFamily="34" charset="0"/>
                <a:cs typeface="Liberation Sans" panose="020B0604020202020204" pitchFamily="34" charset="0"/>
              </a:rPr>
            </a:br>
            <a:endParaRPr lang="en-GB" sz="1400" dirty="0">
              <a:solidFill>
                <a:srgbClr val="77A363">
                  <a:lumMod val="75000"/>
                </a:srgbClr>
              </a:solidFill>
              <a:latin typeface="Liberation Sans" panose="020B0604020202020204" pitchFamily="34" charset="0"/>
              <a:ea typeface="Liberation Sans" panose="020B0604020202020204" pitchFamily="34" charset="0"/>
              <a:cs typeface="Liberation Sans" panose="020B0604020202020204" pitchFamily="34" charset="0"/>
            </a:endParaRPr>
          </a:p>
        </p:txBody>
      </p:sp>
      <p:pic>
        <p:nvPicPr>
          <p:cNvPr id="5" name="Picture 4" descr="Cover of the book Interaction Design, Fifth Edition">
            <a:extLst>
              <a:ext uri="{FF2B5EF4-FFF2-40B4-BE49-F238E27FC236}">
                <a16:creationId xmlns:a16="http://schemas.microsoft.com/office/drawing/2014/main" id="{F153A273-4C42-454C-8701-A6B732DB276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1575" t="2693" r="1964" b="2693"/>
          <a:stretch/>
        </p:blipFill>
        <p:spPr>
          <a:xfrm>
            <a:off x="4499527" y="547785"/>
            <a:ext cx="3192946" cy="4004712"/>
          </a:xfrm>
          <a:prstGeom prst="rect">
            <a:avLst/>
          </a:prstGeom>
        </p:spPr>
      </p:pic>
    </p:spTree>
    <p:extLst>
      <p:ext uri="{BB962C8B-B14F-4D97-AF65-F5344CB8AC3E}">
        <p14:creationId xmlns:p14="http://schemas.microsoft.com/office/powerpoint/2010/main" val="1471185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p:txBody>
          <a:bodyPr/>
          <a:lstStyle/>
          <a:p>
            <a:pPr eaLnBrk="1" hangingPunct="1"/>
            <a:r>
              <a:rPr lang="en-GB" dirty="0">
                <a:latin typeface="Liberation Sans"/>
              </a:rPr>
              <a:t>Goals</a:t>
            </a:r>
          </a:p>
        </p:txBody>
      </p:sp>
      <p:sp>
        <p:nvSpPr>
          <p:cNvPr id="15365" name="Rectangle 3"/>
          <p:cNvSpPr>
            <a:spLocks noGrp="1" noChangeArrowheads="1"/>
          </p:cNvSpPr>
          <p:nvPr>
            <p:ph type="body" idx="4294967295"/>
          </p:nvPr>
        </p:nvSpPr>
        <p:spPr>
          <a:xfrm>
            <a:off x="1981200" y="1676400"/>
            <a:ext cx="7772400" cy="4114800"/>
          </a:xfrm>
        </p:spPr>
        <p:txBody>
          <a:bodyPr/>
          <a:lstStyle/>
          <a:p>
            <a:pPr eaLnBrk="1" hangingPunct="1">
              <a:buFontTx/>
              <a:buNone/>
            </a:pPr>
            <a:r>
              <a:rPr lang="en-US" dirty="0">
                <a:latin typeface="Liberation Sans"/>
              </a:rPr>
              <a:t>• Explain how to do usability testing</a:t>
            </a:r>
          </a:p>
          <a:p>
            <a:pPr>
              <a:spcBef>
                <a:spcPts val="2400"/>
              </a:spcBef>
              <a:buNone/>
            </a:pPr>
            <a:r>
              <a:rPr lang="en-US" dirty="0">
                <a:latin typeface="Liberation Sans"/>
              </a:rPr>
              <a:t>• Outline the basics of experimental design </a:t>
            </a:r>
          </a:p>
          <a:p>
            <a:pPr>
              <a:spcBef>
                <a:spcPts val="2400"/>
              </a:spcBef>
              <a:buNone/>
            </a:pPr>
            <a:r>
              <a:rPr lang="en-US" dirty="0">
                <a:latin typeface="Liberation Sans"/>
              </a:rPr>
              <a:t>• Describe how to do field studies</a:t>
            </a:r>
            <a:endParaRPr lang="en-GB" dirty="0">
              <a:latin typeface="Liberation Sans"/>
            </a:endParaRPr>
          </a:p>
        </p:txBody>
      </p:sp>
      <p:sp>
        <p:nvSpPr>
          <p:cNvPr id="15366" name="Rectangle 4"/>
          <p:cNvSpPr>
            <a:spLocks noChangeArrowheads="1"/>
          </p:cNvSpPr>
          <p:nvPr/>
        </p:nvSpPr>
        <p:spPr bwMode="auto">
          <a:xfrm>
            <a:off x="1558925" y="-219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en-US" sz="2400" dirty="0">
              <a:solidFill>
                <a:srgbClr val="000000"/>
              </a:solidFill>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31</a:t>
            </a:fld>
            <a:endParaRPr lang="en-GB" dirty="0">
              <a:solidFill>
                <a:srgbClr val="77A363">
                  <a:lumMod val="75000"/>
                </a:srgbClr>
              </a:solidFill>
            </a:endParaRPr>
          </a:p>
        </p:txBody>
      </p:sp>
    </p:spTree>
    <p:extLst>
      <p:ext uri="{BB962C8B-B14F-4D97-AF65-F5344CB8AC3E}">
        <p14:creationId xmlns:p14="http://schemas.microsoft.com/office/powerpoint/2010/main" val="30244816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2279576" y="116632"/>
            <a:ext cx="7772400" cy="838200"/>
          </a:xfrm>
        </p:spPr>
        <p:txBody>
          <a:bodyPr/>
          <a:lstStyle/>
          <a:p>
            <a:pPr eaLnBrk="1" hangingPunct="1"/>
            <a:r>
              <a:rPr lang="en-US" dirty="0">
                <a:latin typeface="Liberation Sans"/>
              </a:rPr>
              <a:t>Usability testing</a:t>
            </a:r>
          </a:p>
        </p:txBody>
      </p:sp>
      <p:sp>
        <p:nvSpPr>
          <p:cNvPr id="17413" name="Rectangle 3"/>
          <p:cNvSpPr>
            <a:spLocks noGrp="1" noChangeArrowheads="1"/>
          </p:cNvSpPr>
          <p:nvPr>
            <p:ph type="body" idx="4294967295"/>
          </p:nvPr>
        </p:nvSpPr>
        <p:spPr>
          <a:xfrm>
            <a:off x="1775520" y="980728"/>
            <a:ext cx="8458200" cy="5328592"/>
          </a:xfrm>
        </p:spPr>
        <p:txBody>
          <a:bodyPr>
            <a:normAutofit/>
          </a:bodyPr>
          <a:lstStyle/>
          <a:p>
            <a:pPr eaLnBrk="1" hangingPunct="1">
              <a:lnSpc>
                <a:spcPct val="90000"/>
              </a:lnSpc>
            </a:pPr>
            <a:r>
              <a:rPr lang="en-US" sz="2800" dirty="0">
                <a:latin typeface="Liberation Sans"/>
              </a:rPr>
              <a:t>Involves recording performance of typical users doing typical tasks</a:t>
            </a:r>
            <a:endParaRPr lang="en-US" sz="900" dirty="0">
              <a:latin typeface="Liberation Sans"/>
            </a:endParaRPr>
          </a:p>
          <a:p>
            <a:pPr>
              <a:lnSpc>
                <a:spcPct val="90000"/>
              </a:lnSpc>
              <a:spcBef>
                <a:spcPts val="800"/>
              </a:spcBef>
            </a:pPr>
            <a:r>
              <a:rPr lang="en-US" sz="2800" dirty="0">
                <a:latin typeface="Liberation Sans"/>
              </a:rPr>
              <a:t>Controlled settings </a:t>
            </a:r>
            <a:endParaRPr lang="en-US" sz="900" dirty="0">
              <a:latin typeface="Liberation Sans"/>
            </a:endParaRPr>
          </a:p>
          <a:p>
            <a:pPr>
              <a:lnSpc>
                <a:spcPct val="90000"/>
              </a:lnSpc>
              <a:spcBef>
                <a:spcPts val="800"/>
              </a:spcBef>
            </a:pPr>
            <a:r>
              <a:rPr lang="en-US" sz="2800" dirty="0">
                <a:latin typeface="Liberation Sans"/>
              </a:rPr>
              <a:t>Users are observed and timed</a:t>
            </a:r>
            <a:endParaRPr lang="en-US" sz="800" dirty="0">
              <a:latin typeface="Liberation Sans"/>
            </a:endParaRPr>
          </a:p>
          <a:p>
            <a:pPr>
              <a:lnSpc>
                <a:spcPct val="90000"/>
              </a:lnSpc>
              <a:spcBef>
                <a:spcPts val="800"/>
              </a:spcBef>
            </a:pPr>
            <a:r>
              <a:rPr lang="en-US" sz="2800" dirty="0">
                <a:latin typeface="Liberation Sans"/>
              </a:rPr>
              <a:t>Data is recorded on video, and key presses are logged</a:t>
            </a:r>
            <a:endParaRPr lang="en-US" sz="800" dirty="0">
              <a:latin typeface="Liberation Sans"/>
            </a:endParaRPr>
          </a:p>
          <a:p>
            <a:pPr>
              <a:lnSpc>
                <a:spcPct val="90000"/>
              </a:lnSpc>
              <a:spcBef>
                <a:spcPts val="800"/>
              </a:spcBef>
            </a:pPr>
            <a:r>
              <a:rPr lang="en-US" sz="2800" dirty="0">
                <a:latin typeface="Liberation Sans"/>
              </a:rPr>
              <a:t>The data is used to calculate performance times and to identify and explain errors</a:t>
            </a:r>
            <a:endParaRPr lang="en-US" sz="900" dirty="0">
              <a:latin typeface="Liberation Sans"/>
            </a:endParaRPr>
          </a:p>
          <a:p>
            <a:pPr>
              <a:lnSpc>
                <a:spcPct val="90000"/>
              </a:lnSpc>
              <a:spcBef>
                <a:spcPts val="800"/>
              </a:spcBef>
            </a:pPr>
            <a:r>
              <a:rPr lang="en-US" sz="2800" dirty="0">
                <a:latin typeface="Liberation Sans"/>
              </a:rPr>
              <a:t>User satisfaction is evaluated using questionnaires and interviews</a:t>
            </a:r>
            <a:endParaRPr lang="en-US" sz="900" dirty="0">
              <a:latin typeface="Liberation Sans"/>
            </a:endParaRPr>
          </a:p>
          <a:p>
            <a:pPr>
              <a:lnSpc>
                <a:spcPct val="90000"/>
              </a:lnSpc>
              <a:spcBef>
                <a:spcPts val="800"/>
              </a:spcBef>
            </a:pPr>
            <a:r>
              <a:rPr lang="en-US" sz="2800" dirty="0">
                <a:latin typeface="Liberation Sans"/>
              </a:rPr>
              <a:t>Field observations may be used to provide contextual understanding</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32</a:t>
            </a:fld>
            <a:endParaRPr lang="en-GB" dirty="0">
              <a:solidFill>
                <a:srgbClr val="77A363">
                  <a:lumMod val="75000"/>
                </a:srgbClr>
              </a:solidFill>
            </a:endParaRPr>
          </a:p>
        </p:txBody>
      </p:sp>
    </p:spTree>
    <p:extLst>
      <p:ext uri="{BB962C8B-B14F-4D97-AF65-F5344CB8AC3E}">
        <p14:creationId xmlns:p14="http://schemas.microsoft.com/office/powerpoint/2010/main" val="8246763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1991544" y="116632"/>
            <a:ext cx="8458200" cy="838200"/>
          </a:xfrm>
        </p:spPr>
        <p:txBody>
          <a:bodyPr>
            <a:normAutofit fontScale="90000"/>
          </a:bodyPr>
          <a:lstStyle/>
          <a:p>
            <a:pPr eaLnBrk="1" hangingPunct="1"/>
            <a:r>
              <a:rPr lang="en-US" dirty="0">
                <a:latin typeface="Liberation Sans"/>
              </a:rPr>
              <a:t>Quantitative performance measures</a:t>
            </a:r>
          </a:p>
        </p:txBody>
      </p:sp>
      <p:sp>
        <p:nvSpPr>
          <p:cNvPr id="17413" name="Rectangle 3"/>
          <p:cNvSpPr>
            <a:spLocks noGrp="1" noChangeArrowheads="1"/>
          </p:cNvSpPr>
          <p:nvPr>
            <p:ph type="body" idx="4294967295"/>
          </p:nvPr>
        </p:nvSpPr>
        <p:spPr>
          <a:xfrm>
            <a:off x="1775520" y="980728"/>
            <a:ext cx="8458200" cy="3960441"/>
          </a:xfrm>
        </p:spPr>
        <p:txBody>
          <a:bodyPr>
            <a:normAutofit/>
          </a:bodyPr>
          <a:lstStyle/>
          <a:p>
            <a:pPr eaLnBrk="1" hangingPunct="1">
              <a:lnSpc>
                <a:spcPct val="90000"/>
              </a:lnSpc>
            </a:pPr>
            <a:r>
              <a:rPr lang="en-US" sz="2800" dirty="0">
                <a:latin typeface="Liberation Sans"/>
              </a:rPr>
              <a:t>Number of users successfully completing the task</a:t>
            </a:r>
          </a:p>
          <a:p>
            <a:pPr>
              <a:lnSpc>
                <a:spcPct val="90000"/>
              </a:lnSpc>
              <a:spcBef>
                <a:spcPts val="1500"/>
              </a:spcBef>
            </a:pPr>
            <a:r>
              <a:rPr lang="en-US" sz="2800" dirty="0">
                <a:latin typeface="Liberation Sans"/>
              </a:rPr>
              <a:t>Time to complete task</a:t>
            </a:r>
            <a:endParaRPr lang="en-US" sz="900" dirty="0">
              <a:latin typeface="Liberation Sans"/>
            </a:endParaRPr>
          </a:p>
          <a:p>
            <a:pPr>
              <a:lnSpc>
                <a:spcPct val="90000"/>
              </a:lnSpc>
              <a:spcBef>
                <a:spcPts val="1500"/>
              </a:spcBef>
            </a:pPr>
            <a:r>
              <a:rPr lang="en-US" sz="2800" dirty="0">
                <a:latin typeface="Liberation Sans"/>
              </a:rPr>
              <a:t>Time to complete task after time away from task</a:t>
            </a:r>
            <a:endParaRPr lang="en-US" sz="900" dirty="0">
              <a:latin typeface="Liberation Sans"/>
            </a:endParaRPr>
          </a:p>
          <a:p>
            <a:pPr>
              <a:lnSpc>
                <a:spcPct val="90000"/>
              </a:lnSpc>
              <a:spcBef>
                <a:spcPts val="1500"/>
              </a:spcBef>
            </a:pPr>
            <a:r>
              <a:rPr lang="en-US" sz="2800" dirty="0">
                <a:latin typeface="Liberation Sans"/>
              </a:rPr>
              <a:t>Number and type of errors per task</a:t>
            </a:r>
            <a:endParaRPr lang="en-US" sz="800" dirty="0">
              <a:latin typeface="Liberation Sans"/>
            </a:endParaRPr>
          </a:p>
          <a:p>
            <a:pPr>
              <a:lnSpc>
                <a:spcPct val="90000"/>
              </a:lnSpc>
              <a:spcBef>
                <a:spcPts val="1500"/>
              </a:spcBef>
            </a:pPr>
            <a:r>
              <a:rPr lang="en-US" sz="2800" dirty="0">
                <a:latin typeface="Liberation Sans"/>
              </a:rPr>
              <a:t>Number of errors per unit of time</a:t>
            </a:r>
            <a:endParaRPr lang="en-US" sz="800" dirty="0">
              <a:latin typeface="Liberation Sans"/>
            </a:endParaRPr>
          </a:p>
          <a:p>
            <a:pPr>
              <a:lnSpc>
                <a:spcPct val="90000"/>
              </a:lnSpc>
              <a:spcBef>
                <a:spcPts val="1500"/>
              </a:spcBef>
            </a:pPr>
            <a:r>
              <a:rPr lang="en-US" sz="2800" dirty="0">
                <a:latin typeface="Liberation Sans"/>
              </a:rPr>
              <a:t>Number of navigations to online help or manuals</a:t>
            </a:r>
          </a:p>
          <a:p>
            <a:pPr>
              <a:lnSpc>
                <a:spcPct val="90000"/>
              </a:lnSpc>
              <a:spcBef>
                <a:spcPts val="1500"/>
              </a:spcBef>
            </a:pPr>
            <a:r>
              <a:rPr lang="en-US" sz="2800" dirty="0">
                <a:latin typeface="Liberation Sans"/>
              </a:rPr>
              <a:t>Number of users making a particular type of error</a:t>
            </a:r>
          </a:p>
          <a:p>
            <a:pPr eaLnBrk="1" hangingPunct="1">
              <a:lnSpc>
                <a:spcPct val="90000"/>
              </a:lnSpc>
            </a:pPr>
            <a:endParaRPr lang="en-US" sz="2800" dirty="0">
              <a:latin typeface="Liberation Sans"/>
            </a:endParaRPr>
          </a:p>
          <a:p>
            <a:pPr marL="0" indent="0">
              <a:lnSpc>
                <a:spcPct val="90000"/>
              </a:lnSpc>
              <a:buNone/>
            </a:pPr>
            <a:endParaRPr lang="en-US" sz="2800" dirty="0">
              <a:latin typeface="Liberation Sans"/>
            </a:endParaRPr>
          </a:p>
          <a:p>
            <a:pPr marL="0" indent="0">
              <a:lnSpc>
                <a:spcPct val="90000"/>
              </a:lnSpc>
              <a:buNone/>
            </a:pPr>
            <a:endParaRPr lang="en-US" sz="28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33</a:t>
            </a:fld>
            <a:endParaRPr lang="en-GB" dirty="0">
              <a:solidFill>
                <a:srgbClr val="77A363">
                  <a:lumMod val="75000"/>
                </a:srgbClr>
              </a:solidFill>
            </a:endParaRPr>
          </a:p>
        </p:txBody>
      </p:sp>
      <p:sp>
        <p:nvSpPr>
          <p:cNvPr id="2" name="TextBox 1">
            <a:extLst>
              <a:ext uri="{FF2B5EF4-FFF2-40B4-BE49-F238E27FC236}">
                <a16:creationId xmlns:a16="http://schemas.microsoft.com/office/drawing/2014/main" id="{B01C10DE-1F4C-7B4D-B78E-162B981537CF}"/>
              </a:ext>
            </a:extLst>
          </p:cNvPr>
          <p:cNvSpPr txBox="1"/>
          <p:nvPr/>
        </p:nvSpPr>
        <p:spPr>
          <a:xfrm>
            <a:off x="1775520" y="5085184"/>
            <a:ext cx="3744416" cy="369332"/>
          </a:xfrm>
          <a:prstGeom prst="rect">
            <a:avLst/>
          </a:prstGeom>
          <a:noFill/>
        </p:spPr>
        <p:txBody>
          <a:bodyPr wrap="square" rtlCol="0">
            <a:spAutoFit/>
          </a:bodyPr>
          <a:lstStyle/>
          <a:p>
            <a:r>
              <a:rPr lang="en-US" i="1" dirty="0">
                <a:solidFill>
                  <a:srgbClr val="000000"/>
                </a:solidFill>
                <a:latin typeface="Liberation Sans"/>
              </a:rPr>
              <a:t>Source</a:t>
            </a:r>
            <a:r>
              <a:rPr lang="en-US" dirty="0">
                <a:solidFill>
                  <a:srgbClr val="000000"/>
                </a:solidFill>
                <a:latin typeface="Liberation Sans"/>
              </a:rPr>
              <a:t>: Wixon and Wilson, 1997</a:t>
            </a:r>
          </a:p>
        </p:txBody>
      </p:sp>
    </p:spTree>
    <p:extLst>
      <p:ext uri="{BB962C8B-B14F-4D97-AF65-F5344CB8AC3E}">
        <p14:creationId xmlns:p14="http://schemas.microsoft.com/office/powerpoint/2010/main" val="1271699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2"/>
          <p:cNvSpPr>
            <a:spLocks noGrp="1" noChangeArrowheads="1"/>
          </p:cNvSpPr>
          <p:nvPr>
            <p:ph type="title" idx="4294967295"/>
          </p:nvPr>
        </p:nvSpPr>
        <p:spPr/>
        <p:txBody>
          <a:bodyPr>
            <a:normAutofit fontScale="90000"/>
          </a:bodyPr>
          <a:lstStyle/>
          <a:p>
            <a:pPr eaLnBrk="1" hangingPunct="1"/>
            <a:r>
              <a:rPr lang="en-US" dirty="0">
                <a:latin typeface="Liberation Sans"/>
              </a:rPr>
              <a:t>Usability lab with observers watching a user and assistant</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34</a:t>
            </a:fld>
            <a:endParaRPr lang="en-GB" dirty="0">
              <a:solidFill>
                <a:srgbClr val="77A363">
                  <a:lumMod val="75000"/>
                </a:srgbClr>
              </a:solidFill>
            </a:endParaRPr>
          </a:p>
        </p:txBody>
      </p:sp>
      <p:pic>
        <p:nvPicPr>
          <p:cNvPr id="7" name="Picture 6" descr="Photo depicts a usability laboratory in which designers watch participants on a monitor and through a one-way mirror.">
            <a:extLst>
              <a:ext uri="{FF2B5EF4-FFF2-40B4-BE49-F238E27FC236}">
                <a16:creationId xmlns:a16="http://schemas.microsoft.com/office/drawing/2014/main" id="{18AE3DCB-4957-BE43-8442-CC9005A3E5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9737" y="1916832"/>
            <a:ext cx="5089287" cy="3384376"/>
          </a:xfrm>
          <a:prstGeom prst="rect">
            <a:avLst/>
          </a:prstGeom>
        </p:spPr>
      </p:pic>
    </p:spTree>
    <p:extLst>
      <p:ext uri="{BB962C8B-B14F-4D97-AF65-F5344CB8AC3E}">
        <p14:creationId xmlns:p14="http://schemas.microsoft.com/office/powerpoint/2010/main" val="1076420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p:cNvSpPr>
            <a:spLocks noGrp="1" noChangeArrowheads="1"/>
          </p:cNvSpPr>
          <p:nvPr>
            <p:ph type="title" idx="4294967295"/>
          </p:nvPr>
        </p:nvSpPr>
        <p:spPr>
          <a:xfrm>
            <a:off x="3210508" y="270075"/>
            <a:ext cx="5770984" cy="1143000"/>
          </a:xfrm>
        </p:spPr>
        <p:txBody>
          <a:bodyPr>
            <a:normAutofit fontScale="90000"/>
          </a:bodyPr>
          <a:lstStyle/>
          <a:p>
            <a:pPr eaLnBrk="1" hangingPunct="1"/>
            <a:r>
              <a:rPr lang="en-US" dirty="0">
                <a:latin typeface="Liberation Sans"/>
              </a:rPr>
              <a:t>Tobii Glasses Mobile Eye-Tracking System</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35</a:t>
            </a:fld>
            <a:endParaRPr lang="en-GB" dirty="0">
              <a:solidFill>
                <a:srgbClr val="77A363">
                  <a:lumMod val="75000"/>
                </a:srgbClr>
              </a:solidFill>
            </a:endParaRPr>
          </a:p>
        </p:txBody>
      </p:sp>
      <p:sp>
        <p:nvSpPr>
          <p:cNvPr id="5" name="TextBox 4">
            <a:extLst>
              <a:ext uri="{FF2B5EF4-FFF2-40B4-BE49-F238E27FC236}">
                <a16:creationId xmlns:a16="http://schemas.microsoft.com/office/drawing/2014/main" id="{AAD47C2D-34E6-6943-877C-B601F6D4EE8B}"/>
              </a:ext>
            </a:extLst>
          </p:cNvPr>
          <p:cNvSpPr txBox="1"/>
          <p:nvPr/>
        </p:nvSpPr>
        <p:spPr>
          <a:xfrm>
            <a:off x="2017544" y="5667949"/>
            <a:ext cx="8156913" cy="369332"/>
          </a:xfrm>
          <a:prstGeom prst="rect">
            <a:avLst/>
          </a:prstGeom>
          <a:noFill/>
        </p:spPr>
        <p:txBody>
          <a:bodyPr wrap="none" rtlCol="0">
            <a:spAutoFit/>
          </a:bodyPr>
          <a:lstStyle/>
          <a:p>
            <a:r>
              <a:rPr lang="en-US" i="1" dirty="0">
                <a:solidFill>
                  <a:srgbClr val="000000"/>
                </a:solidFill>
                <a:latin typeface="Calibri"/>
              </a:rPr>
              <a:t>Source</a:t>
            </a:r>
            <a:r>
              <a:rPr lang="en-US" dirty="0">
                <a:solidFill>
                  <a:srgbClr val="000000"/>
                </a:solidFill>
                <a:latin typeface="Calibri"/>
              </a:rPr>
              <a:t>: Dalton et al., 2015, p.3891. Reproduced with permission of </a:t>
            </a:r>
            <a:r>
              <a:rPr lang="en-US" dirty="0">
                <a:solidFill>
                  <a:srgbClr val="000000"/>
                </a:solidFill>
                <a:latin typeface="Calibri"/>
                <a:hlinkClick r:id="rId3"/>
              </a:rPr>
              <a:t>ACM Publications</a:t>
            </a:r>
            <a:r>
              <a:rPr lang="en-US" dirty="0">
                <a:solidFill>
                  <a:srgbClr val="000000"/>
                </a:solidFill>
                <a:latin typeface="Calibri"/>
              </a:rPr>
              <a:t>.</a:t>
            </a:r>
          </a:p>
        </p:txBody>
      </p:sp>
      <p:pic>
        <p:nvPicPr>
          <p:cNvPr id="11" name="Picture 10" descr="Photo depicts the Tobii Glasses Mobile Eye-Tracking System.">
            <a:extLst>
              <a:ext uri="{FF2B5EF4-FFF2-40B4-BE49-F238E27FC236}">
                <a16:creationId xmlns:a16="http://schemas.microsoft.com/office/drawing/2014/main" id="{2821F1E1-0681-4346-88C2-EA4B68E4FF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1745" y="1700809"/>
            <a:ext cx="4882283" cy="3677033"/>
          </a:xfrm>
          <a:prstGeom prst="rect">
            <a:avLst/>
          </a:prstGeom>
        </p:spPr>
      </p:pic>
    </p:spTree>
    <p:extLst>
      <p:ext uri="{BB962C8B-B14F-4D97-AF65-F5344CB8AC3E}">
        <p14:creationId xmlns:p14="http://schemas.microsoft.com/office/powerpoint/2010/main" val="1819635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0" name="Rectangle 2"/>
          <p:cNvSpPr>
            <a:spLocks noGrp="1" noChangeArrowheads="1"/>
          </p:cNvSpPr>
          <p:nvPr>
            <p:ph type="title" idx="4294967295"/>
          </p:nvPr>
        </p:nvSpPr>
        <p:spPr>
          <a:xfrm>
            <a:off x="3174504" y="277943"/>
            <a:ext cx="5842992" cy="1143000"/>
          </a:xfrm>
        </p:spPr>
        <p:txBody>
          <a:bodyPr>
            <a:normAutofit fontScale="90000"/>
          </a:bodyPr>
          <a:lstStyle/>
          <a:p>
            <a:pPr eaLnBrk="1" hangingPunct="1"/>
            <a:r>
              <a:rPr lang="en-US" dirty="0">
                <a:latin typeface="Liberation Sans"/>
              </a:rPr>
              <a:t>Portable equipment for use in the field</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36</a:t>
            </a:fld>
            <a:endParaRPr lang="en-GB" dirty="0">
              <a:solidFill>
                <a:srgbClr val="77A363">
                  <a:lumMod val="75000"/>
                </a:srgbClr>
              </a:solidFill>
            </a:endParaRPr>
          </a:p>
        </p:txBody>
      </p:sp>
      <p:sp>
        <p:nvSpPr>
          <p:cNvPr id="6" name="TextBox 5">
            <a:extLst>
              <a:ext uri="{FF2B5EF4-FFF2-40B4-BE49-F238E27FC236}">
                <a16:creationId xmlns:a16="http://schemas.microsoft.com/office/drawing/2014/main" id="{48EDE2FB-E673-4F46-9372-C32D6F9175A0}"/>
              </a:ext>
            </a:extLst>
          </p:cNvPr>
          <p:cNvSpPr txBox="1"/>
          <p:nvPr/>
        </p:nvSpPr>
        <p:spPr>
          <a:xfrm>
            <a:off x="2747628" y="5592431"/>
            <a:ext cx="6696744" cy="646331"/>
          </a:xfrm>
          <a:prstGeom prst="rect">
            <a:avLst/>
          </a:prstGeom>
          <a:noFill/>
        </p:spPr>
        <p:txBody>
          <a:bodyPr wrap="square" rtlCol="0">
            <a:spAutoFit/>
          </a:bodyPr>
          <a:lstStyle/>
          <a:p>
            <a:r>
              <a:rPr lang="en-US" i="1" dirty="0">
                <a:solidFill>
                  <a:srgbClr val="000000"/>
                </a:solidFill>
                <a:latin typeface="Calibri"/>
              </a:rPr>
              <a:t>Source</a:t>
            </a:r>
            <a:r>
              <a:rPr lang="en-US" dirty="0">
                <a:solidFill>
                  <a:srgbClr val="000000"/>
                </a:solidFill>
                <a:latin typeface="Calibri"/>
              </a:rPr>
              <a:t>:  iPad App and Website Usability Study. Used courtesy of the </a:t>
            </a:r>
            <a:r>
              <a:rPr lang="en-US" dirty="0">
                <a:solidFill>
                  <a:srgbClr val="000000"/>
                </a:solidFill>
                <a:latin typeface="Calibri"/>
                <a:hlinkClick r:id="rId3"/>
              </a:rPr>
              <a:t>Neilsen Norman Group</a:t>
            </a:r>
            <a:r>
              <a:rPr lang="en-US" dirty="0">
                <a:solidFill>
                  <a:srgbClr val="000000"/>
                </a:solidFill>
                <a:latin typeface="Calibri"/>
              </a:rPr>
              <a:t>. </a:t>
            </a:r>
          </a:p>
        </p:txBody>
      </p:sp>
      <p:pic>
        <p:nvPicPr>
          <p:cNvPr id="9" name="Picture 8" descr="Photo depicts an iPad positioned under an Elmo document camera which records the iPad screen. The capture is projected live on a testing laptop.">
            <a:extLst>
              <a:ext uri="{FF2B5EF4-FFF2-40B4-BE49-F238E27FC236}">
                <a16:creationId xmlns:a16="http://schemas.microsoft.com/office/drawing/2014/main" id="{DDF17A1F-9414-224E-9CCA-E33B3C6893F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07769" y="1690711"/>
            <a:ext cx="4302077" cy="3215694"/>
          </a:xfrm>
          <a:prstGeom prst="rect">
            <a:avLst/>
          </a:prstGeom>
        </p:spPr>
      </p:pic>
      <p:sp>
        <p:nvSpPr>
          <p:cNvPr id="7" name="TextBox 6">
            <a:extLst>
              <a:ext uri="{FF2B5EF4-FFF2-40B4-BE49-F238E27FC236}">
                <a16:creationId xmlns:a16="http://schemas.microsoft.com/office/drawing/2014/main" id="{05B9AA74-64BA-464A-90E2-EBBDFD3C81D9}"/>
              </a:ext>
            </a:extLst>
          </p:cNvPr>
          <p:cNvSpPr txBox="1"/>
          <p:nvPr/>
        </p:nvSpPr>
        <p:spPr>
          <a:xfrm>
            <a:off x="2810434" y="5013177"/>
            <a:ext cx="6696744" cy="461665"/>
          </a:xfrm>
          <a:prstGeom prst="rect">
            <a:avLst/>
          </a:prstGeom>
          <a:noFill/>
        </p:spPr>
        <p:txBody>
          <a:bodyPr wrap="square" rtlCol="0">
            <a:spAutoFit/>
          </a:bodyPr>
          <a:lstStyle/>
          <a:p>
            <a:r>
              <a:rPr lang="en-US" sz="2400" dirty="0">
                <a:solidFill>
                  <a:srgbClr val="000000"/>
                </a:solidFill>
                <a:latin typeface="Calibri"/>
              </a:rPr>
              <a:t>Setup used in the Chicago usability testing sessions</a:t>
            </a:r>
          </a:p>
        </p:txBody>
      </p:sp>
    </p:spTree>
    <p:extLst>
      <p:ext uri="{BB962C8B-B14F-4D97-AF65-F5344CB8AC3E}">
        <p14:creationId xmlns:p14="http://schemas.microsoft.com/office/powerpoint/2010/main" val="1357132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Testing the iPad usability</a:t>
            </a:r>
          </a:p>
        </p:txBody>
      </p:sp>
      <p:sp>
        <p:nvSpPr>
          <p:cNvPr id="3" name="Content Placeholder 2"/>
          <p:cNvSpPr>
            <a:spLocks noGrp="1"/>
          </p:cNvSpPr>
          <p:nvPr>
            <p:ph idx="1"/>
          </p:nvPr>
        </p:nvSpPr>
        <p:spPr>
          <a:xfrm>
            <a:off x="1981200" y="1600200"/>
            <a:ext cx="8229600" cy="4565104"/>
          </a:xfrm>
        </p:spPr>
        <p:txBody>
          <a:bodyPr>
            <a:normAutofit fontScale="92500"/>
          </a:bodyPr>
          <a:lstStyle/>
          <a:p>
            <a:r>
              <a:rPr lang="en-GB" dirty="0"/>
              <a:t>First study was conducted quickly in two cities: Fremont, CA and Chicago, IL</a:t>
            </a:r>
          </a:p>
          <a:p>
            <a:r>
              <a:rPr lang="en-GB" dirty="0"/>
              <a:t>Tests had to be done quickly, as information was needed by third-party app developers</a:t>
            </a:r>
          </a:p>
          <a:p>
            <a:r>
              <a:rPr lang="en-GB" dirty="0"/>
              <a:t>Also needed to be done secretly so that the competition was not aware of the study before the iPad was launched</a:t>
            </a:r>
          </a:p>
          <a:p>
            <a:r>
              <a:rPr lang="en-GB" dirty="0"/>
              <a:t>Seven participants with over three months experience with iPhones</a:t>
            </a:r>
            <a:endParaRPr lang="en-US" dirty="0">
              <a:solidFill>
                <a:schemeClr val="tx1"/>
              </a:solidFill>
            </a:endParaRPr>
          </a:p>
          <a:p>
            <a:pPr lvl="1"/>
            <a:endParaRPr lang="en-US" dirty="0">
              <a:solidFill>
                <a:schemeClr val="tx1"/>
              </a:solidFill>
            </a:endParaRPr>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7" name="Slide Number Placeholder 6"/>
          <p:cNvSpPr>
            <a:spLocks noGrp="1"/>
          </p:cNvSpPr>
          <p:nvPr>
            <p:ph type="sldNum" sz="quarter" idx="12"/>
          </p:nvPr>
        </p:nvSpPr>
        <p:spPr/>
        <p:txBody>
          <a:bodyPr/>
          <a:lstStyle/>
          <a:p>
            <a:fld id="{A7EA2D8D-44E5-43C4-BBA1-AE3E32EF0894}" type="slidenum">
              <a:rPr lang="en-GB">
                <a:solidFill>
                  <a:srgbClr val="77A363">
                    <a:lumMod val="75000"/>
                  </a:srgbClr>
                </a:solidFill>
              </a:rPr>
              <a:pPr/>
              <a:t>37</a:t>
            </a:fld>
            <a:endParaRPr lang="en-GB" dirty="0">
              <a:solidFill>
                <a:srgbClr val="77A363">
                  <a:lumMod val="75000"/>
                </a:srgbClr>
              </a:solidFill>
            </a:endParaRPr>
          </a:p>
        </p:txBody>
      </p:sp>
    </p:spTree>
    <p:extLst>
      <p:ext uri="{BB962C8B-B14F-4D97-AF65-F5344CB8AC3E}">
        <p14:creationId xmlns:p14="http://schemas.microsoft.com/office/powerpoint/2010/main" val="3867492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Testing the iPad usability </a:t>
            </a:r>
            <a:r>
              <a:rPr lang="en-GB" sz="3100" i="1" dirty="0"/>
              <a:t>(continued)</a:t>
            </a:r>
          </a:p>
        </p:txBody>
      </p:sp>
      <p:sp>
        <p:nvSpPr>
          <p:cNvPr id="3" name="Content Placeholder 2"/>
          <p:cNvSpPr>
            <a:spLocks noGrp="1"/>
          </p:cNvSpPr>
          <p:nvPr>
            <p:ph idx="1"/>
          </p:nvPr>
        </p:nvSpPr>
        <p:spPr>
          <a:xfrm>
            <a:off x="1981200" y="1600200"/>
            <a:ext cx="8229600" cy="4565104"/>
          </a:xfrm>
        </p:spPr>
        <p:txBody>
          <a:bodyPr>
            <a:normAutofit fontScale="77500" lnSpcReduction="20000"/>
          </a:bodyPr>
          <a:lstStyle/>
          <a:p>
            <a:r>
              <a:rPr lang="en-GB" dirty="0"/>
              <a:t>Signed an informed consent form explaining:</a:t>
            </a:r>
            <a:endParaRPr lang="en-GB" sz="1300" dirty="0"/>
          </a:p>
          <a:p>
            <a:pPr lvl="1">
              <a:spcBef>
                <a:spcPts val="1200"/>
              </a:spcBef>
              <a:buFont typeface="Wingdings" pitchFamily="2" charset="2"/>
              <a:buChar char="§"/>
            </a:pPr>
            <a:r>
              <a:rPr lang="en-US" dirty="0">
                <a:solidFill>
                  <a:schemeClr val="tx1"/>
                </a:solidFill>
              </a:rPr>
              <a:t>What the participant would be asked to do</a:t>
            </a:r>
          </a:p>
          <a:p>
            <a:pPr lvl="1">
              <a:spcBef>
                <a:spcPts val="1200"/>
              </a:spcBef>
              <a:buFont typeface="Wingdings" pitchFamily="2" charset="2"/>
              <a:buChar char="§"/>
            </a:pPr>
            <a:r>
              <a:rPr lang="en-US" dirty="0">
                <a:solidFill>
                  <a:schemeClr val="tx1"/>
                </a:solidFill>
              </a:rPr>
              <a:t>The length of time needed for the study</a:t>
            </a:r>
          </a:p>
          <a:p>
            <a:pPr lvl="1">
              <a:spcBef>
                <a:spcPts val="1200"/>
              </a:spcBef>
              <a:buFont typeface="Wingdings" pitchFamily="2" charset="2"/>
              <a:buChar char="§"/>
            </a:pPr>
            <a:r>
              <a:rPr lang="en-US" dirty="0">
                <a:solidFill>
                  <a:schemeClr val="tx1"/>
                </a:solidFill>
              </a:rPr>
              <a:t>The compensation that would be offered for participating</a:t>
            </a:r>
          </a:p>
          <a:p>
            <a:pPr lvl="1">
              <a:spcBef>
                <a:spcPts val="1200"/>
              </a:spcBef>
              <a:buFont typeface="Wingdings" pitchFamily="2" charset="2"/>
              <a:buChar char="§"/>
            </a:pPr>
            <a:r>
              <a:rPr lang="en-US" dirty="0">
                <a:solidFill>
                  <a:schemeClr val="tx1"/>
                </a:solidFill>
              </a:rPr>
              <a:t>Participants’ right to withdraw from the study at any time</a:t>
            </a:r>
          </a:p>
          <a:p>
            <a:pPr lvl="1">
              <a:spcBef>
                <a:spcPts val="1200"/>
              </a:spcBef>
              <a:buFont typeface="Wingdings" pitchFamily="2" charset="2"/>
              <a:buChar char="§"/>
            </a:pPr>
            <a:r>
              <a:rPr lang="en-US" dirty="0">
                <a:solidFill>
                  <a:schemeClr val="tx1"/>
                </a:solidFill>
              </a:rPr>
              <a:t>A promise that the person’s identity would not be disclosed</a:t>
            </a:r>
          </a:p>
          <a:p>
            <a:pPr lvl="1">
              <a:spcBef>
                <a:spcPts val="1200"/>
              </a:spcBef>
              <a:buFont typeface="Wingdings" pitchFamily="2" charset="2"/>
              <a:buChar char="§"/>
            </a:pPr>
            <a:r>
              <a:rPr lang="en-US" dirty="0">
                <a:solidFill>
                  <a:schemeClr val="tx1"/>
                </a:solidFill>
              </a:rPr>
              <a:t>An agreement that the data collected would be confidential and available to only the evaluators</a:t>
            </a:r>
            <a:endParaRPr lang="en-GB" sz="1300" dirty="0">
              <a:solidFill>
                <a:schemeClr val="tx1"/>
              </a:solidFill>
            </a:endParaRPr>
          </a:p>
          <a:p>
            <a:pPr>
              <a:spcBef>
                <a:spcPts val="1800"/>
              </a:spcBef>
            </a:pPr>
            <a:r>
              <a:rPr lang="en-GB" dirty="0"/>
              <a:t>Participants were asked to explore the iPad</a:t>
            </a:r>
            <a:endParaRPr lang="en-GB" sz="1100" dirty="0"/>
          </a:p>
          <a:p>
            <a:pPr>
              <a:spcBef>
                <a:spcPts val="1800"/>
              </a:spcBef>
            </a:pPr>
            <a:r>
              <a:rPr lang="en-GB" dirty="0"/>
              <a:t>Next, they were asked to perform randomly-assigned specified tasks</a:t>
            </a:r>
          </a:p>
          <a:p>
            <a:endParaRPr lang="en-GB" dirty="0"/>
          </a:p>
          <a:p>
            <a:pPr marL="457200" lvl="1" indent="0">
              <a:buNone/>
            </a:pPr>
            <a:endParaRPr lang="en-US" dirty="0">
              <a:solidFill>
                <a:schemeClr val="tx1"/>
              </a:solidFill>
            </a:endParaRPr>
          </a:p>
          <a:p>
            <a:pPr lvl="1"/>
            <a:endParaRPr lang="en-US" dirty="0">
              <a:solidFill>
                <a:schemeClr val="tx1"/>
              </a:solidFill>
            </a:endParaRPr>
          </a:p>
          <a:p>
            <a:pPr lvl="1"/>
            <a:endParaRPr lang="en-US" dirty="0">
              <a:solidFill>
                <a:schemeClr val="tx1"/>
              </a:solidFill>
            </a:endParaRPr>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7" name="Slide Number Placeholder 6"/>
          <p:cNvSpPr>
            <a:spLocks noGrp="1"/>
          </p:cNvSpPr>
          <p:nvPr>
            <p:ph type="sldNum" sz="quarter" idx="12"/>
          </p:nvPr>
        </p:nvSpPr>
        <p:spPr/>
        <p:txBody>
          <a:bodyPr/>
          <a:lstStyle/>
          <a:p>
            <a:fld id="{A7EA2D8D-44E5-43C4-BBA1-AE3E32EF0894}" type="slidenum">
              <a:rPr lang="en-GB">
                <a:solidFill>
                  <a:srgbClr val="77A363">
                    <a:lumMod val="75000"/>
                  </a:srgbClr>
                </a:solidFill>
              </a:rPr>
              <a:pPr/>
              <a:t>38</a:t>
            </a:fld>
            <a:endParaRPr lang="en-GB" dirty="0">
              <a:solidFill>
                <a:srgbClr val="77A363">
                  <a:lumMod val="75000"/>
                </a:srgbClr>
              </a:solidFill>
            </a:endParaRPr>
          </a:p>
        </p:txBody>
      </p:sp>
    </p:spTree>
    <p:extLst>
      <p:ext uri="{BB962C8B-B14F-4D97-AF65-F5344CB8AC3E}">
        <p14:creationId xmlns:p14="http://schemas.microsoft.com/office/powerpoint/2010/main" val="16478647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Table depicting tasks that participants"/>
          <p:cNvSpPr>
            <a:spLocks noGrp="1"/>
          </p:cNvSpPr>
          <p:nvPr>
            <p:ph type="title"/>
          </p:nvPr>
        </p:nvSpPr>
        <p:spPr>
          <a:xfrm>
            <a:off x="2814464" y="292561"/>
            <a:ext cx="6563072" cy="1143000"/>
          </a:xfrm>
        </p:spPr>
        <p:txBody>
          <a:bodyPr>
            <a:normAutofit fontScale="90000"/>
          </a:bodyPr>
          <a:lstStyle/>
          <a:p>
            <a:r>
              <a:rPr lang="en-GB" dirty="0"/>
              <a:t>Examples of the tasks used in the iPad evaluation</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39</a:t>
            </a:fld>
            <a:endParaRPr lang="en-GB" dirty="0">
              <a:solidFill>
                <a:srgbClr val="77A363">
                  <a:lumMod val="75000"/>
                </a:srgbClr>
              </a:solidFill>
            </a:endParaRPr>
          </a:p>
        </p:txBody>
      </p:sp>
      <p:sp>
        <p:nvSpPr>
          <p:cNvPr id="6" name="Content Placeholder 5">
            <a:extLst>
              <a:ext uri="{FF2B5EF4-FFF2-40B4-BE49-F238E27FC236}">
                <a16:creationId xmlns:a16="http://schemas.microsoft.com/office/drawing/2014/main" id="{1F0F532D-C177-884C-B09D-55B8258AF480}"/>
              </a:ext>
            </a:extLst>
          </p:cNvPr>
          <p:cNvSpPr>
            <a:spLocks noGrp="1"/>
          </p:cNvSpPr>
          <p:nvPr>
            <p:ph idx="1"/>
          </p:nvPr>
        </p:nvSpPr>
        <p:spPr>
          <a:xfrm>
            <a:off x="1981200" y="1600201"/>
            <a:ext cx="8229600" cy="3587750"/>
          </a:xfrm>
        </p:spPr>
        <p:txBody>
          <a:bodyPr/>
          <a:lstStyle/>
          <a:p>
            <a:endParaRPr lang="en-US" dirty="0"/>
          </a:p>
        </p:txBody>
      </p:sp>
      <p:pic>
        <p:nvPicPr>
          <p:cNvPr id="7" name="Picture 6" descr="Table depicting tasks that participants were assinged in the iPad App and Website Usability Study">
            <a:extLst>
              <a:ext uri="{FF2B5EF4-FFF2-40B4-BE49-F238E27FC236}">
                <a16:creationId xmlns:a16="http://schemas.microsoft.com/office/drawing/2014/main" id="{3A1EF6F8-99E5-8D41-A505-B557197A36B6}"/>
              </a:ext>
            </a:extLst>
          </p:cNvPr>
          <p:cNvPicPr>
            <a:picLocks noChangeAspect="1"/>
          </p:cNvPicPr>
          <p:nvPr/>
        </p:nvPicPr>
        <p:blipFill>
          <a:blip r:embed="rId3"/>
          <a:stretch>
            <a:fillRect/>
          </a:stretch>
        </p:blipFill>
        <p:spPr>
          <a:xfrm>
            <a:off x="2101850" y="1670050"/>
            <a:ext cx="7988300" cy="3517900"/>
          </a:xfrm>
          <a:prstGeom prst="rect">
            <a:avLst/>
          </a:prstGeom>
        </p:spPr>
      </p:pic>
      <p:sp>
        <p:nvSpPr>
          <p:cNvPr id="9" name="TextBox 8">
            <a:extLst>
              <a:ext uri="{FF2B5EF4-FFF2-40B4-BE49-F238E27FC236}">
                <a16:creationId xmlns:a16="http://schemas.microsoft.com/office/drawing/2014/main" id="{0A3435B0-D564-D542-8E06-4D654CE908B5}"/>
              </a:ext>
            </a:extLst>
          </p:cNvPr>
          <p:cNvSpPr txBox="1"/>
          <p:nvPr/>
        </p:nvSpPr>
        <p:spPr>
          <a:xfrm>
            <a:off x="2101850" y="5352591"/>
            <a:ext cx="8052570" cy="923330"/>
          </a:xfrm>
          <a:prstGeom prst="rect">
            <a:avLst/>
          </a:prstGeom>
          <a:noFill/>
        </p:spPr>
        <p:txBody>
          <a:bodyPr wrap="square" rtlCol="0">
            <a:spAutoFit/>
          </a:bodyPr>
          <a:lstStyle/>
          <a:p>
            <a:r>
              <a:rPr lang="en-US" dirty="0">
                <a:solidFill>
                  <a:srgbClr val="000000"/>
                </a:solidFill>
                <a:latin typeface="Calibri"/>
              </a:rPr>
              <a:t>Adapted from Budiu and Nielsen, 2010</a:t>
            </a:r>
          </a:p>
          <a:p>
            <a:r>
              <a:rPr lang="en-US" dirty="0">
                <a:solidFill>
                  <a:srgbClr val="000000"/>
                </a:solidFill>
                <a:latin typeface="Calibri"/>
              </a:rPr>
              <a:t>Source: iPad App and Website Usability Study. Used courtesy of the </a:t>
            </a:r>
            <a:r>
              <a:rPr lang="en-US" dirty="0">
                <a:solidFill>
                  <a:srgbClr val="000000"/>
                </a:solidFill>
                <a:latin typeface="Calibri"/>
                <a:hlinkClick r:id="rId4"/>
              </a:rPr>
              <a:t>Neilsen Norman Group</a:t>
            </a:r>
            <a:r>
              <a:rPr lang="en-US" dirty="0">
                <a:solidFill>
                  <a:srgbClr val="000000"/>
                </a:solidFill>
                <a:latin typeface="Calibri"/>
              </a:rPr>
              <a:t>.</a:t>
            </a:r>
          </a:p>
        </p:txBody>
      </p:sp>
    </p:spTree>
    <p:extLst>
      <p:ext uri="{BB962C8B-B14F-4D97-AF65-F5344CB8AC3E}">
        <p14:creationId xmlns:p14="http://schemas.microsoft.com/office/powerpoint/2010/main" val="10931659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94122"/>
          </a:xfrm>
        </p:spPr>
        <p:txBody>
          <a:bodyPr/>
          <a:lstStyle/>
          <a:p>
            <a:r>
              <a:rPr lang="en-US" dirty="0"/>
              <a:t>Problems and actions</a:t>
            </a:r>
          </a:p>
        </p:txBody>
      </p:sp>
      <p:sp>
        <p:nvSpPr>
          <p:cNvPr id="3" name="Content Placeholder 2"/>
          <p:cNvSpPr>
            <a:spLocks noGrp="1"/>
          </p:cNvSpPr>
          <p:nvPr>
            <p:ph idx="1"/>
          </p:nvPr>
        </p:nvSpPr>
        <p:spPr>
          <a:xfrm>
            <a:off x="1981200" y="1412776"/>
            <a:ext cx="8229600" cy="4900812"/>
          </a:xfrm>
        </p:spPr>
        <p:txBody>
          <a:bodyPr>
            <a:normAutofit/>
          </a:bodyPr>
          <a:lstStyle/>
          <a:p>
            <a:r>
              <a:rPr lang="en-US" dirty="0"/>
              <a:t>Examples of problems detected:</a:t>
            </a:r>
            <a:endParaRPr lang="en-US" sz="900" dirty="0"/>
          </a:p>
          <a:p>
            <a:pPr lvl="1">
              <a:buFont typeface="Wingdings" pitchFamily="2" charset="2"/>
              <a:buChar char="§"/>
            </a:pPr>
            <a:r>
              <a:rPr lang="en-US" dirty="0">
                <a:solidFill>
                  <a:schemeClr val="tx1"/>
                </a:solidFill>
              </a:rPr>
              <a:t>Accessing the Web was difficult</a:t>
            </a:r>
          </a:p>
          <a:p>
            <a:pPr lvl="1">
              <a:buFont typeface="Wingdings" pitchFamily="2" charset="2"/>
              <a:buChar char="§"/>
            </a:pPr>
            <a:r>
              <a:rPr lang="en-US" dirty="0">
                <a:solidFill>
                  <a:schemeClr val="tx1"/>
                </a:solidFill>
              </a:rPr>
              <a:t>Lack of affordance and feedback</a:t>
            </a:r>
          </a:p>
          <a:p>
            <a:pPr lvl="1">
              <a:buFont typeface="Wingdings" pitchFamily="2" charset="2"/>
              <a:buChar char="§"/>
            </a:pPr>
            <a:r>
              <a:rPr lang="en-US" dirty="0">
                <a:solidFill>
                  <a:schemeClr val="tx1"/>
                </a:solidFill>
              </a:rPr>
              <a:t>Getting lost in an application</a:t>
            </a:r>
          </a:p>
          <a:p>
            <a:pPr lvl="1">
              <a:buFont typeface="Wingdings" pitchFamily="2" charset="2"/>
              <a:buChar char="§"/>
            </a:pPr>
            <a:r>
              <a:rPr lang="en-US" dirty="0">
                <a:solidFill>
                  <a:schemeClr val="tx1"/>
                </a:solidFill>
              </a:rPr>
              <a:t>Knowing where to tap</a:t>
            </a:r>
          </a:p>
          <a:p>
            <a:pPr lvl="1"/>
            <a:endParaRPr lang="en-US" sz="900" dirty="0">
              <a:solidFill>
                <a:schemeClr val="tx1"/>
              </a:solidFill>
            </a:endParaRPr>
          </a:p>
          <a:p>
            <a:r>
              <a:rPr lang="en-US" dirty="0"/>
              <a:t>Actions by evaluators:</a:t>
            </a:r>
            <a:endParaRPr lang="en-US" sz="900" dirty="0"/>
          </a:p>
          <a:p>
            <a:pPr lvl="1">
              <a:buFont typeface="Wingdings" pitchFamily="2" charset="2"/>
              <a:buChar char="§"/>
            </a:pPr>
            <a:r>
              <a:rPr lang="en-US" dirty="0">
                <a:solidFill>
                  <a:schemeClr val="tx1"/>
                </a:solidFill>
              </a:rPr>
              <a:t>Reported to developers</a:t>
            </a:r>
          </a:p>
          <a:p>
            <a:pPr lvl="1">
              <a:buFont typeface="Wingdings" pitchFamily="2" charset="2"/>
              <a:buChar char="§"/>
            </a:pPr>
            <a:r>
              <a:rPr lang="en-US" dirty="0">
                <a:solidFill>
                  <a:schemeClr val="tx1"/>
                </a:solidFill>
              </a:rPr>
              <a:t>Made available to public on </a:t>
            </a:r>
            <a:r>
              <a:rPr lang="en-US" dirty="0">
                <a:hlinkClick r:id="rId2"/>
              </a:rPr>
              <a:t>Neilsen Norman Group</a:t>
            </a:r>
            <a:r>
              <a:rPr lang="en-US" dirty="0"/>
              <a:t>.</a:t>
            </a:r>
            <a:r>
              <a:rPr lang="en-US" dirty="0">
                <a:solidFill>
                  <a:schemeClr val="tx1"/>
                </a:solidFill>
              </a:rPr>
              <a:t>  </a:t>
            </a:r>
          </a:p>
          <a:p>
            <a:pPr lvl="1"/>
            <a:endParaRPr lang="en-US" sz="900" dirty="0">
              <a:solidFill>
                <a:schemeClr val="tx1"/>
              </a:solidFill>
            </a:endParaRPr>
          </a:p>
          <a:p>
            <a:endParaRPr lang="en-US" dirty="0"/>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7" name="Slide Number Placeholder 6"/>
          <p:cNvSpPr>
            <a:spLocks noGrp="1"/>
          </p:cNvSpPr>
          <p:nvPr>
            <p:ph type="sldNum" sz="quarter" idx="12"/>
          </p:nvPr>
        </p:nvSpPr>
        <p:spPr/>
        <p:txBody>
          <a:bodyPr/>
          <a:lstStyle/>
          <a:p>
            <a:fld id="{A7EA2D8D-44E5-43C4-BBA1-AE3E32EF0894}" type="slidenum">
              <a:rPr lang="en-GB">
                <a:solidFill>
                  <a:srgbClr val="77A363">
                    <a:lumMod val="75000"/>
                  </a:srgbClr>
                </a:solidFill>
              </a:rPr>
              <a:pPr/>
              <a:t>40</a:t>
            </a:fld>
            <a:endParaRPr lang="en-GB" dirty="0">
              <a:solidFill>
                <a:srgbClr val="77A363">
                  <a:lumMod val="75000"/>
                </a:srgbClr>
              </a:solidFill>
            </a:endParaRPr>
          </a:p>
        </p:txBody>
      </p:sp>
    </p:spTree>
    <p:extLst>
      <p:ext uri="{BB962C8B-B14F-4D97-AF65-F5344CB8AC3E}">
        <p14:creationId xmlns:p14="http://schemas.microsoft.com/office/powerpoint/2010/main" val="3477580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94122"/>
          </a:xfrm>
        </p:spPr>
        <p:txBody>
          <a:bodyPr>
            <a:normAutofit/>
          </a:bodyPr>
          <a:lstStyle/>
          <a:p>
            <a:r>
              <a:rPr lang="en-US" dirty="0"/>
              <a:t>Problems and actions</a:t>
            </a:r>
            <a:r>
              <a:rPr lang="en-GB" dirty="0"/>
              <a:t> </a:t>
            </a:r>
            <a:r>
              <a:rPr lang="en-GB" sz="3100" i="1" dirty="0"/>
              <a:t>(continued)</a:t>
            </a:r>
            <a:endParaRPr lang="en-US" sz="3100" dirty="0"/>
          </a:p>
        </p:txBody>
      </p:sp>
      <p:sp>
        <p:nvSpPr>
          <p:cNvPr id="3" name="Content Placeholder 2"/>
          <p:cNvSpPr>
            <a:spLocks noGrp="1"/>
          </p:cNvSpPr>
          <p:nvPr>
            <p:ph idx="1"/>
          </p:nvPr>
        </p:nvSpPr>
        <p:spPr>
          <a:xfrm>
            <a:off x="1981200" y="1412776"/>
            <a:ext cx="8229600" cy="4900812"/>
          </a:xfrm>
        </p:spPr>
        <p:txBody>
          <a:bodyPr>
            <a:normAutofit/>
          </a:bodyPr>
          <a:lstStyle/>
          <a:p>
            <a:r>
              <a:rPr lang="en-US" dirty="0"/>
              <a:t>Accessibility for all users is important</a:t>
            </a:r>
          </a:p>
          <a:p>
            <a:pPr>
              <a:spcBef>
                <a:spcPts val="2400"/>
              </a:spcBef>
            </a:pPr>
            <a:r>
              <a:rPr lang="en-US" dirty="0"/>
              <a:t>Study did not address how iPad would be used in people’s everyday lives</a:t>
            </a:r>
          </a:p>
          <a:p>
            <a:pPr>
              <a:spcBef>
                <a:spcPts val="2400"/>
              </a:spcBef>
            </a:pPr>
            <a:r>
              <a:rPr lang="en-US" dirty="0"/>
              <a:t>Another study was done a year later to examine this and other issues that there was insufficient time to address in the first study</a:t>
            </a:r>
          </a:p>
          <a:p>
            <a:endParaRPr lang="en-US" dirty="0"/>
          </a:p>
        </p:txBody>
      </p:sp>
      <p:sp>
        <p:nvSpPr>
          <p:cNvPr id="4" name="Footer Placeholder 3"/>
          <p:cNvSpPr>
            <a:spLocks noGrp="1"/>
          </p:cNvSpPr>
          <p:nvPr>
            <p:ph type="ftr" sz="quarter" idx="11"/>
          </p:nvPr>
        </p:nvSpPr>
        <p:spPr/>
        <p:txBody>
          <a:bodyPr/>
          <a:lstStyle/>
          <a:p>
            <a:r>
              <a:rPr lang="en-GB" dirty="0">
                <a:solidFill>
                  <a:srgbClr val="77A363">
                    <a:lumMod val="75000"/>
                  </a:srgbClr>
                </a:solidFill>
              </a:rPr>
              <a:t>www.id-book.com</a:t>
            </a:r>
          </a:p>
        </p:txBody>
      </p:sp>
      <p:sp>
        <p:nvSpPr>
          <p:cNvPr id="7" name="Slide Number Placeholder 6"/>
          <p:cNvSpPr>
            <a:spLocks noGrp="1"/>
          </p:cNvSpPr>
          <p:nvPr>
            <p:ph type="sldNum" sz="quarter" idx="12"/>
          </p:nvPr>
        </p:nvSpPr>
        <p:spPr/>
        <p:txBody>
          <a:bodyPr/>
          <a:lstStyle/>
          <a:p>
            <a:fld id="{A7EA2D8D-44E5-43C4-BBA1-AE3E32EF0894}" type="slidenum">
              <a:rPr lang="en-GB">
                <a:solidFill>
                  <a:srgbClr val="77A363">
                    <a:lumMod val="75000"/>
                  </a:srgbClr>
                </a:solidFill>
              </a:rPr>
              <a:pPr/>
              <a:t>41</a:t>
            </a:fld>
            <a:endParaRPr lang="en-GB" dirty="0">
              <a:solidFill>
                <a:srgbClr val="77A363">
                  <a:lumMod val="75000"/>
                </a:srgbClr>
              </a:solidFill>
            </a:endParaRPr>
          </a:p>
        </p:txBody>
      </p:sp>
    </p:spTree>
    <p:extLst>
      <p:ext uri="{BB962C8B-B14F-4D97-AF65-F5344CB8AC3E}">
        <p14:creationId xmlns:p14="http://schemas.microsoft.com/office/powerpoint/2010/main" val="28039624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idx="4294967295"/>
          </p:nvPr>
        </p:nvSpPr>
        <p:spPr>
          <a:xfrm>
            <a:off x="2209800" y="152400"/>
            <a:ext cx="7772400" cy="1143000"/>
          </a:xfrm>
        </p:spPr>
        <p:txBody>
          <a:bodyPr/>
          <a:lstStyle/>
          <a:p>
            <a:pPr eaLnBrk="1" hangingPunct="1"/>
            <a:r>
              <a:rPr lang="en-US" dirty="0">
                <a:latin typeface="Liberation Sans"/>
              </a:rPr>
              <a:t>Usability testing conditions</a:t>
            </a:r>
          </a:p>
        </p:txBody>
      </p:sp>
      <p:sp>
        <p:nvSpPr>
          <p:cNvPr id="29701" name="Rectangle 3"/>
          <p:cNvSpPr>
            <a:spLocks noGrp="1" noChangeArrowheads="1"/>
          </p:cNvSpPr>
          <p:nvPr>
            <p:ph type="body" idx="4294967295"/>
          </p:nvPr>
        </p:nvSpPr>
        <p:spPr>
          <a:xfrm>
            <a:off x="1981200" y="1219200"/>
            <a:ext cx="8229600" cy="5181600"/>
          </a:xfrm>
        </p:spPr>
        <p:txBody>
          <a:bodyPr>
            <a:normAutofit/>
          </a:bodyPr>
          <a:lstStyle/>
          <a:p>
            <a:pPr eaLnBrk="1" hangingPunct="1">
              <a:lnSpc>
                <a:spcPct val="90000"/>
              </a:lnSpc>
            </a:pPr>
            <a:r>
              <a:rPr lang="en-US" sz="2800" dirty="0">
                <a:latin typeface="Liberation Sans"/>
              </a:rPr>
              <a:t>Usability lab or other controlled space</a:t>
            </a:r>
          </a:p>
          <a:p>
            <a:pPr>
              <a:lnSpc>
                <a:spcPct val="90000"/>
              </a:lnSpc>
              <a:spcBef>
                <a:spcPts val="1500"/>
              </a:spcBef>
            </a:pPr>
            <a:r>
              <a:rPr lang="en-US" sz="2800" dirty="0">
                <a:latin typeface="Liberation Sans"/>
              </a:rPr>
              <a:t>Emphasis on:</a:t>
            </a:r>
          </a:p>
          <a:p>
            <a:pPr lvl="1">
              <a:lnSpc>
                <a:spcPct val="90000"/>
              </a:lnSpc>
              <a:spcBef>
                <a:spcPts val="1200"/>
              </a:spcBef>
              <a:buFont typeface="Wingdings" pitchFamily="2" charset="2"/>
              <a:buChar char="§"/>
            </a:pPr>
            <a:r>
              <a:rPr lang="en-US" sz="2400" dirty="0">
                <a:solidFill>
                  <a:schemeClr val="tx1"/>
                </a:solidFill>
                <a:latin typeface="Liberation Sans"/>
                <a:ea typeface="ＭＳ Ｐゴシック" charset="0"/>
              </a:rPr>
              <a:t>Selecting representative users</a:t>
            </a:r>
          </a:p>
          <a:p>
            <a:pPr lvl="1">
              <a:lnSpc>
                <a:spcPct val="90000"/>
              </a:lnSpc>
              <a:spcBef>
                <a:spcPts val="1200"/>
              </a:spcBef>
              <a:buFont typeface="Wingdings" pitchFamily="2" charset="2"/>
              <a:buChar char="§"/>
            </a:pPr>
            <a:r>
              <a:rPr lang="en-US" sz="2400" dirty="0">
                <a:solidFill>
                  <a:schemeClr val="tx1"/>
                </a:solidFill>
                <a:latin typeface="Liberation Sans"/>
                <a:ea typeface="ＭＳ Ｐゴシック" charset="0"/>
              </a:rPr>
              <a:t>Developing representative tasks</a:t>
            </a:r>
            <a:endParaRPr lang="en-US" sz="800" dirty="0">
              <a:solidFill>
                <a:schemeClr val="tx1"/>
              </a:solidFill>
              <a:latin typeface="Liberation Sans"/>
              <a:ea typeface="ＭＳ Ｐゴシック" charset="0"/>
            </a:endParaRPr>
          </a:p>
          <a:p>
            <a:pPr>
              <a:lnSpc>
                <a:spcPct val="90000"/>
              </a:lnSpc>
              <a:spcBef>
                <a:spcPts val="1500"/>
              </a:spcBef>
            </a:pPr>
            <a:r>
              <a:rPr lang="en-US" sz="2800" dirty="0">
                <a:latin typeface="Liberation Sans"/>
              </a:rPr>
              <a:t>5-10 users typically selected</a:t>
            </a:r>
            <a:endParaRPr lang="en-US" sz="900" dirty="0">
              <a:latin typeface="Liberation Sans"/>
            </a:endParaRPr>
          </a:p>
          <a:p>
            <a:pPr>
              <a:lnSpc>
                <a:spcPct val="90000"/>
              </a:lnSpc>
              <a:spcBef>
                <a:spcPts val="1500"/>
              </a:spcBef>
            </a:pPr>
            <a:r>
              <a:rPr lang="en-US" sz="2800" dirty="0">
                <a:latin typeface="Liberation Sans"/>
              </a:rPr>
              <a:t>Tasks usually around 30 minutes</a:t>
            </a:r>
            <a:endParaRPr lang="en-US" sz="800" dirty="0">
              <a:latin typeface="Liberation Sans"/>
            </a:endParaRPr>
          </a:p>
          <a:p>
            <a:pPr>
              <a:lnSpc>
                <a:spcPct val="90000"/>
              </a:lnSpc>
              <a:spcBef>
                <a:spcPts val="1500"/>
              </a:spcBef>
            </a:pPr>
            <a:r>
              <a:rPr lang="en-US" sz="2800" dirty="0">
                <a:latin typeface="Liberation Sans"/>
              </a:rPr>
              <a:t>Test conditions are the same for every participant</a:t>
            </a:r>
            <a:endParaRPr lang="en-US" sz="800" dirty="0">
              <a:latin typeface="Liberation Sans"/>
            </a:endParaRPr>
          </a:p>
          <a:p>
            <a:pPr>
              <a:lnSpc>
                <a:spcPct val="90000"/>
              </a:lnSpc>
              <a:spcBef>
                <a:spcPts val="1500"/>
              </a:spcBef>
            </a:pPr>
            <a:r>
              <a:rPr lang="en-US" sz="2800" dirty="0">
                <a:latin typeface="Liberation Sans"/>
              </a:rPr>
              <a:t>Informed consent form explains procedures and deals with ethical issues</a:t>
            </a:r>
          </a:p>
          <a:p>
            <a:pPr eaLnBrk="1" hangingPunct="1">
              <a:lnSpc>
                <a:spcPct val="90000"/>
              </a:lnSpc>
            </a:pPr>
            <a:endParaRPr lang="en-US" sz="28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42</a:t>
            </a:fld>
            <a:endParaRPr lang="en-GB" dirty="0">
              <a:solidFill>
                <a:srgbClr val="77A363">
                  <a:lumMod val="75000"/>
                </a:srgbClr>
              </a:solidFill>
            </a:endParaRPr>
          </a:p>
        </p:txBody>
      </p:sp>
    </p:spTree>
    <p:extLst>
      <p:ext uri="{BB962C8B-B14F-4D97-AF65-F5344CB8AC3E}">
        <p14:creationId xmlns:p14="http://schemas.microsoft.com/office/powerpoint/2010/main" val="28244856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idx="4294967295"/>
          </p:nvPr>
        </p:nvSpPr>
        <p:spPr>
          <a:xfrm>
            <a:off x="2498812" y="312395"/>
            <a:ext cx="7194376" cy="1143000"/>
          </a:xfrm>
        </p:spPr>
        <p:txBody>
          <a:bodyPr>
            <a:normAutofit fontScale="90000"/>
          </a:bodyPr>
          <a:lstStyle/>
          <a:p>
            <a:pPr eaLnBrk="1" hangingPunct="1"/>
            <a:r>
              <a:rPr lang="en-US" dirty="0">
                <a:latin typeface="Liberation Sans"/>
              </a:rPr>
              <a:t>How many participants is enough for user testing?</a:t>
            </a:r>
          </a:p>
        </p:txBody>
      </p:sp>
      <p:sp>
        <p:nvSpPr>
          <p:cNvPr id="35845" name="Rectangle 3"/>
          <p:cNvSpPr>
            <a:spLocks noGrp="1" noChangeArrowheads="1"/>
          </p:cNvSpPr>
          <p:nvPr>
            <p:ph type="body" idx="4294967295"/>
          </p:nvPr>
        </p:nvSpPr>
        <p:spPr>
          <a:xfrm>
            <a:off x="1981200" y="1752600"/>
            <a:ext cx="8305800" cy="4648200"/>
          </a:xfrm>
        </p:spPr>
        <p:txBody>
          <a:bodyPr>
            <a:normAutofit/>
          </a:bodyPr>
          <a:lstStyle/>
          <a:p>
            <a:pPr eaLnBrk="1" hangingPunct="1">
              <a:lnSpc>
                <a:spcPct val="90000"/>
              </a:lnSpc>
            </a:pPr>
            <a:r>
              <a:rPr lang="en-US" dirty="0">
                <a:latin typeface="Liberation Sans"/>
              </a:rPr>
              <a:t>The number is a practical issue</a:t>
            </a:r>
          </a:p>
          <a:p>
            <a:pPr>
              <a:lnSpc>
                <a:spcPct val="90000"/>
              </a:lnSpc>
              <a:spcBef>
                <a:spcPts val="1500"/>
              </a:spcBef>
            </a:pPr>
            <a:r>
              <a:rPr lang="en-US" dirty="0">
                <a:latin typeface="Liberation Sans"/>
              </a:rPr>
              <a:t>Depends on:</a:t>
            </a:r>
            <a:endParaRPr lang="en-US" sz="600" dirty="0">
              <a:latin typeface="Liberation Sans"/>
            </a:endParaRPr>
          </a:p>
          <a:p>
            <a:pPr lvl="1">
              <a:lnSpc>
                <a:spcPct val="90000"/>
              </a:lnSpc>
              <a:spcBef>
                <a:spcPts val="1200"/>
              </a:spcBef>
              <a:buFont typeface="Wingdings" pitchFamily="2" charset="2"/>
              <a:buChar char="§"/>
            </a:pPr>
            <a:r>
              <a:rPr lang="en-US" dirty="0">
                <a:solidFill>
                  <a:schemeClr val="tx1"/>
                </a:solidFill>
                <a:latin typeface="Liberation Sans"/>
                <a:ea typeface="ＭＳ Ｐゴシック" charset="0"/>
              </a:rPr>
              <a:t>Schedule for testing</a:t>
            </a:r>
          </a:p>
          <a:p>
            <a:pPr lvl="1">
              <a:lnSpc>
                <a:spcPct val="90000"/>
              </a:lnSpc>
              <a:spcBef>
                <a:spcPts val="1200"/>
              </a:spcBef>
              <a:buFont typeface="Wingdings" pitchFamily="2" charset="2"/>
              <a:buChar char="§"/>
            </a:pPr>
            <a:r>
              <a:rPr lang="en-US" dirty="0">
                <a:solidFill>
                  <a:schemeClr val="tx1"/>
                </a:solidFill>
                <a:latin typeface="Liberation Sans"/>
                <a:ea typeface="ＭＳ Ｐゴシック" charset="0"/>
              </a:rPr>
              <a:t>Availability of participants</a:t>
            </a:r>
          </a:p>
          <a:p>
            <a:pPr lvl="1">
              <a:lnSpc>
                <a:spcPct val="90000"/>
              </a:lnSpc>
              <a:spcBef>
                <a:spcPts val="1200"/>
              </a:spcBef>
              <a:buFont typeface="Wingdings" pitchFamily="2" charset="2"/>
              <a:buChar char="§"/>
            </a:pPr>
            <a:r>
              <a:rPr lang="en-US" dirty="0">
                <a:solidFill>
                  <a:schemeClr val="tx1"/>
                </a:solidFill>
                <a:latin typeface="Liberation Sans"/>
                <a:ea typeface="ＭＳ Ｐゴシック" charset="0"/>
              </a:rPr>
              <a:t>Cost of running tests</a:t>
            </a:r>
            <a:endParaRPr lang="en-US" sz="1100" dirty="0">
              <a:solidFill>
                <a:schemeClr val="tx1"/>
              </a:solidFill>
              <a:latin typeface="Liberation Sans"/>
              <a:ea typeface="ＭＳ Ｐゴシック" charset="0"/>
            </a:endParaRPr>
          </a:p>
          <a:p>
            <a:pPr>
              <a:lnSpc>
                <a:spcPct val="90000"/>
              </a:lnSpc>
              <a:spcBef>
                <a:spcPts val="1500"/>
              </a:spcBef>
            </a:pPr>
            <a:r>
              <a:rPr lang="en-US" dirty="0">
                <a:latin typeface="Liberation Sans"/>
              </a:rPr>
              <a:t>Typically 5-10 participants </a:t>
            </a:r>
            <a:endParaRPr lang="en-US" sz="1000" dirty="0">
              <a:latin typeface="Liberation Sans"/>
            </a:endParaRPr>
          </a:p>
          <a:p>
            <a:pPr>
              <a:lnSpc>
                <a:spcPct val="90000"/>
              </a:lnSpc>
              <a:spcBef>
                <a:spcPts val="1500"/>
              </a:spcBef>
            </a:pPr>
            <a:r>
              <a:rPr lang="en-US" dirty="0">
                <a:latin typeface="Liberation Sans"/>
              </a:rPr>
              <a:t>Some experts argue that testing should continue until no new insights are gained</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43</a:t>
            </a:fld>
            <a:endParaRPr lang="en-GB" dirty="0">
              <a:solidFill>
                <a:srgbClr val="77A363">
                  <a:lumMod val="75000"/>
                </a:srgbClr>
              </a:solidFill>
            </a:endParaRPr>
          </a:p>
        </p:txBody>
      </p:sp>
    </p:spTree>
    <p:extLst>
      <p:ext uri="{BB962C8B-B14F-4D97-AF65-F5344CB8AC3E}">
        <p14:creationId xmlns:p14="http://schemas.microsoft.com/office/powerpoint/2010/main" val="5253411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2209800" y="304800"/>
            <a:ext cx="7772400" cy="1143000"/>
          </a:xfrm>
        </p:spPr>
        <p:txBody>
          <a:bodyPr>
            <a:normAutofit fontScale="90000"/>
          </a:bodyPr>
          <a:lstStyle/>
          <a:p>
            <a:r>
              <a:rPr lang="en-US" dirty="0">
                <a:latin typeface="Liberation Sans"/>
              </a:rPr>
              <a:t>Usability testing and Experiments </a:t>
            </a:r>
          </a:p>
        </p:txBody>
      </p:sp>
      <p:sp>
        <p:nvSpPr>
          <p:cNvPr id="19461" name="Rectangle 3"/>
          <p:cNvSpPr>
            <a:spLocks noGrp="1" noChangeArrowheads="1"/>
          </p:cNvSpPr>
          <p:nvPr>
            <p:ph type="body" idx="4294967295"/>
          </p:nvPr>
        </p:nvSpPr>
        <p:spPr>
          <a:xfrm>
            <a:off x="1828800" y="1447800"/>
            <a:ext cx="8534400" cy="4495800"/>
          </a:xfrm>
        </p:spPr>
        <p:txBody>
          <a:bodyPr/>
          <a:lstStyle/>
          <a:p>
            <a:pPr eaLnBrk="1" hangingPunct="1">
              <a:lnSpc>
                <a:spcPct val="90000"/>
              </a:lnSpc>
            </a:pPr>
            <a:r>
              <a:rPr lang="en-US" dirty="0">
                <a:latin typeface="Liberation Sans"/>
              </a:rPr>
              <a:t>Usability testing is applied experimentation</a:t>
            </a:r>
          </a:p>
          <a:p>
            <a:pPr>
              <a:lnSpc>
                <a:spcPct val="90000"/>
              </a:lnSpc>
              <a:spcBef>
                <a:spcPts val="2400"/>
              </a:spcBef>
            </a:pPr>
            <a:r>
              <a:rPr lang="en-US" dirty="0">
                <a:latin typeface="Liberation Sans"/>
              </a:rPr>
              <a:t>Developers check that the system is usable by the intended user population by collecting data about participants’ performance on prescribed tasks</a:t>
            </a:r>
          </a:p>
          <a:p>
            <a:pPr>
              <a:lnSpc>
                <a:spcPct val="90000"/>
              </a:lnSpc>
              <a:spcBef>
                <a:spcPts val="2400"/>
              </a:spcBef>
            </a:pPr>
            <a:r>
              <a:rPr lang="en-US" dirty="0">
                <a:latin typeface="Liberation Sans"/>
              </a:rPr>
              <a:t>Experiments test hypotheses to discover new knowledge by investigating the relationship between two or more variables</a:t>
            </a:r>
          </a:p>
          <a:p>
            <a:pPr eaLnBrk="1" hangingPunct="1">
              <a:lnSpc>
                <a:spcPct val="90000"/>
              </a:lnSpc>
            </a:pPr>
            <a:endParaRPr lang="en-US" sz="28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44</a:t>
            </a:fld>
            <a:endParaRPr lang="en-GB" dirty="0">
              <a:solidFill>
                <a:srgbClr val="77A363">
                  <a:lumMod val="75000"/>
                </a:srgbClr>
              </a:solidFill>
            </a:endParaRPr>
          </a:p>
        </p:txBody>
      </p:sp>
    </p:spTree>
    <p:extLst>
      <p:ext uri="{BB962C8B-B14F-4D97-AF65-F5344CB8AC3E}">
        <p14:creationId xmlns:p14="http://schemas.microsoft.com/office/powerpoint/2010/main" val="1413894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idx="4294967295"/>
          </p:nvPr>
        </p:nvSpPr>
        <p:spPr>
          <a:xfrm>
            <a:off x="1981200" y="152400"/>
            <a:ext cx="8229600" cy="990600"/>
          </a:xfrm>
        </p:spPr>
        <p:txBody>
          <a:bodyPr/>
          <a:lstStyle/>
          <a:p>
            <a:pPr eaLnBrk="1" hangingPunct="1"/>
            <a:r>
              <a:rPr lang="en-US" dirty="0">
                <a:latin typeface="Liberation Sans"/>
              </a:rPr>
              <a:t>Usability testing and research</a:t>
            </a:r>
          </a:p>
        </p:txBody>
      </p:sp>
      <p:sp>
        <p:nvSpPr>
          <p:cNvPr id="21509" name="Rectangle 3"/>
          <p:cNvSpPr>
            <a:spLocks noGrp="1" noChangeArrowheads="1"/>
          </p:cNvSpPr>
          <p:nvPr>
            <p:ph type="body" sz="half" idx="4294967295"/>
          </p:nvPr>
        </p:nvSpPr>
        <p:spPr>
          <a:xfrm>
            <a:off x="1981200" y="1219200"/>
            <a:ext cx="4042792" cy="4876800"/>
          </a:xfrm>
          <a:ln w="25400">
            <a:solidFill>
              <a:schemeClr val="accent6">
                <a:lumMod val="75000"/>
              </a:schemeClr>
            </a:solidFill>
            <a:miter lim="800000"/>
            <a:headEnd/>
            <a:tailEnd/>
          </a:ln>
        </p:spPr>
        <p:txBody>
          <a:bodyPr/>
          <a:lstStyle/>
          <a:p>
            <a:pPr eaLnBrk="1" hangingPunct="1">
              <a:lnSpc>
                <a:spcPct val="90000"/>
              </a:lnSpc>
              <a:buFontTx/>
              <a:buNone/>
            </a:pPr>
            <a:r>
              <a:rPr lang="en-US" sz="2400" b="1" dirty="0">
                <a:latin typeface="Liberation Sans"/>
              </a:rPr>
              <a:t>Usability Testing</a:t>
            </a:r>
            <a:endParaRPr lang="en-US" sz="2400" dirty="0">
              <a:latin typeface="Liberation Sans"/>
            </a:endParaRPr>
          </a:p>
          <a:p>
            <a:pPr>
              <a:lnSpc>
                <a:spcPct val="90000"/>
              </a:lnSpc>
              <a:spcBef>
                <a:spcPts val="900"/>
              </a:spcBef>
            </a:pPr>
            <a:r>
              <a:rPr lang="en-US" sz="2400" dirty="0">
                <a:latin typeface="Liberation Sans"/>
              </a:rPr>
              <a:t>Improve products</a:t>
            </a:r>
          </a:p>
          <a:p>
            <a:pPr>
              <a:lnSpc>
                <a:spcPct val="90000"/>
              </a:lnSpc>
              <a:spcBef>
                <a:spcPts val="1200"/>
              </a:spcBef>
            </a:pPr>
            <a:r>
              <a:rPr lang="en-US" sz="2400" dirty="0">
                <a:latin typeface="Liberation Sans"/>
              </a:rPr>
              <a:t>Few participants</a:t>
            </a:r>
          </a:p>
          <a:p>
            <a:pPr>
              <a:lnSpc>
                <a:spcPct val="90000"/>
              </a:lnSpc>
              <a:spcBef>
                <a:spcPts val="1200"/>
              </a:spcBef>
            </a:pPr>
            <a:r>
              <a:rPr lang="en-US" sz="2400" dirty="0">
                <a:latin typeface="Liberation Sans"/>
              </a:rPr>
              <a:t>Results inform design</a:t>
            </a:r>
          </a:p>
          <a:p>
            <a:pPr>
              <a:lnSpc>
                <a:spcPct val="90000"/>
              </a:lnSpc>
              <a:spcBef>
                <a:spcPts val="1200"/>
              </a:spcBef>
            </a:pPr>
            <a:r>
              <a:rPr lang="en-US" sz="2400" dirty="0">
                <a:latin typeface="Liberation Sans"/>
              </a:rPr>
              <a:t>Usually not completely replicable</a:t>
            </a:r>
          </a:p>
          <a:p>
            <a:pPr>
              <a:lnSpc>
                <a:spcPct val="90000"/>
              </a:lnSpc>
              <a:spcBef>
                <a:spcPts val="1200"/>
              </a:spcBef>
            </a:pPr>
            <a:r>
              <a:rPr lang="en-US" sz="2400" dirty="0">
                <a:latin typeface="Liberation Sans"/>
              </a:rPr>
              <a:t>Conditions controlled as much as possible</a:t>
            </a:r>
          </a:p>
          <a:p>
            <a:pPr>
              <a:lnSpc>
                <a:spcPct val="90000"/>
              </a:lnSpc>
              <a:spcBef>
                <a:spcPts val="1200"/>
              </a:spcBef>
            </a:pPr>
            <a:r>
              <a:rPr lang="en-US" sz="2400" dirty="0">
                <a:latin typeface="Liberation Sans"/>
              </a:rPr>
              <a:t>Procedure planned</a:t>
            </a:r>
          </a:p>
          <a:p>
            <a:pPr>
              <a:lnSpc>
                <a:spcPct val="90000"/>
              </a:lnSpc>
              <a:spcBef>
                <a:spcPts val="1200"/>
              </a:spcBef>
            </a:pPr>
            <a:r>
              <a:rPr lang="en-US" sz="2400" dirty="0">
                <a:latin typeface="Liberation Sans"/>
              </a:rPr>
              <a:t>Results reported to developers</a:t>
            </a:r>
          </a:p>
        </p:txBody>
      </p:sp>
      <p:sp>
        <p:nvSpPr>
          <p:cNvPr id="21510" name="Rectangle 4"/>
          <p:cNvSpPr>
            <a:spLocks noGrp="1" noChangeArrowheads="1"/>
          </p:cNvSpPr>
          <p:nvPr>
            <p:ph type="body" sz="half" idx="4294967295"/>
          </p:nvPr>
        </p:nvSpPr>
        <p:spPr>
          <a:xfrm>
            <a:off x="6168008" y="1219200"/>
            <a:ext cx="4042792" cy="4876800"/>
          </a:xfrm>
          <a:ln w="25400">
            <a:solidFill>
              <a:schemeClr val="accent6">
                <a:lumMod val="75000"/>
              </a:schemeClr>
            </a:solidFill>
            <a:miter lim="800000"/>
            <a:headEnd/>
            <a:tailEnd/>
          </a:ln>
        </p:spPr>
        <p:txBody>
          <a:bodyPr>
            <a:normAutofit/>
          </a:bodyPr>
          <a:lstStyle/>
          <a:p>
            <a:pPr eaLnBrk="1" hangingPunct="1">
              <a:lnSpc>
                <a:spcPct val="90000"/>
              </a:lnSpc>
              <a:buFontTx/>
              <a:buNone/>
            </a:pPr>
            <a:r>
              <a:rPr lang="en-US" sz="2400" b="1" dirty="0">
                <a:latin typeface="Liberation Sans"/>
              </a:rPr>
              <a:t>Experiments for Research</a:t>
            </a:r>
            <a:endParaRPr lang="en-US" sz="2400" dirty="0">
              <a:latin typeface="Liberation Sans"/>
            </a:endParaRPr>
          </a:p>
          <a:p>
            <a:pPr>
              <a:lnSpc>
                <a:spcPct val="90000"/>
              </a:lnSpc>
              <a:spcBef>
                <a:spcPts val="900"/>
              </a:spcBef>
            </a:pPr>
            <a:r>
              <a:rPr lang="en-US" sz="2400" dirty="0">
                <a:latin typeface="Liberation Sans"/>
              </a:rPr>
              <a:t>Discover knowledge</a:t>
            </a:r>
          </a:p>
          <a:p>
            <a:pPr>
              <a:lnSpc>
                <a:spcPct val="90000"/>
              </a:lnSpc>
              <a:spcBef>
                <a:spcPts val="1200"/>
              </a:spcBef>
            </a:pPr>
            <a:r>
              <a:rPr lang="en-US" sz="2400" dirty="0">
                <a:latin typeface="Liberation Sans"/>
              </a:rPr>
              <a:t>Many participants</a:t>
            </a:r>
          </a:p>
          <a:p>
            <a:pPr>
              <a:lnSpc>
                <a:spcPct val="90000"/>
              </a:lnSpc>
              <a:spcBef>
                <a:spcPts val="1200"/>
              </a:spcBef>
            </a:pPr>
            <a:r>
              <a:rPr lang="en-US" sz="2400" dirty="0">
                <a:latin typeface="Liberation Sans"/>
              </a:rPr>
              <a:t>Results validated statistically </a:t>
            </a:r>
          </a:p>
          <a:p>
            <a:pPr>
              <a:lnSpc>
                <a:spcPct val="90000"/>
              </a:lnSpc>
              <a:spcBef>
                <a:spcPts val="1200"/>
              </a:spcBef>
            </a:pPr>
            <a:r>
              <a:rPr lang="en-US" sz="2400" dirty="0">
                <a:latin typeface="Liberation Sans"/>
              </a:rPr>
              <a:t>Must be replicable</a:t>
            </a:r>
          </a:p>
          <a:p>
            <a:pPr>
              <a:lnSpc>
                <a:spcPct val="90000"/>
              </a:lnSpc>
              <a:spcBef>
                <a:spcPts val="1200"/>
              </a:spcBef>
            </a:pPr>
            <a:r>
              <a:rPr lang="en-US" sz="2400" dirty="0">
                <a:latin typeface="Liberation Sans"/>
              </a:rPr>
              <a:t>Strongly controlled conditions</a:t>
            </a:r>
          </a:p>
          <a:p>
            <a:pPr>
              <a:lnSpc>
                <a:spcPct val="90000"/>
              </a:lnSpc>
              <a:spcBef>
                <a:spcPts val="1200"/>
              </a:spcBef>
            </a:pPr>
            <a:r>
              <a:rPr lang="en-US" sz="2400" dirty="0">
                <a:latin typeface="Liberation Sans"/>
              </a:rPr>
              <a:t>Experimental design</a:t>
            </a:r>
          </a:p>
          <a:p>
            <a:pPr>
              <a:lnSpc>
                <a:spcPct val="90000"/>
              </a:lnSpc>
              <a:spcBef>
                <a:spcPts val="1200"/>
              </a:spcBef>
            </a:pPr>
            <a:r>
              <a:rPr lang="en-US" sz="2400" dirty="0">
                <a:latin typeface="Liberation Sans"/>
              </a:rPr>
              <a:t>Scientific report to scientific community</a:t>
            </a:r>
          </a:p>
          <a:p>
            <a:pPr eaLnBrk="1" hangingPunct="1">
              <a:lnSpc>
                <a:spcPct val="90000"/>
              </a:lnSpc>
            </a:pPr>
            <a:endParaRPr lang="en-US" sz="24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45</a:t>
            </a:fld>
            <a:endParaRPr lang="en-GB" dirty="0">
              <a:solidFill>
                <a:srgbClr val="77A363">
                  <a:lumMod val="75000"/>
                </a:srgbClr>
              </a:solidFill>
            </a:endParaRPr>
          </a:p>
        </p:txBody>
      </p:sp>
    </p:spTree>
    <p:extLst>
      <p:ext uri="{BB962C8B-B14F-4D97-AF65-F5344CB8AC3E}">
        <p14:creationId xmlns:p14="http://schemas.microsoft.com/office/powerpoint/2010/main" val="3874387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idx="4294967295"/>
          </p:nvPr>
        </p:nvSpPr>
        <p:spPr>
          <a:xfrm>
            <a:off x="2207568" y="116632"/>
            <a:ext cx="7772400" cy="1080120"/>
          </a:xfrm>
        </p:spPr>
        <p:txBody>
          <a:bodyPr/>
          <a:lstStyle/>
          <a:p>
            <a:pPr eaLnBrk="1" hangingPunct="1"/>
            <a:r>
              <a:rPr lang="en-US" dirty="0">
                <a:latin typeface="Liberation Sans"/>
              </a:rPr>
              <a:t>Experiments</a:t>
            </a:r>
          </a:p>
        </p:txBody>
      </p:sp>
      <p:sp>
        <p:nvSpPr>
          <p:cNvPr id="38917" name="Rectangle 3"/>
          <p:cNvSpPr>
            <a:spLocks noGrp="1" noChangeArrowheads="1"/>
          </p:cNvSpPr>
          <p:nvPr>
            <p:ph type="body" idx="4294967295"/>
          </p:nvPr>
        </p:nvSpPr>
        <p:spPr>
          <a:xfrm>
            <a:off x="2289920" y="1268760"/>
            <a:ext cx="7920880" cy="4968552"/>
          </a:xfrm>
        </p:spPr>
        <p:txBody>
          <a:bodyPr>
            <a:normAutofit/>
          </a:bodyPr>
          <a:lstStyle/>
          <a:p>
            <a:pPr eaLnBrk="1" hangingPunct="1"/>
            <a:r>
              <a:rPr lang="en-US" sz="2800" dirty="0">
                <a:latin typeface="Liberation Sans"/>
              </a:rPr>
              <a:t>Test hypothesis</a:t>
            </a:r>
          </a:p>
          <a:p>
            <a:pPr>
              <a:spcBef>
                <a:spcPts val="900"/>
              </a:spcBef>
            </a:pPr>
            <a:r>
              <a:rPr lang="en-US" sz="2800" dirty="0">
                <a:latin typeface="Liberation Sans"/>
              </a:rPr>
              <a:t>Predict the relationship between two or more variables</a:t>
            </a:r>
          </a:p>
          <a:p>
            <a:pPr>
              <a:spcBef>
                <a:spcPts val="900"/>
              </a:spcBef>
            </a:pPr>
            <a:r>
              <a:rPr lang="en-US" sz="2800" dirty="0">
                <a:latin typeface="Liberation Sans"/>
              </a:rPr>
              <a:t>Independent variable is manipulated by the researcher</a:t>
            </a:r>
          </a:p>
          <a:p>
            <a:pPr>
              <a:spcBef>
                <a:spcPts val="900"/>
              </a:spcBef>
            </a:pPr>
            <a:r>
              <a:rPr lang="en-US" sz="2800" dirty="0">
                <a:latin typeface="Liberation Sans"/>
              </a:rPr>
              <a:t>Dependent variable influenced by the independent variable</a:t>
            </a:r>
          </a:p>
          <a:p>
            <a:pPr>
              <a:spcBef>
                <a:spcPts val="900"/>
              </a:spcBef>
            </a:pPr>
            <a:r>
              <a:rPr lang="en-US" sz="2800" dirty="0">
                <a:latin typeface="Liberation Sans"/>
              </a:rPr>
              <a:t>Typical experimental designs have one or two independent variables</a:t>
            </a:r>
          </a:p>
          <a:p>
            <a:pPr>
              <a:spcBef>
                <a:spcPts val="900"/>
              </a:spcBef>
            </a:pPr>
            <a:r>
              <a:rPr lang="en-US" sz="2800" dirty="0">
                <a:latin typeface="Liberation Sans"/>
              </a:rPr>
              <a:t>Validated statistically and replicable</a:t>
            </a:r>
          </a:p>
          <a:p>
            <a:pPr eaLnBrk="1" hangingPunct="1"/>
            <a:endParaRPr lang="en-US" sz="28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46</a:t>
            </a:fld>
            <a:endParaRPr lang="en-GB" dirty="0">
              <a:solidFill>
                <a:srgbClr val="77A363">
                  <a:lumMod val="75000"/>
                </a:srgbClr>
              </a:solidFill>
            </a:endParaRPr>
          </a:p>
        </p:txBody>
      </p:sp>
    </p:spTree>
    <p:extLst>
      <p:ext uri="{BB962C8B-B14F-4D97-AF65-F5344CB8AC3E}">
        <p14:creationId xmlns:p14="http://schemas.microsoft.com/office/powerpoint/2010/main" val="27736263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idx="4294967295"/>
          </p:nvPr>
        </p:nvSpPr>
        <p:spPr>
          <a:xfrm>
            <a:off x="2133600" y="228600"/>
            <a:ext cx="7772400" cy="1143000"/>
          </a:xfrm>
        </p:spPr>
        <p:txBody>
          <a:bodyPr/>
          <a:lstStyle/>
          <a:p>
            <a:pPr eaLnBrk="1" hangingPunct="1"/>
            <a:r>
              <a:rPr lang="en-US" dirty="0">
                <a:latin typeface="Liberation Sans"/>
              </a:rPr>
              <a:t>Experimental designs</a:t>
            </a:r>
          </a:p>
        </p:txBody>
      </p:sp>
      <p:sp>
        <p:nvSpPr>
          <p:cNvPr id="40965" name="Rectangle 3"/>
          <p:cNvSpPr>
            <a:spLocks noGrp="1" noChangeArrowheads="1"/>
          </p:cNvSpPr>
          <p:nvPr>
            <p:ph type="body" idx="4294967295"/>
          </p:nvPr>
        </p:nvSpPr>
        <p:spPr>
          <a:xfrm>
            <a:off x="1991544" y="1556792"/>
            <a:ext cx="8229600" cy="4648200"/>
          </a:xfrm>
        </p:spPr>
        <p:txBody>
          <a:bodyPr>
            <a:normAutofit/>
          </a:bodyPr>
          <a:lstStyle/>
          <a:p>
            <a:pPr marL="0" indent="0">
              <a:buNone/>
            </a:pPr>
            <a:r>
              <a:rPr lang="en-US" b="1" dirty="0">
                <a:latin typeface="Liberation Sans"/>
              </a:rPr>
              <a:t>Different participants (between subjects)</a:t>
            </a:r>
            <a:r>
              <a:rPr lang="en-US" dirty="0">
                <a:latin typeface="Liberation Sans"/>
              </a:rPr>
              <a:t>:</a:t>
            </a:r>
            <a:r>
              <a:rPr lang="en-US" sz="2800" dirty="0">
                <a:latin typeface="Liberation Sans"/>
              </a:rPr>
              <a:t> </a:t>
            </a:r>
          </a:p>
          <a:p>
            <a:pPr marL="228600" indent="0">
              <a:buNone/>
            </a:pPr>
            <a:r>
              <a:rPr lang="en-US" sz="2800" dirty="0">
                <a:latin typeface="Liberation Sans"/>
              </a:rPr>
              <a:t>Single group of participants is allocated randomly to the experimental conditions</a:t>
            </a:r>
          </a:p>
          <a:p>
            <a:pPr marL="0" indent="0">
              <a:spcBef>
                <a:spcPts val="2400"/>
              </a:spcBef>
              <a:buNone/>
            </a:pPr>
            <a:r>
              <a:rPr lang="en-US" b="1" dirty="0">
                <a:latin typeface="Liberation Sans"/>
              </a:rPr>
              <a:t>Same participants (within subjects)</a:t>
            </a:r>
            <a:r>
              <a:rPr lang="en-US" dirty="0">
                <a:latin typeface="Liberation Sans"/>
              </a:rPr>
              <a:t>:</a:t>
            </a:r>
          </a:p>
          <a:p>
            <a:pPr marL="228600" indent="0">
              <a:buNone/>
            </a:pPr>
            <a:r>
              <a:rPr lang="en-US" sz="2800" dirty="0">
                <a:latin typeface="Liberation Sans"/>
              </a:rPr>
              <a:t>All participants appear in both conditions</a:t>
            </a:r>
          </a:p>
          <a:p>
            <a:pPr marL="0" indent="0">
              <a:spcBef>
                <a:spcPts val="2400"/>
              </a:spcBef>
              <a:buNone/>
            </a:pPr>
            <a:r>
              <a:rPr lang="en-US" b="1" dirty="0">
                <a:latin typeface="Liberation Sans"/>
              </a:rPr>
              <a:t>Matched participants (pairwise)</a:t>
            </a:r>
            <a:r>
              <a:rPr lang="en-US" dirty="0">
                <a:latin typeface="Liberation Sans"/>
              </a:rPr>
              <a:t>:</a:t>
            </a:r>
          </a:p>
          <a:p>
            <a:pPr marL="228600" indent="0">
              <a:buNone/>
            </a:pPr>
            <a:r>
              <a:rPr lang="en-US" sz="2800" dirty="0">
                <a:latin typeface="Liberation Sans"/>
              </a:rPr>
              <a:t>Participants are matched in pairs, for example, based on expertise, gender, and so on</a:t>
            </a:r>
            <a:r>
              <a:rPr lang="en-US" dirty="0">
                <a:latin typeface="Liberation Sans"/>
              </a:rPr>
              <a:t> </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47</a:t>
            </a:fld>
            <a:endParaRPr lang="en-GB" dirty="0">
              <a:solidFill>
                <a:srgbClr val="77A363">
                  <a:lumMod val="75000"/>
                </a:srgbClr>
              </a:solidFill>
            </a:endParaRPr>
          </a:p>
        </p:txBody>
      </p:sp>
    </p:spTree>
    <p:extLst>
      <p:ext uri="{BB962C8B-B14F-4D97-AF65-F5344CB8AC3E}">
        <p14:creationId xmlns:p14="http://schemas.microsoft.com/office/powerpoint/2010/main" val="2962837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ChangeArrowheads="1"/>
          </p:cNvSpPr>
          <p:nvPr>
            <p:ph type="title" idx="4294967295"/>
          </p:nvPr>
        </p:nvSpPr>
        <p:spPr>
          <a:xfrm>
            <a:off x="2209800" y="228600"/>
            <a:ext cx="7772400" cy="1143000"/>
          </a:xfrm>
        </p:spPr>
        <p:txBody>
          <a:bodyPr>
            <a:normAutofit fontScale="90000"/>
          </a:bodyPr>
          <a:lstStyle/>
          <a:p>
            <a:pPr eaLnBrk="1" hangingPunct="1"/>
            <a:r>
              <a:rPr lang="en-US" dirty="0">
                <a:latin typeface="Liberation Sans"/>
              </a:rPr>
              <a:t>Different, same, matched participant design</a:t>
            </a:r>
          </a:p>
        </p:txBody>
      </p:sp>
      <p:graphicFrame>
        <p:nvGraphicFramePr>
          <p:cNvPr id="43010" name="Object 2" descr="Table depicting advtanges and disadvatages of diifferent, same, and matched participant design"/>
          <p:cNvGraphicFramePr>
            <a:graphicFrameLocks noGrp="1" noChangeAspect="1"/>
          </p:cNvGraphicFramePr>
          <p:nvPr>
            <p:ph type="tbl" idx="4294967295"/>
            <p:extLst/>
          </p:nvPr>
        </p:nvGraphicFramePr>
        <p:xfrm>
          <a:off x="2144092" y="1700808"/>
          <a:ext cx="7480300" cy="4787900"/>
        </p:xfrm>
        <a:graphic>
          <a:graphicData uri="http://schemas.openxmlformats.org/presentationml/2006/ole">
            <mc:AlternateContent xmlns:mc="http://schemas.openxmlformats.org/markup-compatibility/2006">
              <mc:Choice xmlns:v="urn:schemas-microsoft-com:vml" Requires="v">
                <p:oleObj spid="_x0000_s1035" name="Document" r:id="rId4" imgW="7480300" imgH="4787900" progId="Word.Document.8">
                  <p:embed/>
                </p:oleObj>
              </mc:Choice>
              <mc:Fallback>
                <p:oleObj name="Document" r:id="rId4" imgW="7480300" imgH="4787900" progId="Word.Document.8">
                  <p:embed/>
                  <p:pic>
                    <p:nvPicPr>
                      <p:cNvPr id="43010" name="Object 2" descr="Table depicting advtanges and disadvatages of diifferent, same, and matched participant design"/>
                      <p:cNvPicPr>
                        <a:picLocks noChangeAspect="1" noChangeArrowheads="1"/>
                      </p:cNvPicPr>
                      <p:nvPr/>
                    </p:nvPicPr>
                    <p:blipFill>
                      <a:blip r:embed="rId5"/>
                      <a:srcRect/>
                      <a:stretch>
                        <a:fillRect/>
                      </a:stretch>
                    </p:blipFill>
                    <p:spPr bwMode="auto">
                      <a:xfrm>
                        <a:off x="2144092" y="1700808"/>
                        <a:ext cx="7480300" cy="4787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Straight Connector 5"/>
          <p:cNvCxnSpPr/>
          <p:nvPr/>
        </p:nvCxnSpPr>
        <p:spPr>
          <a:xfrm>
            <a:off x="9624392" y="1700808"/>
            <a:ext cx="0" cy="42484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48</a:t>
            </a:fld>
            <a:endParaRPr lang="en-GB" dirty="0">
              <a:solidFill>
                <a:srgbClr val="77A363">
                  <a:lumMod val="75000"/>
                </a:srgbClr>
              </a:solidFill>
            </a:endParaRPr>
          </a:p>
        </p:txBody>
      </p:sp>
    </p:spTree>
    <p:extLst>
      <p:ext uri="{BB962C8B-B14F-4D97-AF65-F5344CB8AC3E}">
        <p14:creationId xmlns:p14="http://schemas.microsoft.com/office/powerpoint/2010/main" val="1291289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idx="4294967295"/>
          </p:nvPr>
        </p:nvSpPr>
        <p:spPr>
          <a:xfrm>
            <a:off x="2209800" y="304800"/>
            <a:ext cx="7772400" cy="1143000"/>
          </a:xfrm>
        </p:spPr>
        <p:txBody>
          <a:bodyPr/>
          <a:lstStyle/>
          <a:p>
            <a:pPr eaLnBrk="1" hangingPunct="1"/>
            <a:r>
              <a:rPr lang="en-US" dirty="0">
                <a:latin typeface="Liberation Sans"/>
              </a:rPr>
              <a:t>Field studies</a:t>
            </a:r>
          </a:p>
        </p:txBody>
      </p:sp>
      <p:sp>
        <p:nvSpPr>
          <p:cNvPr id="45061" name="Rectangle 3"/>
          <p:cNvSpPr>
            <a:spLocks noGrp="1" noChangeArrowheads="1"/>
          </p:cNvSpPr>
          <p:nvPr>
            <p:ph type="body" idx="4294967295"/>
          </p:nvPr>
        </p:nvSpPr>
        <p:spPr>
          <a:xfrm>
            <a:off x="1981200" y="1447800"/>
            <a:ext cx="8382000" cy="4717504"/>
          </a:xfrm>
        </p:spPr>
        <p:txBody>
          <a:bodyPr>
            <a:normAutofit fontScale="92500" lnSpcReduction="10000"/>
          </a:bodyPr>
          <a:lstStyle/>
          <a:p>
            <a:pPr eaLnBrk="1" hangingPunct="1">
              <a:lnSpc>
                <a:spcPct val="90000"/>
              </a:lnSpc>
            </a:pPr>
            <a:r>
              <a:rPr lang="en-US" dirty="0">
                <a:latin typeface="Liberation Sans"/>
              </a:rPr>
              <a:t>Field studies are done in natural settings</a:t>
            </a:r>
            <a:endParaRPr lang="en-US" sz="900" dirty="0">
              <a:latin typeface="Liberation Sans"/>
            </a:endParaRPr>
          </a:p>
          <a:p>
            <a:pPr>
              <a:lnSpc>
                <a:spcPct val="90000"/>
              </a:lnSpc>
              <a:spcBef>
                <a:spcPts val="1200"/>
              </a:spcBef>
            </a:pPr>
            <a:r>
              <a:rPr lang="en-US" dirty="0">
                <a:latin typeface="Liberation Sans"/>
              </a:rPr>
              <a:t>“In the wild” is a term for prototypes being used freely in natural settings</a:t>
            </a:r>
            <a:endParaRPr lang="en-US" sz="900" dirty="0">
              <a:latin typeface="Liberation Sans"/>
            </a:endParaRPr>
          </a:p>
          <a:p>
            <a:pPr>
              <a:lnSpc>
                <a:spcPct val="90000"/>
              </a:lnSpc>
              <a:spcBef>
                <a:spcPts val="1200"/>
              </a:spcBef>
            </a:pPr>
            <a:r>
              <a:rPr lang="en-US" dirty="0">
                <a:latin typeface="Liberation Sans"/>
              </a:rPr>
              <a:t>Seek to understand what users do naturally and how technology impacts them</a:t>
            </a:r>
            <a:endParaRPr lang="en-US" sz="900" dirty="0">
              <a:latin typeface="Liberation Sans"/>
            </a:endParaRPr>
          </a:p>
          <a:p>
            <a:pPr>
              <a:lnSpc>
                <a:spcPct val="90000"/>
              </a:lnSpc>
              <a:spcBef>
                <a:spcPts val="1200"/>
              </a:spcBef>
            </a:pPr>
            <a:r>
              <a:rPr lang="en-US" dirty="0">
                <a:latin typeface="Liberation Sans"/>
              </a:rPr>
              <a:t>Field studies are used in product design to:</a:t>
            </a:r>
          </a:p>
          <a:p>
            <a:pPr eaLnBrk="1" hangingPunct="1">
              <a:lnSpc>
                <a:spcPct val="90000"/>
              </a:lnSpc>
            </a:pPr>
            <a:endParaRPr lang="en-US" sz="700" dirty="0">
              <a:latin typeface="Liberation Sans"/>
            </a:endParaRPr>
          </a:p>
          <a:p>
            <a:pPr lvl="1">
              <a:lnSpc>
                <a:spcPct val="90000"/>
              </a:lnSpc>
              <a:buFont typeface="Wingdings" pitchFamily="2" charset="2"/>
              <a:buChar char="§"/>
            </a:pPr>
            <a:r>
              <a:rPr lang="en-US" dirty="0">
                <a:solidFill>
                  <a:schemeClr val="tx1"/>
                </a:solidFill>
                <a:latin typeface="Liberation Sans"/>
              </a:rPr>
              <a:t>Identify opportunities for new technology</a:t>
            </a:r>
          </a:p>
          <a:p>
            <a:pPr lvl="1">
              <a:lnSpc>
                <a:spcPct val="90000"/>
              </a:lnSpc>
              <a:spcBef>
                <a:spcPts val="900"/>
              </a:spcBef>
              <a:buFont typeface="Wingdings" pitchFamily="2" charset="2"/>
              <a:buChar char="§"/>
            </a:pPr>
            <a:r>
              <a:rPr lang="en-US" dirty="0">
                <a:solidFill>
                  <a:schemeClr val="tx1"/>
                </a:solidFill>
                <a:latin typeface="Liberation Sans"/>
              </a:rPr>
              <a:t>Determine design requirements</a:t>
            </a:r>
          </a:p>
          <a:p>
            <a:pPr lvl="1">
              <a:lnSpc>
                <a:spcPct val="90000"/>
              </a:lnSpc>
              <a:spcBef>
                <a:spcPts val="900"/>
              </a:spcBef>
              <a:buFont typeface="Wingdings" pitchFamily="2" charset="2"/>
              <a:buChar char="§"/>
            </a:pPr>
            <a:r>
              <a:rPr lang="en-US" dirty="0">
                <a:solidFill>
                  <a:schemeClr val="tx1"/>
                </a:solidFill>
                <a:latin typeface="Liberation Sans"/>
              </a:rPr>
              <a:t>Decide how best to introduce new technology</a:t>
            </a:r>
          </a:p>
          <a:p>
            <a:pPr lvl="1">
              <a:lnSpc>
                <a:spcPct val="90000"/>
              </a:lnSpc>
              <a:spcBef>
                <a:spcPts val="900"/>
              </a:spcBef>
              <a:buFont typeface="Wingdings" pitchFamily="2" charset="2"/>
              <a:buChar char="§"/>
            </a:pPr>
            <a:r>
              <a:rPr lang="en-US" dirty="0">
                <a:solidFill>
                  <a:schemeClr val="tx1"/>
                </a:solidFill>
                <a:latin typeface="Liberation Sans"/>
              </a:rPr>
              <a:t>Evaluate technology in use</a:t>
            </a:r>
            <a:endParaRPr lang="en-US" sz="32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49</a:t>
            </a:fld>
            <a:endParaRPr lang="en-GB" dirty="0">
              <a:solidFill>
                <a:srgbClr val="77A363">
                  <a:lumMod val="75000"/>
                </a:srgbClr>
              </a:solidFill>
            </a:endParaRPr>
          </a:p>
        </p:txBody>
      </p:sp>
    </p:spTree>
    <p:extLst>
      <p:ext uri="{BB962C8B-B14F-4D97-AF65-F5344CB8AC3E}">
        <p14:creationId xmlns:p14="http://schemas.microsoft.com/office/powerpoint/2010/main" val="4690921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idx="4294967295"/>
          </p:nvPr>
        </p:nvSpPr>
        <p:spPr>
          <a:xfrm>
            <a:off x="2423592" y="260648"/>
            <a:ext cx="7344816" cy="1143000"/>
          </a:xfrm>
        </p:spPr>
        <p:txBody>
          <a:bodyPr>
            <a:normAutofit fontScale="90000"/>
          </a:bodyPr>
          <a:lstStyle/>
          <a:p>
            <a:pPr eaLnBrk="1" hangingPunct="1"/>
            <a:r>
              <a:rPr lang="en-US" dirty="0">
                <a:latin typeface="Liberation Sans"/>
              </a:rPr>
              <a:t>A field study of a pain-monitoring device</a:t>
            </a:r>
          </a:p>
        </p:txBody>
      </p:sp>
      <p:sp>
        <p:nvSpPr>
          <p:cNvPr id="45061" name="Rectangle 3"/>
          <p:cNvSpPr>
            <a:spLocks noGrp="1" noChangeArrowheads="1"/>
          </p:cNvSpPr>
          <p:nvPr>
            <p:ph type="body" idx="4294967295"/>
          </p:nvPr>
        </p:nvSpPr>
        <p:spPr>
          <a:xfrm>
            <a:off x="1981200" y="1700808"/>
            <a:ext cx="8382000" cy="4536504"/>
          </a:xfrm>
        </p:spPr>
        <p:txBody>
          <a:bodyPr>
            <a:normAutofit fontScale="92500"/>
          </a:bodyPr>
          <a:lstStyle/>
          <a:p>
            <a:pPr eaLnBrk="1" hangingPunct="1">
              <a:lnSpc>
                <a:spcPct val="90000"/>
              </a:lnSpc>
            </a:pPr>
            <a:r>
              <a:rPr lang="en-US" sz="2800" dirty="0">
                <a:latin typeface="Liberation Sans"/>
              </a:rPr>
              <a:t>Monitoring patients’ pain is a known challenge for physicians</a:t>
            </a:r>
          </a:p>
          <a:p>
            <a:pPr>
              <a:lnSpc>
                <a:spcPct val="90000"/>
              </a:lnSpc>
              <a:spcBef>
                <a:spcPts val="800"/>
              </a:spcBef>
            </a:pPr>
            <a:r>
              <a:rPr lang="en-US" sz="2800" dirty="0">
                <a:latin typeface="Liberation Sans"/>
              </a:rPr>
              <a:t>Goal of the study was to evaluate the use of a pain-monitoring device for use after ambulatory surgery</a:t>
            </a:r>
          </a:p>
          <a:p>
            <a:pPr>
              <a:lnSpc>
                <a:spcPct val="90000"/>
              </a:lnSpc>
              <a:spcBef>
                <a:spcPts val="800"/>
              </a:spcBef>
            </a:pPr>
            <a:r>
              <a:rPr lang="en-US" sz="2800" dirty="0">
                <a:latin typeface="Liberation Sans"/>
              </a:rPr>
              <a:t>Painpad is a keypad device </a:t>
            </a:r>
          </a:p>
          <a:p>
            <a:pPr>
              <a:lnSpc>
                <a:spcPct val="90000"/>
              </a:lnSpc>
              <a:spcBef>
                <a:spcPts val="800"/>
              </a:spcBef>
            </a:pPr>
            <a:r>
              <a:rPr lang="en-US" sz="2800" dirty="0">
                <a:latin typeface="Liberation Sans"/>
              </a:rPr>
              <a:t>It was usability tested extensively in the lab before brought into two hospitals</a:t>
            </a:r>
          </a:p>
          <a:p>
            <a:pPr>
              <a:lnSpc>
                <a:spcPct val="90000"/>
              </a:lnSpc>
              <a:spcBef>
                <a:spcPts val="800"/>
              </a:spcBef>
            </a:pPr>
            <a:r>
              <a:rPr lang="en-US" sz="2800" dirty="0">
                <a:latin typeface="Liberation Sans"/>
              </a:rPr>
              <a:t>Goal was to understand how Painpad was used in the natural environment and as part of routines in two UK hospitals.</a:t>
            </a:r>
          </a:p>
          <a:p>
            <a:pPr>
              <a:lnSpc>
                <a:spcPct val="90000"/>
              </a:lnSpc>
              <a:spcBef>
                <a:spcPts val="800"/>
              </a:spcBef>
            </a:pPr>
            <a:r>
              <a:rPr lang="en-US" sz="2800" dirty="0">
                <a:latin typeface="Liberation Sans"/>
              </a:rPr>
              <a:t>How pain-monitoring differed with Painpad</a:t>
            </a:r>
          </a:p>
          <a:p>
            <a:pPr eaLnBrk="1" hangingPunct="1">
              <a:lnSpc>
                <a:spcPct val="90000"/>
              </a:lnSpc>
              <a:buFontTx/>
              <a:buNone/>
            </a:pPr>
            <a:endParaRPr lang="en-US" sz="2400" dirty="0">
              <a:latin typeface="Liberation Sans"/>
            </a:endParaRPr>
          </a:p>
          <a:p>
            <a:pPr eaLnBrk="1" hangingPunct="1">
              <a:lnSpc>
                <a:spcPct val="90000"/>
              </a:lnSpc>
            </a:pPr>
            <a:endParaRPr lang="en-US" sz="2400"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50</a:t>
            </a:fld>
            <a:endParaRPr lang="en-GB" dirty="0">
              <a:solidFill>
                <a:srgbClr val="77A363">
                  <a:lumMod val="75000"/>
                </a:srgbClr>
              </a:solidFill>
            </a:endParaRPr>
          </a:p>
        </p:txBody>
      </p:sp>
    </p:spTree>
    <p:extLst>
      <p:ext uri="{BB962C8B-B14F-4D97-AF65-F5344CB8AC3E}">
        <p14:creationId xmlns:p14="http://schemas.microsoft.com/office/powerpoint/2010/main" val="6635455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itle 1"/>
          <p:cNvSpPr>
            <a:spLocks noGrp="1"/>
          </p:cNvSpPr>
          <p:nvPr>
            <p:ph type="title" idx="4294967295"/>
          </p:nvPr>
        </p:nvSpPr>
        <p:spPr/>
        <p:txBody>
          <a:bodyPr>
            <a:normAutofit/>
          </a:bodyPr>
          <a:lstStyle/>
          <a:p>
            <a:r>
              <a:rPr lang="en-US" dirty="0">
                <a:latin typeface="Liberation Sans"/>
              </a:rPr>
              <a:t>Painpad</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51</a:t>
            </a:fld>
            <a:endParaRPr lang="en-GB" dirty="0">
              <a:solidFill>
                <a:srgbClr val="77A363">
                  <a:lumMod val="75000"/>
                </a:srgbClr>
              </a:solidFill>
            </a:endParaRPr>
          </a:p>
        </p:txBody>
      </p:sp>
      <p:sp>
        <p:nvSpPr>
          <p:cNvPr id="5" name="TextBox 4">
            <a:extLst>
              <a:ext uri="{FF2B5EF4-FFF2-40B4-BE49-F238E27FC236}">
                <a16:creationId xmlns:a16="http://schemas.microsoft.com/office/drawing/2014/main" id="{CE9C6608-985A-0D4C-A9DE-75C2B3B0883B}"/>
              </a:ext>
            </a:extLst>
          </p:cNvPr>
          <p:cNvSpPr txBox="1"/>
          <p:nvPr/>
        </p:nvSpPr>
        <p:spPr>
          <a:xfrm>
            <a:off x="2455373" y="5973334"/>
            <a:ext cx="7296741" cy="369332"/>
          </a:xfrm>
          <a:prstGeom prst="rect">
            <a:avLst/>
          </a:prstGeom>
          <a:noFill/>
        </p:spPr>
        <p:txBody>
          <a:bodyPr wrap="none" rtlCol="0">
            <a:spAutoFit/>
          </a:bodyPr>
          <a:lstStyle/>
          <a:p>
            <a:r>
              <a:rPr lang="en-US" dirty="0">
                <a:solidFill>
                  <a:srgbClr val="000000"/>
                </a:solidFill>
                <a:latin typeface="Calibri"/>
              </a:rPr>
              <a:t>Source: Price et al., 2018. Reproduced with permission of </a:t>
            </a:r>
            <a:r>
              <a:rPr lang="en-US" dirty="0">
                <a:solidFill>
                  <a:srgbClr val="000000"/>
                </a:solidFill>
                <a:latin typeface="Calibri"/>
                <a:hlinkClick r:id="rId2"/>
              </a:rPr>
              <a:t>ACM Publications</a:t>
            </a:r>
            <a:r>
              <a:rPr lang="en-US" dirty="0">
                <a:solidFill>
                  <a:srgbClr val="000000"/>
                </a:solidFill>
                <a:latin typeface="Calibri"/>
              </a:rPr>
              <a:t>.</a:t>
            </a:r>
          </a:p>
        </p:txBody>
      </p:sp>
      <p:pic>
        <p:nvPicPr>
          <p:cNvPr id="7" name="Picture 6" descr="Photo depicts Painpad, a tangible device for inpatient self-logging of pain.">
            <a:extLst>
              <a:ext uri="{FF2B5EF4-FFF2-40B4-BE49-F238E27FC236}">
                <a16:creationId xmlns:a16="http://schemas.microsoft.com/office/drawing/2014/main" id="{6BBDCC09-8995-1B4F-BFCD-42E3C152D9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6732" y="1417639"/>
            <a:ext cx="3934022" cy="3967081"/>
          </a:xfrm>
          <a:prstGeom prst="rect">
            <a:avLst/>
          </a:prstGeom>
        </p:spPr>
      </p:pic>
      <p:sp>
        <p:nvSpPr>
          <p:cNvPr id="8" name="TextBox 7">
            <a:extLst>
              <a:ext uri="{FF2B5EF4-FFF2-40B4-BE49-F238E27FC236}">
                <a16:creationId xmlns:a16="http://schemas.microsoft.com/office/drawing/2014/main" id="{C7623027-42E4-2746-AA17-11AEFADD5746}"/>
              </a:ext>
            </a:extLst>
          </p:cNvPr>
          <p:cNvSpPr txBox="1"/>
          <p:nvPr/>
        </p:nvSpPr>
        <p:spPr>
          <a:xfrm>
            <a:off x="2910096" y="5448195"/>
            <a:ext cx="6371809" cy="461665"/>
          </a:xfrm>
          <a:prstGeom prst="rect">
            <a:avLst/>
          </a:prstGeom>
          <a:noFill/>
        </p:spPr>
        <p:txBody>
          <a:bodyPr wrap="none" rtlCol="0">
            <a:spAutoFit/>
          </a:bodyPr>
          <a:lstStyle/>
          <a:p>
            <a:r>
              <a:rPr lang="en-US" sz="2400" dirty="0">
                <a:solidFill>
                  <a:srgbClr val="000000"/>
                </a:solidFill>
                <a:latin typeface="Calibri"/>
              </a:rPr>
              <a:t>A tangible device for inpatient self-logging of pain</a:t>
            </a:r>
          </a:p>
        </p:txBody>
      </p:sp>
    </p:spTree>
    <p:extLst>
      <p:ext uri="{BB962C8B-B14F-4D97-AF65-F5344CB8AC3E}">
        <p14:creationId xmlns:p14="http://schemas.microsoft.com/office/powerpoint/2010/main" val="40139009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idx="4294967295"/>
          </p:nvPr>
        </p:nvSpPr>
        <p:spPr>
          <a:xfrm>
            <a:off x="1981200" y="274638"/>
            <a:ext cx="8229600" cy="893812"/>
          </a:xfrm>
        </p:spPr>
        <p:txBody>
          <a:bodyPr/>
          <a:lstStyle/>
          <a:p>
            <a:pPr eaLnBrk="1" hangingPunct="1"/>
            <a:r>
              <a:rPr lang="en-US" dirty="0">
                <a:latin typeface="Liberation Sans"/>
              </a:rPr>
              <a:t>Data collection and participants</a:t>
            </a:r>
          </a:p>
        </p:txBody>
      </p:sp>
      <p:sp>
        <p:nvSpPr>
          <p:cNvPr id="47109" name="Rectangle 3"/>
          <p:cNvSpPr>
            <a:spLocks noGrp="1" noChangeArrowheads="1"/>
          </p:cNvSpPr>
          <p:nvPr>
            <p:ph type="body" idx="4294967295"/>
          </p:nvPr>
        </p:nvSpPr>
        <p:spPr>
          <a:xfrm>
            <a:off x="1981200" y="1340768"/>
            <a:ext cx="8229600" cy="4752528"/>
          </a:xfrm>
        </p:spPr>
        <p:txBody>
          <a:bodyPr>
            <a:normAutofit fontScale="55000" lnSpcReduction="20000"/>
          </a:bodyPr>
          <a:lstStyle/>
          <a:p>
            <a:pPr eaLnBrk="1" hangingPunct="1">
              <a:lnSpc>
                <a:spcPct val="120000"/>
              </a:lnSpc>
            </a:pPr>
            <a:r>
              <a:rPr lang="en-US" sz="3800" dirty="0">
                <a:latin typeface="Liberation Sans"/>
              </a:rPr>
              <a:t>Two studies in two hospitals involving 54 people </a:t>
            </a:r>
          </a:p>
          <a:p>
            <a:pPr>
              <a:lnSpc>
                <a:spcPct val="120000"/>
              </a:lnSpc>
              <a:spcBef>
                <a:spcPts val="600"/>
              </a:spcBef>
            </a:pPr>
            <a:r>
              <a:rPr lang="en-US" sz="3800" dirty="0">
                <a:latin typeface="Liberation Sans"/>
              </a:rPr>
              <a:t>13 males, 41 females</a:t>
            </a:r>
          </a:p>
          <a:p>
            <a:pPr>
              <a:lnSpc>
                <a:spcPct val="120000"/>
              </a:lnSpc>
              <a:spcBef>
                <a:spcPts val="600"/>
              </a:spcBef>
            </a:pPr>
            <a:r>
              <a:rPr lang="en-US" sz="3800" dirty="0">
                <a:latin typeface="Liberation Sans"/>
              </a:rPr>
              <a:t>Privacy was a important concern</a:t>
            </a:r>
          </a:p>
          <a:p>
            <a:pPr>
              <a:lnSpc>
                <a:spcPct val="120000"/>
              </a:lnSpc>
              <a:spcBef>
                <a:spcPts val="600"/>
              </a:spcBef>
            </a:pPr>
            <a:r>
              <a:rPr lang="en-US" sz="3800" dirty="0">
                <a:latin typeface="Liberation Sans"/>
              </a:rPr>
              <a:t>Hospital stay ranged from 1-7 days, mean and median age 64.6, 64.5</a:t>
            </a:r>
          </a:p>
          <a:p>
            <a:pPr>
              <a:lnSpc>
                <a:spcPct val="120000"/>
              </a:lnSpc>
              <a:spcBef>
                <a:spcPts val="600"/>
              </a:spcBef>
            </a:pPr>
            <a:r>
              <a:rPr lang="en-US" sz="3800" dirty="0">
                <a:latin typeface="Liberation Sans"/>
              </a:rPr>
              <a:t>Patients given Painpad after surgery and prompted to report pain levels every two hours</a:t>
            </a:r>
          </a:p>
          <a:p>
            <a:pPr>
              <a:lnSpc>
                <a:spcPct val="120000"/>
              </a:lnSpc>
              <a:spcBef>
                <a:spcPts val="600"/>
              </a:spcBef>
            </a:pPr>
            <a:r>
              <a:rPr lang="en-US" sz="3800" dirty="0">
                <a:latin typeface="Liberation Sans"/>
              </a:rPr>
              <a:t>Nurses also collected scores</a:t>
            </a:r>
          </a:p>
          <a:p>
            <a:pPr>
              <a:lnSpc>
                <a:spcPct val="120000"/>
              </a:lnSpc>
              <a:spcBef>
                <a:spcPts val="600"/>
              </a:spcBef>
            </a:pPr>
            <a:r>
              <a:rPr lang="en-US" sz="3800" dirty="0">
                <a:latin typeface="Liberation Sans"/>
              </a:rPr>
              <a:t>All data entered into charts</a:t>
            </a:r>
          </a:p>
          <a:p>
            <a:pPr>
              <a:lnSpc>
                <a:spcPct val="120000"/>
              </a:lnSpc>
              <a:spcBef>
                <a:spcPts val="600"/>
              </a:spcBef>
            </a:pPr>
            <a:r>
              <a:rPr lang="en-US" sz="3800" dirty="0">
                <a:latin typeface="Liberation Sans"/>
              </a:rPr>
              <a:t>Patients in one hospital were given a user-satisfaction survey when they left</a:t>
            </a:r>
          </a:p>
          <a:p>
            <a:pPr>
              <a:lnSpc>
                <a:spcPct val="120000"/>
              </a:lnSpc>
              <a:spcBef>
                <a:spcPts val="600"/>
              </a:spcBef>
            </a:pPr>
            <a:r>
              <a:rPr lang="en-US" sz="3800" dirty="0">
                <a:latin typeface="Liberation Sans"/>
              </a:rPr>
              <a:t>Also rated Painpad on a 1-5 Likert scale</a:t>
            </a:r>
          </a:p>
          <a:p>
            <a:pPr lvl="1" eaLnBrk="1" hangingPunct="1">
              <a:lnSpc>
                <a:spcPct val="120000"/>
              </a:lnSpc>
            </a:pPr>
            <a:endParaRPr lang="en-US" sz="600" dirty="0">
              <a:solidFill>
                <a:schemeClr val="tx1"/>
              </a:solidFill>
              <a:latin typeface="Liberation Sans"/>
              <a:ea typeface="ＭＳ Ｐゴシック" charset="0"/>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52</a:t>
            </a:fld>
            <a:endParaRPr lang="en-GB" dirty="0">
              <a:solidFill>
                <a:srgbClr val="77A363">
                  <a:lumMod val="75000"/>
                </a:srgbClr>
              </a:solidFill>
            </a:endParaRPr>
          </a:p>
        </p:txBody>
      </p:sp>
    </p:spTree>
    <p:extLst>
      <p:ext uri="{BB962C8B-B14F-4D97-AF65-F5344CB8AC3E}">
        <p14:creationId xmlns:p14="http://schemas.microsoft.com/office/powerpoint/2010/main" val="14432761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itle 1"/>
          <p:cNvSpPr>
            <a:spLocks noGrp="1"/>
          </p:cNvSpPr>
          <p:nvPr>
            <p:ph type="title" idx="4294967295"/>
          </p:nvPr>
        </p:nvSpPr>
        <p:spPr/>
        <p:txBody>
          <a:bodyPr/>
          <a:lstStyle/>
          <a:p>
            <a:pPr eaLnBrk="1" hangingPunct="1"/>
            <a:r>
              <a:rPr lang="en-US" dirty="0">
                <a:latin typeface="Liberation Sans"/>
              </a:rPr>
              <a:t>Data analysis and presentation</a:t>
            </a:r>
          </a:p>
        </p:txBody>
      </p:sp>
      <p:sp>
        <p:nvSpPr>
          <p:cNvPr id="49157" name="Content Placeholder 2"/>
          <p:cNvSpPr>
            <a:spLocks noGrp="1"/>
          </p:cNvSpPr>
          <p:nvPr>
            <p:ph idx="4294967295"/>
          </p:nvPr>
        </p:nvSpPr>
        <p:spPr/>
        <p:txBody>
          <a:bodyPr>
            <a:normAutofit fontScale="92500" lnSpcReduction="20000"/>
          </a:bodyPr>
          <a:lstStyle/>
          <a:p>
            <a:pPr eaLnBrk="1" hangingPunct="1"/>
            <a:r>
              <a:rPr lang="en-US" dirty="0">
                <a:latin typeface="Liberation Sans"/>
              </a:rPr>
              <a:t>Three types of data were collected: </a:t>
            </a:r>
            <a:endParaRPr lang="en-US" sz="800" dirty="0">
              <a:latin typeface="Liberation Sans"/>
            </a:endParaRPr>
          </a:p>
          <a:p>
            <a:pPr lvl="1">
              <a:spcBef>
                <a:spcPts val="900"/>
              </a:spcBef>
              <a:buFont typeface="Wingdings" pitchFamily="2" charset="2"/>
              <a:buChar char="§"/>
            </a:pPr>
            <a:r>
              <a:rPr lang="en-US" dirty="0">
                <a:solidFill>
                  <a:schemeClr val="tx1"/>
                </a:solidFill>
                <a:latin typeface="Liberation Sans"/>
              </a:rPr>
              <a:t>Satisfaction with Painpad was based on questionnaire responses</a:t>
            </a:r>
          </a:p>
          <a:p>
            <a:pPr lvl="1">
              <a:spcBef>
                <a:spcPts val="900"/>
              </a:spcBef>
              <a:buFont typeface="Wingdings" pitchFamily="2" charset="2"/>
              <a:buChar char="§"/>
            </a:pPr>
            <a:r>
              <a:rPr lang="en-US" dirty="0">
                <a:solidFill>
                  <a:schemeClr val="tx1"/>
                </a:solidFill>
                <a:latin typeface="Liberation Sans"/>
              </a:rPr>
              <a:t>Patients’ compliance with the two-hour routine</a:t>
            </a:r>
          </a:p>
          <a:p>
            <a:pPr lvl="1">
              <a:spcBef>
                <a:spcPts val="900"/>
              </a:spcBef>
              <a:buFont typeface="Wingdings" pitchFamily="2" charset="2"/>
              <a:buChar char="§"/>
            </a:pPr>
            <a:r>
              <a:rPr lang="en-US" dirty="0">
                <a:solidFill>
                  <a:schemeClr val="tx1"/>
                </a:solidFill>
                <a:latin typeface="Liberation Sans"/>
              </a:rPr>
              <a:t>How data collected from Painpad compared with data collected by nurses</a:t>
            </a:r>
          </a:p>
          <a:p>
            <a:pPr>
              <a:spcBef>
                <a:spcPts val="1200"/>
              </a:spcBef>
            </a:pPr>
            <a:r>
              <a:rPr lang="en-US" dirty="0">
                <a:latin typeface="Liberation Sans"/>
              </a:rPr>
              <a:t>Data showed: </a:t>
            </a:r>
          </a:p>
          <a:p>
            <a:pPr lvl="1">
              <a:spcBef>
                <a:spcPts val="900"/>
              </a:spcBef>
              <a:buFont typeface="Wingdings" pitchFamily="2" charset="2"/>
              <a:buChar char="§"/>
            </a:pPr>
            <a:r>
              <a:rPr lang="en-US" dirty="0">
                <a:solidFill>
                  <a:schemeClr val="tx1"/>
                </a:solidFill>
                <a:latin typeface="Liberation Sans"/>
              </a:rPr>
              <a:t>Satisfaction with Painpad 4.63 on Likert scale</a:t>
            </a:r>
          </a:p>
          <a:p>
            <a:pPr lvl="1">
              <a:spcBef>
                <a:spcPts val="900"/>
              </a:spcBef>
              <a:buFont typeface="Wingdings" pitchFamily="2" charset="2"/>
              <a:buChar char="§"/>
            </a:pPr>
            <a:r>
              <a:rPr lang="en-US" dirty="0">
                <a:solidFill>
                  <a:schemeClr val="tx1"/>
                </a:solidFill>
                <a:latin typeface="Liberation Sans"/>
              </a:rPr>
              <a:t>Patience compliance was mixed: some liked it while others disliked or didn’t notice the prompts</a:t>
            </a:r>
          </a:p>
          <a:p>
            <a:pPr lvl="1">
              <a:spcBef>
                <a:spcPts val="900"/>
              </a:spcBef>
              <a:buFont typeface="Wingdings" pitchFamily="2" charset="2"/>
              <a:buChar char="§"/>
            </a:pPr>
            <a:r>
              <a:rPr lang="en-US" dirty="0">
                <a:solidFill>
                  <a:schemeClr val="tx1"/>
                </a:solidFill>
                <a:latin typeface="Liberation Sans"/>
              </a:rPr>
              <a:t>Patients recorded more scores with Painpad than through the nurses</a:t>
            </a:r>
            <a:endParaRPr lang="en-US" sz="800" dirty="0">
              <a:solidFill>
                <a:schemeClr val="tx1"/>
              </a:solidFill>
              <a:latin typeface="Liberation Sans"/>
            </a:endParaRPr>
          </a:p>
          <a:p>
            <a:pPr eaLnBrk="1" hangingPunct="1"/>
            <a:endParaRPr lang="en-US" dirty="0">
              <a:latin typeface="Liberation Sans"/>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53</a:t>
            </a:fld>
            <a:endParaRPr lang="en-GB" dirty="0">
              <a:solidFill>
                <a:srgbClr val="77A363">
                  <a:lumMod val="75000"/>
                </a:srgbClr>
              </a:solidFill>
            </a:endParaRPr>
          </a:p>
        </p:txBody>
      </p:sp>
    </p:spTree>
    <p:extLst>
      <p:ext uri="{BB962C8B-B14F-4D97-AF65-F5344CB8AC3E}">
        <p14:creationId xmlns:p14="http://schemas.microsoft.com/office/powerpoint/2010/main" val="2754502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idx="4294967295"/>
          </p:nvPr>
        </p:nvSpPr>
        <p:spPr>
          <a:xfrm>
            <a:off x="2135560" y="188640"/>
            <a:ext cx="7772400" cy="609600"/>
          </a:xfrm>
        </p:spPr>
        <p:txBody>
          <a:bodyPr>
            <a:normAutofit fontScale="90000"/>
          </a:bodyPr>
          <a:lstStyle/>
          <a:p>
            <a:pPr eaLnBrk="1" hangingPunct="1"/>
            <a:r>
              <a:rPr lang="en-US" dirty="0">
                <a:latin typeface="Liberation Sans"/>
              </a:rPr>
              <a:t>Summary</a:t>
            </a:r>
          </a:p>
        </p:txBody>
      </p:sp>
      <p:sp>
        <p:nvSpPr>
          <p:cNvPr id="51205" name="Rectangle 3"/>
          <p:cNvSpPr>
            <a:spLocks noGrp="1" noChangeArrowheads="1"/>
          </p:cNvSpPr>
          <p:nvPr>
            <p:ph type="body" idx="4294967295"/>
          </p:nvPr>
        </p:nvSpPr>
        <p:spPr>
          <a:xfrm>
            <a:off x="1775520" y="836712"/>
            <a:ext cx="8534400" cy="5616624"/>
          </a:xfrm>
        </p:spPr>
        <p:txBody>
          <a:bodyPr>
            <a:noAutofit/>
          </a:bodyPr>
          <a:lstStyle/>
          <a:p>
            <a:r>
              <a:rPr lang="en-US" sz="2600" dirty="0">
                <a:latin typeface="Liberation Sans"/>
              </a:rPr>
              <a:t>Usability testing takes place in controlled usability labs or temporary labs</a:t>
            </a:r>
          </a:p>
          <a:p>
            <a:pPr>
              <a:spcBef>
                <a:spcPts val="1200"/>
              </a:spcBef>
            </a:pPr>
            <a:r>
              <a:rPr lang="en-US" sz="2600" dirty="0">
                <a:latin typeface="Liberation Sans"/>
              </a:rPr>
              <a:t>Usability testing focuses on performance measures, for example, how long and how many errors are made when completing a set of predefined tasks</a:t>
            </a:r>
          </a:p>
          <a:p>
            <a:pPr>
              <a:spcBef>
                <a:spcPts val="1200"/>
              </a:spcBef>
            </a:pPr>
            <a:r>
              <a:rPr lang="en-US" sz="2600" dirty="0">
                <a:latin typeface="Liberation Sans"/>
              </a:rPr>
              <a:t>Indirect observation (video and keystroke logging), user satisfaction questionnaires, and interviews are also collected</a:t>
            </a:r>
          </a:p>
          <a:p>
            <a:pPr>
              <a:spcBef>
                <a:spcPts val="1200"/>
              </a:spcBef>
            </a:pPr>
            <a:r>
              <a:rPr lang="en-US" sz="2600" dirty="0">
                <a:latin typeface="Liberation Sans"/>
              </a:rPr>
              <a:t>Affordable, remote testing systems are more portable than usability labs</a:t>
            </a:r>
          </a:p>
          <a:p>
            <a:pPr>
              <a:spcBef>
                <a:spcPts val="1200"/>
              </a:spcBef>
            </a:pPr>
            <a:r>
              <a:rPr lang="en-US" sz="2600" dirty="0">
                <a:latin typeface="Liberation Sans"/>
              </a:rPr>
              <a:t>Many also contain mobile eye-tracking and other devices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54</a:t>
            </a:fld>
            <a:endParaRPr lang="en-GB" dirty="0">
              <a:solidFill>
                <a:srgbClr val="77A363">
                  <a:lumMod val="75000"/>
                </a:srgbClr>
              </a:solidFill>
            </a:endParaRPr>
          </a:p>
        </p:txBody>
      </p:sp>
    </p:spTree>
    <p:extLst>
      <p:ext uri="{BB962C8B-B14F-4D97-AF65-F5344CB8AC3E}">
        <p14:creationId xmlns:p14="http://schemas.microsoft.com/office/powerpoint/2010/main" val="14481858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idx="4294967295"/>
          </p:nvPr>
        </p:nvSpPr>
        <p:spPr>
          <a:xfrm>
            <a:off x="2135560" y="188640"/>
            <a:ext cx="7772400" cy="609600"/>
          </a:xfrm>
        </p:spPr>
        <p:txBody>
          <a:bodyPr>
            <a:normAutofit fontScale="90000"/>
          </a:bodyPr>
          <a:lstStyle/>
          <a:p>
            <a:pPr eaLnBrk="1" hangingPunct="1"/>
            <a:r>
              <a:rPr lang="en-US" dirty="0">
                <a:latin typeface="Liberation Sans"/>
              </a:rPr>
              <a:t>Summary </a:t>
            </a:r>
            <a:r>
              <a:rPr lang="en-US" sz="3100" i="1" dirty="0">
                <a:latin typeface="Liberation Sans"/>
              </a:rPr>
              <a:t>(continued)</a:t>
            </a:r>
          </a:p>
        </p:txBody>
      </p:sp>
      <p:sp>
        <p:nvSpPr>
          <p:cNvPr id="51205" name="Rectangle 3"/>
          <p:cNvSpPr>
            <a:spLocks noGrp="1" noChangeArrowheads="1"/>
          </p:cNvSpPr>
          <p:nvPr>
            <p:ph type="body" idx="4294967295"/>
          </p:nvPr>
        </p:nvSpPr>
        <p:spPr>
          <a:xfrm>
            <a:off x="1775520" y="836712"/>
            <a:ext cx="8534400" cy="5616624"/>
          </a:xfrm>
        </p:spPr>
        <p:txBody>
          <a:bodyPr>
            <a:noAutofit/>
          </a:bodyPr>
          <a:lstStyle/>
          <a:p>
            <a:pPr>
              <a:spcBef>
                <a:spcPts val="900"/>
              </a:spcBef>
            </a:pPr>
            <a:r>
              <a:rPr lang="en-US" sz="2400" dirty="0">
                <a:latin typeface="Liberation Sans"/>
              </a:rPr>
              <a:t>Experiments test a hypothesis by manipulating certain variables while keeping others constant</a:t>
            </a:r>
          </a:p>
          <a:p>
            <a:pPr>
              <a:spcBef>
                <a:spcPts val="600"/>
              </a:spcBef>
            </a:pPr>
            <a:r>
              <a:rPr lang="en-US" sz="2400" dirty="0">
                <a:latin typeface="Liberation Sans"/>
              </a:rPr>
              <a:t>The experimenter controls independent variable(s) in order to measure dependent variable(s)</a:t>
            </a:r>
          </a:p>
          <a:p>
            <a:pPr>
              <a:spcBef>
                <a:spcPts val="600"/>
              </a:spcBef>
            </a:pPr>
            <a:r>
              <a:rPr lang="en-US" sz="2400" dirty="0">
                <a:latin typeface="Liberation Sans"/>
              </a:rPr>
              <a:t>Field studies are evaluation studies that are carried out in natural settings to discover how people interact with technology in the real world</a:t>
            </a:r>
          </a:p>
          <a:p>
            <a:pPr>
              <a:spcBef>
                <a:spcPts val="600"/>
              </a:spcBef>
            </a:pPr>
            <a:r>
              <a:rPr lang="en-US" sz="2400" dirty="0">
                <a:latin typeface="Liberation Sans"/>
              </a:rPr>
              <a:t>Field studies that involve the deployment of prototypes or technologies in natural settings may also be referred to as ‘in-the-wild’ studies</a:t>
            </a:r>
          </a:p>
          <a:p>
            <a:pPr>
              <a:spcBef>
                <a:spcPts val="600"/>
              </a:spcBef>
            </a:pPr>
            <a:r>
              <a:rPr lang="en-US" sz="2400" dirty="0">
                <a:latin typeface="Liberation Sans"/>
              </a:rPr>
              <a:t>Sometimes the findings of a field study are unexpected, especially for in-the-wild studies that explore how novel technologies are used by participants in their own homes, places of work, or outside</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55</a:t>
            </a:fld>
            <a:endParaRPr lang="en-GB" dirty="0">
              <a:solidFill>
                <a:srgbClr val="77A363">
                  <a:lumMod val="75000"/>
                </a:srgbClr>
              </a:solidFill>
            </a:endParaRPr>
          </a:p>
        </p:txBody>
      </p:sp>
    </p:spTree>
    <p:extLst>
      <p:ext uri="{BB962C8B-B14F-4D97-AF65-F5344CB8AC3E}">
        <p14:creationId xmlns:p14="http://schemas.microsoft.com/office/powerpoint/2010/main" val="1632950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media.wiley.com/product_data/coverImage300/51/11190207/1119020751.jpg">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840" y="620688"/>
            <a:ext cx="2857500" cy="37242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32387" y="4581128"/>
            <a:ext cx="8704434" cy="584775"/>
          </a:xfrm>
          <a:prstGeom prst="rect">
            <a:avLst/>
          </a:prstGeom>
          <a:noFill/>
        </p:spPr>
        <p:txBody>
          <a:bodyPr wrap="none" rtlCol="0">
            <a:spAutoFit/>
          </a:bodyPr>
          <a:lstStyle/>
          <a:p>
            <a:pPr algn="ctr"/>
            <a:r>
              <a:rPr lang="en-GB" sz="3200" dirty="0">
                <a:solidFill>
                  <a:srgbClr val="77A363">
                    <a:lumMod val="75000"/>
                  </a:srgbClr>
                </a:solidFill>
                <a:latin typeface="Liberation Sans" panose="020B0604020202020204" pitchFamily="34" charset="0"/>
                <a:ea typeface="Liberation Sans" panose="020B0604020202020204" pitchFamily="34" charset="0"/>
                <a:cs typeface="Liberation Sans" panose="020B0604020202020204" pitchFamily="34" charset="0"/>
              </a:rPr>
              <a:t>Evaluation: Inspections, Analytics, and Models </a:t>
            </a:r>
            <a:endParaRPr lang="en-GB" sz="1400" dirty="0">
              <a:solidFill>
                <a:srgbClr val="77A363">
                  <a:lumMod val="75000"/>
                </a:srgbClr>
              </a:solidFill>
              <a:latin typeface="Liberation Sans" panose="020B0604020202020204" pitchFamily="34" charset="0"/>
              <a:ea typeface="Liberation Sans" panose="020B0604020202020204" pitchFamily="34" charset="0"/>
              <a:cs typeface="Liberation Sans" panose="020B0604020202020204" pitchFamily="34" charset="0"/>
            </a:endParaRPr>
          </a:p>
        </p:txBody>
      </p:sp>
      <p:pic>
        <p:nvPicPr>
          <p:cNvPr id="5" name="Picture 4" descr="Cover of the book Interaction Design, Fifth Edition">
            <a:extLst>
              <a:ext uri="{FF2B5EF4-FFF2-40B4-BE49-F238E27FC236}">
                <a16:creationId xmlns:a16="http://schemas.microsoft.com/office/drawing/2014/main" id="{81AB005A-1802-5241-80FA-2DB09117C39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1575" t="2693" r="1964" b="2693"/>
          <a:stretch/>
        </p:blipFill>
        <p:spPr>
          <a:xfrm>
            <a:off x="4499527" y="547785"/>
            <a:ext cx="3192946" cy="4004712"/>
          </a:xfrm>
          <a:prstGeom prst="rect">
            <a:avLst/>
          </a:prstGeom>
        </p:spPr>
      </p:pic>
    </p:spTree>
    <p:extLst>
      <p:ext uri="{BB962C8B-B14F-4D97-AF65-F5344CB8AC3E}">
        <p14:creationId xmlns:p14="http://schemas.microsoft.com/office/powerpoint/2010/main" val="5040404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2133600" y="381000"/>
            <a:ext cx="7772400" cy="1143000"/>
          </a:xfrm>
        </p:spPr>
        <p:txBody>
          <a:bodyPr/>
          <a:lstStyle/>
          <a:p>
            <a:r>
              <a:rPr lang="en-GB" dirty="0"/>
              <a:t>Goals</a:t>
            </a:r>
          </a:p>
        </p:txBody>
      </p:sp>
      <p:sp>
        <p:nvSpPr>
          <p:cNvPr id="10243" name="Rectangle 3"/>
          <p:cNvSpPr>
            <a:spLocks noGrp="1" noChangeArrowheads="1"/>
          </p:cNvSpPr>
          <p:nvPr>
            <p:ph type="body" idx="4294967295"/>
          </p:nvPr>
        </p:nvSpPr>
        <p:spPr>
          <a:xfrm>
            <a:off x="2057400" y="1447800"/>
            <a:ext cx="8077200" cy="4876800"/>
          </a:xfrm>
        </p:spPr>
        <p:txBody>
          <a:bodyPr>
            <a:normAutofit/>
          </a:bodyPr>
          <a:lstStyle/>
          <a:p>
            <a:r>
              <a:rPr lang="en-US" dirty="0"/>
              <a:t>Describe the key concepts associated with inspection methods</a:t>
            </a:r>
            <a:endParaRPr lang="en-US" sz="1400" dirty="0"/>
          </a:p>
          <a:p>
            <a:r>
              <a:rPr lang="en-US" dirty="0"/>
              <a:t>Explain how to do heuristic evaluation and walkthroughs</a:t>
            </a:r>
            <a:endParaRPr lang="en-US" sz="1400" dirty="0"/>
          </a:p>
          <a:p>
            <a:r>
              <a:rPr lang="en-US" dirty="0"/>
              <a:t>Explain the role of analytics in evaluation</a:t>
            </a:r>
            <a:endParaRPr lang="en-US" sz="1400" dirty="0"/>
          </a:p>
          <a:p>
            <a:r>
              <a:rPr lang="en-US" dirty="0"/>
              <a:t>Describe how A/B testing is used in evaluation</a:t>
            </a:r>
            <a:endParaRPr lang="en-US" sz="1400" dirty="0"/>
          </a:p>
          <a:p>
            <a:r>
              <a:rPr lang="en-US" dirty="0"/>
              <a:t>Describe how to use Fitts’ Law – a predictive model</a:t>
            </a:r>
            <a:endParaRPr lang="en-GB" dirty="0"/>
          </a:p>
        </p:txBody>
      </p:sp>
      <p:sp>
        <p:nvSpPr>
          <p:cNvPr id="10244" name="Rectangle 4"/>
          <p:cNvSpPr>
            <a:spLocks noChangeArrowheads="1"/>
          </p:cNvSpPr>
          <p:nvPr/>
        </p:nvSpPr>
        <p:spPr bwMode="auto">
          <a:xfrm>
            <a:off x="1558925" y="-219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endParaRPr lang="en-US" sz="2400" dirty="0">
              <a:solidFill>
                <a:srgbClr val="000000"/>
              </a:solidFill>
              <a:latin typeface="Times" charset="0"/>
              <a:cs typeface="ＭＳ Ｐゴシック" charset="0"/>
            </a:endParaRP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4" name="Slide Number Placeholder 3"/>
          <p:cNvSpPr>
            <a:spLocks noGrp="1"/>
          </p:cNvSpPr>
          <p:nvPr>
            <p:ph type="sldNum" sz="quarter" idx="12"/>
          </p:nvPr>
        </p:nvSpPr>
        <p:spPr/>
        <p:txBody>
          <a:bodyPr/>
          <a:lstStyle/>
          <a:p>
            <a:fld id="{A7EA2D8D-44E5-43C4-BBA1-AE3E32EF0894}" type="slidenum">
              <a:rPr lang="en-GB">
                <a:solidFill>
                  <a:srgbClr val="77A363">
                    <a:lumMod val="75000"/>
                  </a:srgbClr>
                </a:solidFill>
              </a:rPr>
              <a:pPr/>
              <a:t>57</a:t>
            </a:fld>
            <a:endParaRPr lang="en-GB" dirty="0">
              <a:solidFill>
                <a:srgbClr val="77A363">
                  <a:lumMod val="75000"/>
                </a:srgbClr>
              </a:solidFill>
            </a:endParaRPr>
          </a:p>
        </p:txBody>
      </p:sp>
    </p:spTree>
    <p:extLst>
      <p:ext uri="{BB962C8B-B14F-4D97-AF65-F5344CB8AC3E}">
        <p14:creationId xmlns:p14="http://schemas.microsoft.com/office/powerpoint/2010/main" val="11191622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2133600" y="228600"/>
            <a:ext cx="7772400" cy="1143000"/>
          </a:xfrm>
        </p:spPr>
        <p:txBody>
          <a:bodyPr/>
          <a:lstStyle/>
          <a:p>
            <a:r>
              <a:rPr lang="en-US" dirty="0"/>
              <a:t>Inspections</a:t>
            </a:r>
          </a:p>
        </p:txBody>
      </p:sp>
      <p:sp>
        <p:nvSpPr>
          <p:cNvPr id="12291" name="Rectangle 3"/>
          <p:cNvSpPr>
            <a:spLocks noGrp="1" noChangeArrowheads="1"/>
          </p:cNvSpPr>
          <p:nvPr>
            <p:ph type="body" idx="4294967295"/>
          </p:nvPr>
        </p:nvSpPr>
        <p:spPr>
          <a:xfrm>
            <a:off x="2209800" y="1524000"/>
            <a:ext cx="7772400" cy="4572000"/>
          </a:xfrm>
        </p:spPr>
        <p:txBody>
          <a:bodyPr>
            <a:normAutofit fontScale="92500"/>
          </a:bodyPr>
          <a:lstStyle/>
          <a:p>
            <a:pPr>
              <a:lnSpc>
                <a:spcPct val="90000"/>
              </a:lnSpc>
            </a:pPr>
            <a:r>
              <a:rPr lang="en-US" dirty="0"/>
              <a:t>Several kinds</a:t>
            </a:r>
          </a:p>
          <a:p>
            <a:pPr>
              <a:lnSpc>
                <a:spcPct val="90000"/>
              </a:lnSpc>
              <a:spcBef>
                <a:spcPts val="1200"/>
              </a:spcBef>
            </a:pPr>
            <a:r>
              <a:rPr lang="en-US" dirty="0"/>
              <a:t>Experts use their knowledge of users and technology to review software usability</a:t>
            </a:r>
          </a:p>
          <a:p>
            <a:pPr>
              <a:lnSpc>
                <a:spcPct val="90000"/>
              </a:lnSpc>
              <a:spcBef>
                <a:spcPts val="1200"/>
              </a:spcBef>
            </a:pPr>
            <a:r>
              <a:rPr lang="en-US" dirty="0"/>
              <a:t>Expert critiques can be formal or informal</a:t>
            </a:r>
          </a:p>
          <a:p>
            <a:pPr>
              <a:lnSpc>
                <a:spcPct val="90000"/>
              </a:lnSpc>
              <a:spcBef>
                <a:spcPts val="1200"/>
              </a:spcBef>
            </a:pPr>
            <a:r>
              <a:rPr lang="en-US" dirty="0"/>
              <a:t>Heuristic evaluation is a review guided by a set of heuristics</a:t>
            </a:r>
          </a:p>
          <a:p>
            <a:pPr>
              <a:lnSpc>
                <a:spcPct val="90000"/>
              </a:lnSpc>
              <a:spcBef>
                <a:spcPts val="1200"/>
              </a:spcBef>
            </a:pPr>
            <a:r>
              <a:rPr lang="en-US" dirty="0"/>
              <a:t>Walkthroughs involve stepping through a pre-planned scenario noting potential problems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58</a:t>
            </a:fld>
            <a:endParaRPr lang="en-GB" dirty="0">
              <a:solidFill>
                <a:srgbClr val="77A363">
                  <a:lumMod val="75000"/>
                </a:srgbClr>
              </a:solidFill>
            </a:endParaRPr>
          </a:p>
        </p:txBody>
      </p:sp>
    </p:spTree>
    <p:extLst>
      <p:ext uri="{BB962C8B-B14F-4D97-AF65-F5344CB8AC3E}">
        <p14:creationId xmlns:p14="http://schemas.microsoft.com/office/powerpoint/2010/main" val="40585040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2209800" y="228600"/>
            <a:ext cx="7772400" cy="1143000"/>
          </a:xfrm>
        </p:spPr>
        <p:txBody>
          <a:bodyPr/>
          <a:lstStyle/>
          <a:p>
            <a:r>
              <a:rPr lang="en-US" dirty="0"/>
              <a:t>Heuristic evaluation</a:t>
            </a:r>
          </a:p>
        </p:txBody>
      </p:sp>
      <p:sp>
        <p:nvSpPr>
          <p:cNvPr id="14339" name="Rectangle 3"/>
          <p:cNvSpPr>
            <a:spLocks noGrp="1" noChangeArrowheads="1"/>
          </p:cNvSpPr>
          <p:nvPr>
            <p:ph type="body" idx="4294967295"/>
          </p:nvPr>
        </p:nvSpPr>
        <p:spPr>
          <a:xfrm>
            <a:off x="2057400" y="1371600"/>
            <a:ext cx="7772400" cy="4876800"/>
          </a:xfrm>
        </p:spPr>
        <p:txBody>
          <a:bodyPr>
            <a:normAutofit fontScale="92500"/>
          </a:bodyPr>
          <a:lstStyle/>
          <a:p>
            <a:pPr>
              <a:lnSpc>
                <a:spcPct val="90000"/>
              </a:lnSpc>
            </a:pPr>
            <a:r>
              <a:rPr lang="en-US" sz="2800" dirty="0"/>
              <a:t>Developed by Jacob Nielsen in the early 1990s</a:t>
            </a:r>
            <a:endParaRPr lang="en-US" sz="1300" dirty="0"/>
          </a:p>
          <a:p>
            <a:pPr>
              <a:lnSpc>
                <a:spcPct val="90000"/>
              </a:lnSpc>
              <a:spcBef>
                <a:spcPts val="900"/>
              </a:spcBef>
            </a:pPr>
            <a:r>
              <a:rPr lang="en-US" sz="2800" dirty="0"/>
              <a:t>Based on heuristics distilled from an empirical analysis of 249 usability problems</a:t>
            </a:r>
            <a:endParaRPr lang="en-US" sz="1300" dirty="0"/>
          </a:p>
          <a:p>
            <a:pPr>
              <a:lnSpc>
                <a:spcPct val="90000"/>
              </a:lnSpc>
              <a:spcBef>
                <a:spcPts val="900"/>
              </a:spcBef>
            </a:pPr>
            <a:r>
              <a:rPr lang="en-US" sz="2800" dirty="0"/>
              <a:t>These heuristics have been revised for current technology by Nielsen and others for:</a:t>
            </a:r>
          </a:p>
          <a:p>
            <a:pPr lvl="1">
              <a:lnSpc>
                <a:spcPct val="90000"/>
              </a:lnSpc>
              <a:spcBef>
                <a:spcPts val="600"/>
              </a:spcBef>
              <a:buFont typeface="Wingdings" pitchFamily="2" charset="2"/>
              <a:buChar char="§"/>
            </a:pPr>
            <a:r>
              <a:rPr lang="en-US" sz="2400" dirty="0">
                <a:solidFill>
                  <a:schemeClr val="tx1"/>
                </a:solidFill>
              </a:rPr>
              <a:t>Mobile devices</a:t>
            </a:r>
          </a:p>
          <a:p>
            <a:pPr lvl="1">
              <a:lnSpc>
                <a:spcPct val="90000"/>
              </a:lnSpc>
              <a:spcBef>
                <a:spcPts val="600"/>
              </a:spcBef>
              <a:buFont typeface="Wingdings" pitchFamily="2" charset="2"/>
              <a:buChar char="§"/>
            </a:pPr>
            <a:r>
              <a:rPr lang="en-US" sz="2400" dirty="0">
                <a:solidFill>
                  <a:schemeClr val="tx1"/>
                </a:solidFill>
              </a:rPr>
              <a:t>Wearables</a:t>
            </a:r>
          </a:p>
          <a:p>
            <a:pPr lvl="1">
              <a:lnSpc>
                <a:spcPct val="90000"/>
              </a:lnSpc>
              <a:spcBef>
                <a:spcPts val="600"/>
              </a:spcBef>
              <a:buFont typeface="Wingdings" pitchFamily="2" charset="2"/>
              <a:buChar char="§"/>
            </a:pPr>
            <a:r>
              <a:rPr lang="en-US" sz="2400" dirty="0">
                <a:solidFill>
                  <a:schemeClr val="tx1"/>
                </a:solidFill>
              </a:rPr>
              <a:t>Virtual worlds</a:t>
            </a:r>
          </a:p>
          <a:p>
            <a:pPr lvl="1">
              <a:lnSpc>
                <a:spcPct val="90000"/>
              </a:lnSpc>
              <a:spcBef>
                <a:spcPts val="600"/>
              </a:spcBef>
              <a:buFont typeface="Wingdings" pitchFamily="2" charset="2"/>
              <a:buChar char="§"/>
            </a:pPr>
            <a:r>
              <a:rPr lang="en-US" sz="2400" dirty="0">
                <a:solidFill>
                  <a:schemeClr val="tx1"/>
                </a:solidFill>
              </a:rPr>
              <a:t>Social media</a:t>
            </a:r>
          </a:p>
          <a:p>
            <a:pPr lvl="1">
              <a:lnSpc>
                <a:spcPct val="90000"/>
              </a:lnSpc>
              <a:spcBef>
                <a:spcPts val="600"/>
              </a:spcBef>
              <a:buFont typeface="Wingdings" pitchFamily="2" charset="2"/>
              <a:buChar char="§"/>
            </a:pPr>
            <a:r>
              <a:rPr lang="en-US" sz="2400" dirty="0">
                <a:solidFill>
                  <a:schemeClr val="tx1"/>
                </a:solidFill>
              </a:rPr>
              <a:t>…</a:t>
            </a:r>
            <a:endParaRPr lang="en-US" sz="1300" dirty="0">
              <a:solidFill>
                <a:schemeClr val="tx1"/>
              </a:solidFill>
            </a:endParaRPr>
          </a:p>
          <a:p>
            <a:pPr>
              <a:lnSpc>
                <a:spcPct val="90000"/>
              </a:lnSpc>
              <a:spcBef>
                <a:spcPts val="900"/>
              </a:spcBef>
            </a:pPr>
            <a:r>
              <a:rPr lang="en-US" sz="2800" dirty="0"/>
              <a:t>Design guidelines form a basis for developing heuristics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59</a:t>
            </a:fld>
            <a:endParaRPr lang="en-GB" dirty="0">
              <a:solidFill>
                <a:srgbClr val="77A363">
                  <a:lumMod val="75000"/>
                </a:srgbClr>
              </a:solidFill>
            </a:endParaRPr>
          </a:p>
        </p:txBody>
      </p:sp>
    </p:spTree>
    <p:extLst>
      <p:ext uri="{BB962C8B-B14F-4D97-AF65-F5344CB8AC3E}">
        <p14:creationId xmlns:p14="http://schemas.microsoft.com/office/powerpoint/2010/main" val="36578834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1981200" y="304800"/>
            <a:ext cx="8229600" cy="963960"/>
          </a:xfrm>
        </p:spPr>
        <p:txBody>
          <a:bodyPr>
            <a:normAutofit fontScale="90000"/>
          </a:bodyPr>
          <a:lstStyle/>
          <a:p>
            <a:r>
              <a:rPr lang="en-US" dirty="0"/>
              <a:t>Revised version (2014) of Nielsen’s original heuristics </a:t>
            </a:r>
            <a:r>
              <a:rPr lang="en-US" sz="3100" i="1" dirty="0"/>
              <a:t>(continued)</a:t>
            </a:r>
          </a:p>
        </p:txBody>
      </p:sp>
      <p:sp>
        <p:nvSpPr>
          <p:cNvPr id="16387" name="Rectangle 3"/>
          <p:cNvSpPr>
            <a:spLocks noGrp="1" noChangeArrowheads="1"/>
          </p:cNvSpPr>
          <p:nvPr>
            <p:ph type="body" idx="4294967295"/>
          </p:nvPr>
        </p:nvSpPr>
        <p:spPr>
          <a:xfrm>
            <a:off x="1981200" y="1844824"/>
            <a:ext cx="8382000" cy="4403576"/>
          </a:xfrm>
        </p:spPr>
        <p:txBody>
          <a:bodyPr>
            <a:normAutofit/>
          </a:bodyPr>
          <a:lstStyle/>
          <a:p>
            <a:pPr>
              <a:lnSpc>
                <a:spcPct val="90000"/>
              </a:lnSpc>
            </a:pPr>
            <a:r>
              <a:rPr lang="en-US" sz="2800" dirty="0"/>
              <a:t>Recognition rather than recall</a:t>
            </a:r>
          </a:p>
          <a:p>
            <a:pPr>
              <a:lnSpc>
                <a:spcPct val="90000"/>
              </a:lnSpc>
              <a:spcBef>
                <a:spcPts val="2400"/>
              </a:spcBef>
            </a:pPr>
            <a:r>
              <a:rPr lang="en-US" sz="2800" dirty="0"/>
              <a:t>Flexibility and efficiency of use</a:t>
            </a:r>
          </a:p>
          <a:p>
            <a:pPr>
              <a:lnSpc>
                <a:spcPct val="90000"/>
              </a:lnSpc>
              <a:spcBef>
                <a:spcPts val="2400"/>
              </a:spcBef>
            </a:pPr>
            <a:r>
              <a:rPr lang="en-US" sz="2800" dirty="0"/>
              <a:t>Aesthetic and minimalist design</a:t>
            </a:r>
          </a:p>
          <a:p>
            <a:pPr>
              <a:lnSpc>
                <a:spcPct val="90000"/>
              </a:lnSpc>
              <a:spcBef>
                <a:spcPts val="2400"/>
              </a:spcBef>
            </a:pPr>
            <a:r>
              <a:rPr lang="en-US" sz="2800" dirty="0"/>
              <a:t>Help users recognize, diagnose, recover from errors</a:t>
            </a:r>
          </a:p>
          <a:p>
            <a:pPr>
              <a:lnSpc>
                <a:spcPct val="90000"/>
              </a:lnSpc>
              <a:spcBef>
                <a:spcPts val="2400"/>
              </a:spcBef>
            </a:pPr>
            <a:r>
              <a:rPr lang="en-US" sz="2800" dirty="0"/>
              <a:t>Help and documentation</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60</a:t>
            </a:fld>
            <a:endParaRPr lang="en-GB" dirty="0">
              <a:solidFill>
                <a:srgbClr val="77A363">
                  <a:lumMod val="75000"/>
                </a:srgbClr>
              </a:solidFill>
            </a:endParaRPr>
          </a:p>
        </p:txBody>
      </p:sp>
    </p:spTree>
    <p:extLst>
      <p:ext uri="{BB962C8B-B14F-4D97-AF65-F5344CB8AC3E}">
        <p14:creationId xmlns:p14="http://schemas.microsoft.com/office/powerpoint/2010/main" val="40095603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2172680" y="260648"/>
            <a:ext cx="7846640" cy="1179984"/>
          </a:xfrm>
        </p:spPr>
        <p:txBody>
          <a:bodyPr>
            <a:normAutofit fontScale="90000"/>
          </a:bodyPr>
          <a:lstStyle/>
          <a:p>
            <a:r>
              <a:rPr lang="en-US" dirty="0"/>
              <a:t>Revised version (2014) of Nielsen’s original heuristics</a:t>
            </a:r>
          </a:p>
        </p:txBody>
      </p:sp>
      <p:sp>
        <p:nvSpPr>
          <p:cNvPr id="16387" name="Rectangle 3"/>
          <p:cNvSpPr>
            <a:spLocks noGrp="1" noChangeArrowheads="1"/>
          </p:cNvSpPr>
          <p:nvPr>
            <p:ph type="body" idx="4294967295"/>
          </p:nvPr>
        </p:nvSpPr>
        <p:spPr>
          <a:xfrm>
            <a:off x="1905000" y="1772816"/>
            <a:ext cx="8382000" cy="3672408"/>
          </a:xfrm>
        </p:spPr>
        <p:txBody>
          <a:bodyPr>
            <a:normAutofit/>
          </a:bodyPr>
          <a:lstStyle/>
          <a:p>
            <a:pPr>
              <a:lnSpc>
                <a:spcPct val="90000"/>
              </a:lnSpc>
            </a:pPr>
            <a:r>
              <a:rPr lang="en-US" dirty="0"/>
              <a:t>Visibility of system status</a:t>
            </a:r>
          </a:p>
          <a:p>
            <a:pPr>
              <a:lnSpc>
                <a:spcPct val="90000"/>
              </a:lnSpc>
              <a:spcBef>
                <a:spcPts val="2400"/>
              </a:spcBef>
            </a:pPr>
            <a:r>
              <a:rPr lang="en-US" dirty="0"/>
              <a:t>Match between system and real world</a:t>
            </a:r>
          </a:p>
          <a:p>
            <a:pPr>
              <a:lnSpc>
                <a:spcPct val="90000"/>
              </a:lnSpc>
              <a:spcBef>
                <a:spcPts val="2400"/>
              </a:spcBef>
            </a:pPr>
            <a:r>
              <a:rPr lang="en-US" dirty="0"/>
              <a:t>User control and freedom</a:t>
            </a:r>
          </a:p>
          <a:p>
            <a:pPr>
              <a:lnSpc>
                <a:spcPct val="90000"/>
              </a:lnSpc>
              <a:spcBef>
                <a:spcPts val="2400"/>
              </a:spcBef>
            </a:pPr>
            <a:r>
              <a:rPr lang="en-US" dirty="0"/>
              <a:t>Consistency and standards</a:t>
            </a:r>
          </a:p>
          <a:p>
            <a:pPr>
              <a:lnSpc>
                <a:spcPct val="90000"/>
              </a:lnSpc>
              <a:spcBef>
                <a:spcPts val="2400"/>
              </a:spcBef>
            </a:pPr>
            <a:r>
              <a:rPr lang="en-US" dirty="0"/>
              <a:t>Error prevention</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61</a:t>
            </a:fld>
            <a:endParaRPr lang="en-GB" dirty="0">
              <a:solidFill>
                <a:srgbClr val="77A363">
                  <a:lumMod val="75000"/>
                </a:srgbClr>
              </a:solidFill>
            </a:endParaRPr>
          </a:p>
        </p:txBody>
      </p:sp>
    </p:spTree>
    <p:extLst>
      <p:ext uri="{BB962C8B-B14F-4D97-AF65-F5344CB8AC3E}">
        <p14:creationId xmlns:p14="http://schemas.microsoft.com/office/powerpoint/2010/main" val="21269522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3839630" y="414896"/>
            <a:ext cx="5559152" cy="1143000"/>
          </a:xfrm>
        </p:spPr>
        <p:txBody>
          <a:bodyPr>
            <a:normAutofit fontScale="90000"/>
          </a:bodyPr>
          <a:lstStyle/>
          <a:p>
            <a:r>
              <a:rPr lang="en-US" dirty="0"/>
              <a:t>Number of evaluators and problems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62</a:t>
            </a:fld>
            <a:endParaRPr lang="en-GB" dirty="0">
              <a:solidFill>
                <a:srgbClr val="77A363">
                  <a:lumMod val="75000"/>
                </a:srgbClr>
              </a:solidFill>
            </a:endParaRPr>
          </a:p>
        </p:txBody>
      </p:sp>
      <p:pic>
        <p:nvPicPr>
          <p:cNvPr id="2" name="Picture 1" descr="Graphical representation of the proportion of usability problems in an interface found in heuristic evaluation using various numbers of evaluators.">
            <a:extLst>
              <a:ext uri="{FF2B5EF4-FFF2-40B4-BE49-F238E27FC236}">
                <a16:creationId xmlns:a16="http://schemas.microsoft.com/office/drawing/2014/main" id="{FBCE0778-4FBD-7044-B3DA-9C22373F09E1}"/>
              </a:ext>
            </a:extLst>
          </p:cNvPr>
          <p:cNvPicPr>
            <a:picLocks noChangeAspect="1"/>
          </p:cNvPicPr>
          <p:nvPr/>
        </p:nvPicPr>
        <p:blipFill>
          <a:blip r:embed="rId3"/>
          <a:stretch>
            <a:fillRect/>
          </a:stretch>
        </p:blipFill>
        <p:spPr>
          <a:xfrm>
            <a:off x="3647728" y="1876382"/>
            <a:ext cx="4896544" cy="2925735"/>
          </a:xfrm>
          <a:prstGeom prst="rect">
            <a:avLst/>
          </a:prstGeom>
        </p:spPr>
      </p:pic>
      <p:sp>
        <p:nvSpPr>
          <p:cNvPr id="4" name="TextBox 3">
            <a:extLst>
              <a:ext uri="{FF2B5EF4-FFF2-40B4-BE49-F238E27FC236}">
                <a16:creationId xmlns:a16="http://schemas.microsoft.com/office/drawing/2014/main" id="{E063FC1B-796C-AF47-BDF2-273E355F9A24}"/>
              </a:ext>
            </a:extLst>
          </p:cNvPr>
          <p:cNvSpPr txBox="1"/>
          <p:nvPr/>
        </p:nvSpPr>
        <p:spPr>
          <a:xfrm>
            <a:off x="1682118" y="4981620"/>
            <a:ext cx="8528683" cy="830997"/>
          </a:xfrm>
          <a:prstGeom prst="rect">
            <a:avLst/>
          </a:prstGeom>
          <a:noFill/>
        </p:spPr>
        <p:txBody>
          <a:bodyPr wrap="square" rtlCol="0">
            <a:spAutoFit/>
          </a:bodyPr>
          <a:lstStyle/>
          <a:p>
            <a:r>
              <a:rPr lang="en-US" sz="2400" dirty="0">
                <a:solidFill>
                  <a:srgbClr val="000000"/>
                </a:solidFill>
                <a:latin typeface="Calibri"/>
              </a:rPr>
              <a:t>Curve showing the proportion of usability problems in an interface found by heuristic evaluation using different numbers of evaluators</a:t>
            </a:r>
          </a:p>
        </p:txBody>
      </p:sp>
      <p:sp>
        <p:nvSpPr>
          <p:cNvPr id="7" name="TextBox 6">
            <a:extLst>
              <a:ext uri="{FF2B5EF4-FFF2-40B4-BE49-F238E27FC236}">
                <a16:creationId xmlns:a16="http://schemas.microsoft.com/office/drawing/2014/main" id="{E21971B8-92E3-1044-A958-E66B87D51B88}"/>
              </a:ext>
            </a:extLst>
          </p:cNvPr>
          <p:cNvSpPr txBox="1"/>
          <p:nvPr/>
        </p:nvSpPr>
        <p:spPr>
          <a:xfrm>
            <a:off x="1682118" y="5899817"/>
            <a:ext cx="4978479" cy="369332"/>
          </a:xfrm>
          <a:prstGeom prst="rect">
            <a:avLst/>
          </a:prstGeom>
          <a:noFill/>
        </p:spPr>
        <p:txBody>
          <a:bodyPr wrap="none" rtlCol="0">
            <a:spAutoFit/>
          </a:bodyPr>
          <a:lstStyle/>
          <a:p>
            <a:r>
              <a:rPr lang="en-US" i="1" dirty="0">
                <a:solidFill>
                  <a:srgbClr val="000000"/>
                </a:solidFill>
                <a:latin typeface="Calibri"/>
              </a:rPr>
              <a:t>Source</a:t>
            </a:r>
            <a:r>
              <a:rPr lang="en-US" dirty="0">
                <a:solidFill>
                  <a:srgbClr val="000000"/>
                </a:solidFill>
                <a:latin typeface="Calibri"/>
              </a:rPr>
              <a:t>: Nielsen and Mack, 1994. Courtesy of </a:t>
            </a:r>
            <a:r>
              <a:rPr lang="en-US" dirty="0">
                <a:solidFill>
                  <a:srgbClr val="000000"/>
                </a:solidFill>
                <a:latin typeface="Calibri"/>
                <a:hlinkClick r:id="rId4"/>
              </a:rPr>
              <a:t>Wiley</a:t>
            </a:r>
            <a:r>
              <a:rPr lang="en-US" dirty="0">
                <a:solidFill>
                  <a:srgbClr val="000000"/>
                </a:solidFill>
                <a:latin typeface="Calibri"/>
              </a:rPr>
              <a:t>.</a:t>
            </a:r>
          </a:p>
        </p:txBody>
      </p:sp>
    </p:spTree>
    <p:extLst>
      <p:ext uri="{BB962C8B-B14F-4D97-AF65-F5344CB8AC3E}">
        <p14:creationId xmlns:p14="http://schemas.microsoft.com/office/powerpoint/2010/main" val="166230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2209800" y="228600"/>
            <a:ext cx="7772400" cy="1143000"/>
          </a:xfrm>
        </p:spPr>
        <p:txBody>
          <a:bodyPr/>
          <a:lstStyle/>
          <a:p>
            <a:r>
              <a:rPr lang="en-US" dirty="0"/>
              <a:t>Number of evaluators</a:t>
            </a:r>
          </a:p>
        </p:txBody>
      </p:sp>
      <p:sp>
        <p:nvSpPr>
          <p:cNvPr id="18435" name="Rectangle 3"/>
          <p:cNvSpPr>
            <a:spLocks noGrp="1" noChangeArrowheads="1"/>
          </p:cNvSpPr>
          <p:nvPr>
            <p:ph type="body" idx="4294967295"/>
          </p:nvPr>
        </p:nvSpPr>
        <p:spPr>
          <a:xfrm>
            <a:off x="2209800" y="1447800"/>
            <a:ext cx="7772400" cy="4648200"/>
          </a:xfrm>
        </p:spPr>
        <p:txBody>
          <a:bodyPr>
            <a:normAutofit/>
          </a:bodyPr>
          <a:lstStyle/>
          <a:p>
            <a:r>
              <a:rPr lang="en-US" dirty="0"/>
              <a:t>Nielsen suggests that on average five evaluators identify 75-80 percent of usability problems</a:t>
            </a:r>
            <a:endParaRPr lang="en-US" sz="1200" dirty="0"/>
          </a:p>
          <a:p>
            <a:pPr>
              <a:spcBef>
                <a:spcPts val="2400"/>
              </a:spcBef>
            </a:pPr>
            <a:r>
              <a:rPr lang="en-US" dirty="0"/>
              <a:t>Cockton and  Woolrych (2001) point out that the number of users needed to find 75-80 percent of usability problems depends on the context and nature of the task problems</a:t>
            </a:r>
          </a:p>
          <a:p>
            <a:endParaRPr lang="en-US" dirty="0"/>
          </a:p>
          <a:p>
            <a:endParaRPr lang="en-US"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63</a:t>
            </a:fld>
            <a:endParaRPr lang="en-GB" dirty="0">
              <a:solidFill>
                <a:srgbClr val="77A363">
                  <a:lumMod val="75000"/>
                </a:srgbClr>
              </a:solidFill>
            </a:endParaRPr>
          </a:p>
        </p:txBody>
      </p:sp>
    </p:spTree>
    <p:extLst>
      <p:ext uri="{BB962C8B-B14F-4D97-AF65-F5344CB8AC3E}">
        <p14:creationId xmlns:p14="http://schemas.microsoft.com/office/powerpoint/2010/main" val="3609137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2922476" y="260648"/>
            <a:ext cx="6347048" cy="1143000"/>
          </a:xfrm>
        </p:spPr>
        <p:txBody>
          <a:bodyPr>
            <a:normAutofit fontScale="90000"/>
          </a:bodyPr>
          <a:lstStyle/>
          <a:p>
            <a:r>
              <a:rPr lang="en-US" dirty="0"/>
              <a:t>Heuristics for websites focus on key criteria</a:t>
            </a:r>
            <a:endParaRPr lang="en-US" sz="2400" dirty="0"/>
          </a:p>
        </p:txBody>
      </p:sp>
      <p:sp>
        <p:nvSpPr>
          <p:cNvPr id="26627" name="Content Placeholder 2"/>
          <p:cNvSpPr>
            <a:spLocks noGrp="1"/>
          </p:cNvSpPr>
          <p:nvPr>
            <p:ph idx="4294967295"/>
          </p:nvPr>
        </p:nvSpPr>
        <p:spPr>
          <a:xfrm>
            <a:off x="1991544" y="1700809"/>
            <a:ext cx="8229600" cy="4525963"/>
          </a:xfrm>
        </p:spPr>
        <p:txBody>
          <a:bodyPr>
            <a:normAutofit/>
          </a:bodyPr>
          <a:lstStyle/>
          <a:p>
            <a:r>
              <a:rPr lang="en-US" dirty="0"/>
              <a:t>Clarity</a:t>
            </a:r>
            <a:endParaRPr lang="en-US" sz="1300" dirty="0"/>
          </a:p>
          <a:p>
            <a:pPr>
              <a:spcBef>
                <a:spcPts val="2400"/>
              </a:spcBef>
            </a:pPr>
            <a:r>
              <a:rPr lang="en-US" dirty="0"/>
              <a:t>Minimize unnecessary complexity and cognitive load</a:t>
            </a:r>
            <a:endParaRPr lang="en-US" sz="1200" dirty="0"/>
          </a:p>
          <a:p>
            <a:pPr>
              <a:spcBef>
                <a:spcPts val="2400"/>
              </a:spcBef>
            </a:pPr>
            <a:r>
              <a:rPr lang="en-US" dirty="0"/>
              <a:t>Provide users with context</a:t>
            </a:r>
            <a:endParaRPr lang="en-US" sz="1200" dirty="0"/>
          </a:p>
          <a:p>
            <a:pPr>
              <a:spcBef>
                <a:spcPts val="2400"/>
              </a:spcBef>
            </a:pPr>
            <a:r>
              <a:rPr lang="en-US" dirty="0"/>
              <a:t>Promote positive and pleasurable user experience</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64</a:t>
            </a:fld>
            <a:endParaRPr lang="en-GB" dirty="0">
              <a:solidFill>
                <a:srgbClr val="77A363">
                  <a:lumMod val="75000"/>
                </a:srgbClr>
              </a:solidFill>
            </a:endParaRPr>
          </a:p>
        </p:txBody>
      </p:sp>
      <p:sp>
        <p:nvSpPr>
          <p:cNvPr id="2" name="TextBox 1">
            <a:extLst>
              <a:ext uri="{FF2B5EF4-FFF2-40B4-BE49-F238E27FC236}">
                <a16:creationId xmlns:a16="http://schemas.microsoft.com/office/drawing/2014/main" id="{5F594B63-9E99-AB49-BBC7-D2D60E68953D}"/>
              </a:ext>
            </a:extLst>
          </p:cNvPr>
          <p:cNvSpPr txBox="1"/>
          <p:nvPr/>
        </p:nvSpPr>
        <p:spPr>
          <a:xfrm>
            <a:off x="1970856" y="5857189"/>
            <a:ext cx="2079992" cy="369332"/>
          </a:xfrm>
          <a:prstGeom prst="rect">
            <a:avLst/>
          </a:prstGeom>
          <a:noFill/>
        </p:spPr>
        <p:txBody>
          <a:bodyPr wrap="square" rtlCol="0">
            <a:spAutoFit/>
          </a:bodyPr>
          <a:lstStyle/>
          <a:p>
            <a:r>
              <a:rPr lang="en-US" i="1" dirty="0">
                <a:solidFill>
                  <a:srgbClr val="000000"/>
                </a:solidFill>
                <a:latin typeface="Calibri"/>
              </a:rPr>
              <a:t>Source</a:t>
            </a:r>
            <a:r>
              <a:rPr lang="en-US" dirty="0">
                <a:solidFill>
                  <a:srgbClr val="000000"/>
                </a:solidFill>
                <a:latin typeface="Calibri"/>
              </a:rPr>
              <a:t>: Budd, 2007</a:t>
            </a:r>
          </a:p>
        </p:txBody>
      </p:sp>
    </p:spTree>
    <p:extLst>
      <p:ext uri="{BB962C8B-B14F-4D97-AF65-F5344CB8AC3E}">
        <p14:creationId xmlns:p14="http://schemas.microsoft.com/office/powerpoint/2010/main" val="19719935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2133600" y="228600"/>
            <a:ext cx="7848600" cy="1524000"/>
          </a:xfrm>
        </p:spPr>
        <p:txBody>
          <a:bodyPr/>
          <a:lstStyle/>
          <a:p>
            <a:r>
              <a:rPr lang="en-US" dirty="0"/>
              <a:t>Doing heuristic evaluation</a:t>
            </a:r>
          </a:p>
        </p:txBody>
      </p:sp>
      <p:sp>
        <p:nvSpPr>
          <p:cNvPr id="22531" name="Rectangle 3"/>
          <p:cNvSpPr>
            <a:spLocks noGrp="1" noChangeArrowheads="1"/>
          </p:cNvSpPr>
          <p:nvPr>
            <p:ph type="body" idx="4294967295"/>
          </p:nvPr>
        </p:nvSpPr>
        <p:spPr>
          <a:xfrm>
            <a:off x="2135560" y="1916832"/>
            <a:ext cx="7772400" cy="4495800"/>
          </a:xfrm>
        </p:spPr>
        <p:txBody>
          <a:bodyPr>
            <a:normAutofit fontScale="92500"/>
          </a:bodyPr>
          <a:lstStyle/>
          <a:p>
            <a:r>
              <a:rPr lang="en-US" dirty="0"/>
              <a:t>Briefing session to tell experts what to do</a:t>
            </a:r>
            <a:endParaRPr lang="en-US" sz="1400" dirty="0"/>
          </a:p>
          <a:p>
            <a:pPr>
              <a:spcBef>
                <a:spcPts val="900"/>
              </a:spcBef>
            </a:pPr>
            <a:r>
              <a:rPr lang="en-US" dirty="0"/>
              <a:t>Evaluation period of 1-2 hours in which:</a:t>
            </a:r>
          </a:p>
          <a:p>
            <a:pPr lvl="1">
              <a:spcBef>
                <a:spcPts val="1200"/>
              </a:spcBef>
              <a:buFont typeface="Wingdings" pitchFamily="2" charset="2"/>
              <a:buChar char="§"/>
            </a:pPr>
            <a:r>
              <a:rPr lang="en-US" dirty="0">
                <a:solidFill>
                  <a:schemeClr val="tx1"/>
                </a:solidFill>
              </a:rPr>
              <a:t>Each expert works separately</a:t>
            </a:r>
            <a:endParaRPr lang="en-US" sz="900" dirty="0">
              <a:solidFill>
                <a:schemeClr val="tx1"/>
              </a:solidFill>
            </a:endParaRPr>
          </a:p>
          <a:p>
            <a:pPr lvl="1">
              <a:spcBef>
                <a:spcPts val="1200"/>
              </a:spcBef>
              <a:buFont typeface="Wingdings" pitchFamily="2" charset="2"/>
              <a:buChar char="§"/>
            </a:pPr>
            <a:r>
              <a:rPr lang="en-US" dirty="0">
                <a:solidFill>
                  <a:schemeClr val="tx1"/>
                </a:solidFill>
              </a:rPr>
              <a:t>Take one pass to get a feel for the product</a:t>
            </a:r>
            <a:endParaRPr lang="en-US" sz="900" dirty="0">
              <a:solidFill>
                <a:schemeClr val="tx1"/>
              </a:solidFill>
            </a:endParaRPr>
          </a:p>
          <a:p>
            <a:pPr lvl="1">
              <a:spcBef>
                <a:spcPts val="1200"/>
              </a:spcBef>
              <a:buFont typeface="Wingdings" pitchFamily="2" charset="2"/>
              <a:buChar char="§"/>
            </a:pPr>
            <a:r>
              <a:rPr lang="en-US" dirty="0">
                <a:solidFill>
                  <a:schemeClr val="tx1"/>
                </a:solidFill>
              </a:rPr>
              <a:t>Take a second pass to focus on specific features</a:t>
            </a:r>
          </a:p>
          <a:p>
            <a:pPr marL="342900" lvl="1" indent="-342900">
              <a:spcBef>
                <a:spcPts val="900"/>
              </a:spcBef>
              <a:buFont typeface="Arial" panose="020B0604020202020204" pitchFamily="34" charset="0"/>
              <a:buChar char="•"/>
            </a:pPr>
            <a:r>
              <a:rPr lang="en-US" sz="3200" dirty="0">
                <a:solidFill>
                  <a:schemeClr val="tx1"/>
                </a:solidFill>
              </a:rPr>
              <a:t>Debriefing session in which experts work together to prioritize problems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65</a:t>
            </a:fld>
            <a:endParaRPr lang="en-GB" dirty="0">
              <a:solidFill>
                <a:srgbClr val="77A363">
                  <a:lumMod val="75000"/>
                </a:srgbClr>
              </a:solidFill>
            </a:endParaRPr>
          </a:p>
        </p:txBody>
      </p:sp>
    </p:spTree>
    <p:extLst>
      <p:ext uri="{BB962C8B-B14F-4D97-AF65-F5344CB8AC3E}">
        <p14:creationId xmlns:p14="http://schemas.microsoft.com/office/powerpoint/2010/main" val="39486506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2209800" y="304800"/>
            <a:ext cx="7772400" cy="914400"/>
          </a:xfrm>
        </p:spPr>
        <p:txBody>
          <a:bodyPr/>
          <a:lstStyle/>
          <a:p>
            <a:r>
              <a:rPr lang="en-US" dirty="0"/>
              <a:t>Advantages and problems</a:t>
            </a:r>
          </a:p>
        </p:txBody>
      </p:sp>
      <p:sp>
        <p:nvSpPr>
          <p:cNvPr id="24579" name="Rectangle 3"/>
          <p:cNvSpPr>
            <a:spLocks noGrp="1" noChangeArrowheads="1"/>
          </p:cNvSpPr>
          <p:nvPr>
            <p:ph type="body" idx="4294967295"/>
          </p:nvPr>
        </p:nvSpPr>
        <p:spPr>
          <a:xfrm>
            <a:off x="2209800" y="1600200"/>
            <a:ext cx="7772400" cy="4495800"/>
          </a:xfrm>
        </p:spPr>
        <p:txBody>
          <a:bodyPr>
            <a:normAutofit/>
          </a:bodyPr>
          <a:lstStyle/>
          <a:p>
            <a:pPr>
              <a:lnSpc>
                <a:spcPct val="90000"/>
              </a:lnSpc>
            </a:pPr>
            <a:r>
              <a:rPr lang="en-US" sz="2800" dirty="0"/>
              <a:t>Few ethical and practical issues to consider because users not involved</a:t>
            </a:r>
            <a:endParaRPr lang="en-US" sz="1100" dirty="0"/>
          </a:p>
          <a:p>
            <a:pPr>
              <a:lnSpc>
                <a:spcPct val="90000"/>
              </a:lnSpc>
              <a:spcBef>
                <a:spcPts val="900"/>
              </a:spcBef>
            </a:pPr>
            <a:r>
              <a:rPr lang="en-US" sz="2800" dirty="0"/>
              <a:t>Can be difficult and expensive to find experts</a:t>
            </a:r>
            <a:endParaRPr lang="en-US" sz="1100" dirty="0"/>
          </a:p>
          <a:p>
            <a:pPr>
              <a:lnSpc>
                <a:spcPct val="90000"/>
              </a:lnSpc>
              <a:spcBef>
                <a:spcPts val="900"/>
              </a:spcBef>
            </a:pPr>
            <a:r>
              <a:rPr lang="en-US" sz="2800" dirty="0"/>
              <a:t>Best experts have knowledge of application domain and users</a:t>
            </a:r>
            <a:endParaRPr lang="en-US" sz="1000" dirty="0"/>
          </a:p>
          <a:p>
            <a:pPr>
              <a:lnSpc>
                <a:spcPct val="90000"/>
              </a:lnSpc>
              <a:spcBef>
                <a:spcPts val="900"/>
              </a:spcBef>
            </a:pPr>
            <a:r>
              <a:rPr lang="en-US" sz="2800" dirty="0"/>
              <a:t>Biggest problems:</a:t>
            </a:r>
          </a:p>
          <a:p>
            <a:pPr lvl="1">
              <a:lnSpc>
                <a:spcPct val="90000"/>
              </a:lnSpc>
              <a:spcBef>
                <a:spcPts val="900"/>
              </a:spcBef>
              <a:buFont typeface="Wingdings" pitchFamily="2" charset="2"/>
              <a:buChar char="§"/>
            </a:pPr>
            <a:r>
              <a:rPr lang="en-US" sz="2400" dirty="0">
                <a:solidFill>
                  <a:schemeClr val="tx1"/>
                </a:solidFill>
              </a:rPr>
              <a:t>Important problems may get missed</a:t>
            </a:r>
          </a:p>
          <a:p>
            <a:pPr lvl="1">
              <a:lnSpc>
                <a:spcPct val="90000"/>
              </a:lnSpc>
              <a:spcBef>
                <a:spcPts val="900"/>
              </a:spcBef>
              <a:buFont typeface="Wingdings" pitchFamily="2" charset="2"/>
              <a:buChar char="§"/>
            </a:pPr>
            <a:r>
              <a:rPr lang="en-US" sz="2400" dirty="0">
                <a:solidFill>
                  <a:schemeClr val="tx1"/>
                </a:solidFill>
              </a:rPr>
              <a:t>Many trivial problems are often identified, such as false alarms</a:t>
            </a:r>
          </a:p>
          <a:p>
            <a:pPr lvl="1">
              <a:lnSpc>
                <a:spcPct val="90000"/>
              </a:lnSpc>
              <a:spcBef>
                <a:spcPts val="900"/>
              </a:spcBef>
              <a:buFont typeface="Wingdings" pitchFamily="2" charset="2"/>
              <a:buChar char="§"/>
            </a:pPr>
            <a:r>
              <a:rPr lang="en-US" sz="2400" dirty="0">
                <a:solidFill>
                  <a:schemeClr val="tx1"/>
                </a:solidFill>
              </a:rPr>
              <a:t>Experts have biases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66</a:t>
            </a:fld>
            <a:endParaRPr lang="en-GB" dirty="0">
              <a:solidFill>
                <a:srgbClr val="77A363">
                  <a:lumMod val="75000"/>
                </a:srgbClr>
              </a:solidFill>
            </a:endParaRPr>
          </a:p>
        </p:txBody>
      </p:sp>
    </p:spTree>
    <p:extLst>
      <p:ext uri="{BB962C8B-B14F-4D97-AF65-F5344CB8AC3E}">
        <p14:creationId xmlns:p14="http://schemas.microsoft.com/office/powerpoint/2010/main" val="154777737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2209800" y="304800"/>
            <a:ext cx="7772400" cy="914400"/>
          </a:xfrm>
        </p:spPr>
        <p:txBody>
          <a:bodyPr>
            <a:normAutofit fontScale="90000"/>
          </a:bodyPr>
          <a:lstStyle/>
          <a:p>
            <a:r>
              <a:rPr lang="en-US" dirty="0"/>
              <a:t>Turning design guidelines and golden rules into heuristics </a:t>
            </a:r>
          </a:p>
        </p:txBody>
      </p:sp>
      <p:sp>
        <p:nvSpPr>
          <p:cNvPr id="24579" name="Rectangle 3"/>
          <p:cNvSpPr>
            <a:spLocks noGrp="1" noChangeArrowheads="1"/>
          </p:cNvSpPr>
          <p:nvPr>
            <p:ph type="body" idx="4294967295"/>
          </p:nvPr>
        </p:nvSpPr>
        <p:spPr>
          <a:xfrm>
            <a:off x="2209800" y="1600200"/>
            <a:ext cx="7772400" cy="4495800"/>
          </a:xfrm>
        </p:spPr>
        <p:txBody>
          <a:bodyPr>
            <a:normAutofit lnSpcReduction="10000"/>
          </a:bodyPr>
          <a:lstStyle/>
          <a:p>
            <a:pPr marL="0" indent="0">
              <a:lnSpc>
                <a:spcPct val="90000"/>
              </a:lnSpc>
              <a:buNone/>
            </a:pPr>
            <a:r>
              <a:rPr lang="en-US" dirty="0"/>
              <a:t>Ask questions like the following:</a:t>
            </a:r>
          </a:p>
          <a:p>
            <a:pPr marL="0" indent="0">
              <a:lnSpc>
                <a:spcPct val="90000"/>
              </a:lnSpc>
              <a:spcBef>
                <a:spcPts val="2400"/>
              </a:spcBef>
              <a:buNone/>
            </a:pPr>
            <a:r>
              <a:rPr lang="en-US" i="1" dirty="0"/>
              <a:t>“Does the application include a visible title page, section or site? Does the user always know where they are located? Does the user always know what the system or application is doing? Are the links clearly defined? Can all actions be visualized directly (i.e., no other actions are required)?”</a:t>
            </a:r>
          </a:p>
          <a:p>
            <a:pPr marL="0" indent="0">
              <a:lnSpc>
                <a:spcPct val="90000"/>
              </a:lnSpc>
              <a:spcBef>
                <a:spcPts val="1500"/>
              </a:spcBef>
              <a:buNone/>
            </a:pPr>
            <a:r>
              <a:rPr lang="en-US" i="1" dirty="0"/>
              <a:t>			Granollers, 2018, p. 62</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67</a:t>
            </a:fld>
            <a:endParaRPr lang="en-GB" dirty="0">
              <a:solidFill>
                <a:srgbClr val="77A363">
                  <a:lumMod val="75000"/>
                </a:srgbClr>
              </a:solidFill>
            </a:endParaRPr>
          </a:p>
        </p:txBody>
      </p:sp>
    </p:spTree>
    <p:extLst>
      <p:ext uri="{BB962C8B-B14F-4D97-AF65-F5344CB8AC3E}">
        <p14:creationId xmlns:p14="http://schemas.microsoft.com/office/powerpoint/2010/main" val="25546146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2856756" y="304800"/>
            <a:ext cx="6478488" cy="914400"/>
          </a:xfrm>
        </p:spPr>
        <p:txBody>
          <a:bodyPr>
            <a:normAutofit fontScale="90000"/>
          </a:bodyPr>
          <a:lstStyle/>
          <a:p>
            <a:r>
              <a:rPr lang="en-US" dirty="0"/>
              <a:t>Evaluating for accessibility using Guidelines</a:t>
            </a:r>
          </a:p>
        </p:txBody>
      </p:sp>
      <p:sp>
        <p:nvSpPr>
          <p:cNvPr id="24579" name="Rectangle 3"/>
          <p:cNvSpPr>
            <a:spLocks noGrp="1" noChangeArrowheads="1"/>
          </p:cNvSpPr>
          <p:nvPr>
            <p:ph type="body" idx="4294967295"/>
          </p:nvPr>
        </p:nvSpPr>
        <p:spPr>
          <a:xfrm>
            <a:off x="2209800" y="1600200"/>
            <a:ext cx="7772400" cy="4495800"/>
          </a:xfrm>
        </p:spPr>
        <p:txBody>
          <a:bodyPr>
            <a:normAutofit lnSpcReduction="10000"/>
          </a:bodyPr>
          <a:lstStyle/>
          <a:p>
            <a:pPr>
              <a:lnSpc>
                <a:spcPct val="90000"/>
              </a:lnSpc>
            </a:pPr>
            <a:r>
              <a:rPr lang="en-US" sz="2800" dirty="0"/>
              <a:t>Web Content Accessibility Guidelines (WCAG) (see Lazar et al., 2015)</a:t>
            </a:r>
          </a:p>
          <a:p>
            <a:pPr>
              <a:lnSpc>
                <a:spcPct val="90000"/>
              </a:lnSpc>
              <a:spcBef>
                <a:spcPts val="900"/>
              </a:spcBef>
            </a:pPr>
            <a:r>
              <a:rPr lang="en-US" sz="2800" dirty="0"/>
              <a:t>Guidelines can be used as heuristics for evaluating websites</a:t>
            </a:r>
          </a:p>
          <a:p>
            <a:pPr>
              <a:lnSpc>
                <a:spcPct val="90000"/>
              </a:lnSpc>
              <a:spcBef>
                <a:spcPts val="900"/>
              </a:spcBef>
            </a:pPr>
            <a:r>
              <a:rPr lang="en-US" sz="2800" dirty="0"/>
              <a:t>Governments and large corporations have to make their websites accessible by law</a:t>
            </a:r>
            <a:endParaRPr lang="en-US" sz="1000" dirty="0"/>
          </a:p>
          <a:p>
            <a:pPr>
              <a:lnSpc>
                <a:spcPct val="90000"/>
              </a:lnSpc>
              <a:spcBef>
                <a:spcPts val="900"/>
              </a:spcBef>
            </a:pPr>
            <a:r>
              <a:rPr lang="en-US" sz="2800" dirty="0"/>
              <a:t>Four key concepts:</a:t>
            </a:r>
          </a:p>
          <a:p>
            <a:pPr lvl="1">
              <a:lnSpc>
                <a:spcPct val="90000"/>
              </a:lnSpc>
              <a:spcBef>
                <a:spcPts val="900"/>
              </a:spcBef>
              <a:buFont typeface="Wingdings" pitchFamily="2" charset="2"/>
              <a:buChar char="§"/>
            </a:pPr>
            <a:r>
              <a:rPr lang="en-US" sz="2400" dirty="0">
                <a:solidFill>
                  <a:schemeClr val="tx1"/>
                </a:solidFill>
              </a:rPr>
              <a:t>Perceivable</a:t>
            </a:r>
          </a:p>
          <a:p>
            <a:pPr lvl="1">
              <a:lnSpc>
                <a:spcPct val="90000"/>
              </a:lnSpc>
              <a:spcBef>
                <a:spcPts val="900"/>
              </a:spcBef>
              <a:buFont typeface="Wingdings" pitchFamily="2" charset="2"/>
              <a:buChar char="§"/>
            </a:pPr>
            <a:r>
              <a:rPr lang="en-US" sz="2400" dirty="0">
                <a:solidFill>
                  <a:schemeClr val="tx1"/>
                </a:solidFill>
              </a:rPr>
              <a:t>Operable</a:t>
            </a:r>
          </a:p>
          <a:p>
            <a:pPr lvl="1">
              <a:lnSpc>
                <a:spcPct val="90000"/>
              </a:lnSpc>
              <a:spcBef>
                <a:spcPts val="900"/>
              </a:spcBef>
              <a:buFont typeface="Wingdings" pitchFamily="2" charset="2"/>
              <a:buChar char="§"/>
            </a:pPr>
            <a:r>
              <a:rPr lang="en-US" sz="2400" dirty="0">
                <a:solidFill>
                  <a:schemeClr val="tx1"/>
                </a:solidFill>
              </a:rPr>
              <a:t>Understandable</a:t>
            </a:r>
          </a:p>
          <a:p>
            <a:pPr lvl="1">
              <a:lnSpc>
                <a:spcPct val="90000"/>
              </a:lnSpc>
              <a:spcBef>
                <a:spcPts val="900"/>
              </a:spcBef>
              <a:buFont typeface="Wingdings" pitchFamily="2" charset="2"/>
              <a:buChar char="§"/>
            </a:pPr>
            <a:r>
              <a:rPr lang="en-US" sz="2400" dirty="0">
                <a:solidFill>
                  <a:schemeClr val="tx1"/>
                </a:solidFill>
              </a:rPr>
              <a:t>Robust</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68</a:t>
            </a:fld>
            <a:endParaRPr lang="en-GB" dirty="0">
              <a:solidFill>
                <a:srgbClr val="77A363">
                  <a:lumMod val="75000"/>
                </a:srgbClr>
              </a:solidFill>
            </a:endParaRPr>
          </a:p>
        </p:txBody>
      </p:sp>
      <p:sp>
        <p:nvSpPr>
          <p:cNvPr id="2" name="TextBox 1">
            <a:extLst>
              <a:ext uri="{FF2B5EF4-FFF2-40B4-BE49-F238E27FC236}">
                <a16:creationId xmlns:a16="http://schemas.microsoft.com/office/drawing/2014/main" id="{96295F61-4CEC-B54E-8F02-F809C1CDCAB3}"/>
              </a:ext>
            </a:extLst>
          </p:cNvPr>
          <p:cNvSpPr txBox="1"/>
          <p:nvPr/>
        </p:nvSpPr>
        <p:spPr>
          <a:xfrm>
            <a:off x="1981200" y="6096000"/>
            <a:ext cx="3034680" cy="369332"/>
          </a:xfrm>
          <a:prstGeom prst="rect">
            <a:avLst/>
          </a:prstGeom>
          <a:noFill/>
        </p:spPr>
        <p:txBody>
          <a:bodyPr wrap="square" rtlCol="0">
            <a:spAutoFit/>
          </a:bodyPr>
          <a:lstStyle/>
          <a:p>
            <a:r>
              <a:rPr lang="en-US" i="1" dirty="0">
                <a:solidFill>
                  <a:srgbClr val="000000"/>
                </a:solidFill>
                <a:latin typeface="Calibri"/>
              </a:rPr>
              <a:t>Source</a:t>
            </a:r>
            <a:r>
              <a:rPr lang="en-US" dirty="0">
                <a:solidFill>
                  <a:srgbClr val="000000"/>
                </a:solidFill>
                <a:latin typeface="Calibri"/>
              </a:rPr>
              <a:t>: </a:t>
            </a:r>
            <a:r>
              <a:rPr lang="en-US" dirty="0">
                <a:solidFill>
                  <a:srgbClr val="000000"/>
                </a:solidFill>
                <a:latin typeface="Calibri"/>
                <a:hlinkClick r:id="rId3"/>
              </a:rPr>
              <a:t>WCAG 2.1 at a Glance</a:t>
            </a:r>
            <a:r>
              <a:rPr lang="en-US" dirty="0">
                <a:solidFill>
                  <a:srgbClr val="000000"/>
                </a:solidFill>
                <a:latin typeface="Liberation Sans" panose="020B0604020202020204" pitchFamily="34" charset="0"/>
              </a:rPr>
              <a:t>.</a:t>
            </a:r>
          </a:p>
        </p:txBody>
      </p:sp>
    </p:spTree>
    <p:extLst>
      <p:ext uri="{BB962C8B-B14F-4D97-AF65-F5344CB8AC3E}">
        <p14:creationId xmlns:p14="http://schemas.microsoft.com/office/powerpoint/2010/main" val="283460582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2133600" y="228600"/>
            <a:ext cx="7772400" cy="1143000"/>
          </a:xfrm>
        </p:spPr>
        <p:txBody>
          <a:bodyPr/>
          <a:lstStyle/>
          <a:p>
            <a:r>
              <a:rPr lang="en-US" dirty="0"/>
              <a:t>Cognitive walkthroughs</a:t>
            </a:r>
          </a:p>
        </p:txBody>
      </p:sp>
      <p:sp>
        <p:nvSpPr>
          <p:cNvPr id="27651" name="Rectangle 3"/>
          <p:cNvSpPr>
            <a:spLocks noGrp="1" noChangeArrowheads="1"/>
          </p:cNvSpPr>
          <p:nvPr>
            <p:ph type="body" idx="4294967295"/>
          </p:nvPr>
        </p:nvSpPr>
        <p:spPr>
          <a:xfrm>
            <a:off x="2057400" y="1295400"/>
            <a:ext cx="7772400" cy="4953000"/>
          </a:xfrm>
        </p:spPr>
        <p:txBody>
          <a:bodyPr>
            <a:normAutofit/>
          </a:bodyPr>
          <a:lstStyle/>
          <a:p>
            <a:pPr>
              <a:lnSpc>
                <a:spcPct val="90000"/>
              </a:lnSpc>
            </a:pPr>
            <a:r>
              <a:rPr lang="en-US" dirty="0"/>
              <a:t>Focus on ease of learning</a:t>
            </a:r>
            <a:endParaRPr lang="en-US" sz="1300" dirty="0"/>
          </a:p>
          <a:p>
            <a:pPr>
              <a:lnSpc>
                <a:spcPct val="90000"/>
              </a:lnSpc>
              <a:spcBef>
                <a:spcPts val="1500"/>
              </a:spcBef>
            </a:pPr>
            <a:r>
              <a:rPr lang="en-US" dirty="0"/>
              <a:t>Designer presents an aspect of the design and usage scenarios</a:t>
            </a:r>
            <a:endParaRPr lang="en-US" sz="1300" dirty="0"/>
          </a:p>
          <a:p>
            <a:pPr>
              <a:lnSpc>
                <a:spcPct val="90000"/>
              </a:lnSpc>
              <a:spcBef>
                <a:spcPts val="1500"/>
              </a:spcBef>
            </a:pPr>
            <a:r>
              <a:rPr lang="en-US" dirty="0"/>
              <a:t>Expert is told the assumptions about user population, context of use, task details</a:t>
            </a:r>
            <a:endParaRPr lang="en-US" sz="1300" dirty="0"/>
          </a:p>
          <a:p>
            <a:pPr>
              <a:lnSpc>
                <a:spcPct val="90000"/>
              </a:lnSpc>
              <a:spcBef>
                <a:spcPts val="1500"/>
              </a:spcBef>
            </a:pPr>
            <a:r>
              <a:rPr lang="en-US" dirty="0"/>
              <a:t>One or more experts walk through the  design prototype with the scenario</a:t>
            </a:r>
            <a:endParaRPr lang="en-US" sz="1300" dirty="0"/>
          </a:p>
          <a:p>
            <a:pPr>
              <a:lnSpc>
                <a:spcPct val="90000"/>
              </a:lnSpc>
              <a:spcBef>
                <a:spcPts val="1500"/>
              </a:spcBef>
            </a:pPr>
            <a:r>
              <a:rPr lang="en-US" dirty="0"/>
              <a:t>Experts are guided by three questions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69</a:t>
            </a:fld>
            <a:endParaRPr lang="en-GB" dirty="0">
              <a:solidFill>
                <a:srgbClr val="77A363">
                  <a:lumMod val="75000"/>
                </a:srgbClr>
              </a:solidFill>
            </a:endParaRPr>
          </a:p>
        </p:txBody>
      </p:sp>
    </p:spTree>
    <p:extLst>
      <p:ext uri="{BB962C8B-B14F-4D97-AF65-F5344CB8AC3E}">
        <p14:creationId xmlns:p14="http://schemas.microsoft.com/office/powerpoint/2010/main" val="22203954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idx="4294967295"/>
          </p:nvPr>
        </p:nvSpPr>
        <p:spPr>
          <a:xfrm>
            <a:off x="2209800" y="228600"/>
            <a:ext cx="7772400" cy="1143000"/>
          </a:xfrm>
        </p:spPr>
        <p:txBody>
          <a:bodyPr/>
          <a:lstStyle/>
          <a:p>
            <a:r>
              <a:rPr lang="en-US" dirty="0"/>
              <a:t>The three questions</a:t>
            </a:r>
          </a:p>
        </p:txBody>
      </p:sp>
      <p:sp>
        <p:nvSpPr>
          <p:cNvPr id="29699" name="Rectangle 3"/>
          <p:cNvSpPr>
            <a:spLocks noGrp="1" noChangeArrowheads="1"/>
          </p:cNvSpPr>
          <p:nvPr>
            <p:ph type="body" idx="4294967295"/>
          </p:nvPr>
        </p:nvSpPr>
        <p:spPr>
          <a:xfrm>
            <a:off x="2209800" y="1447800"/>
            <a:ext cx="7772400" cy="4648200"/>
          </a:xfrm>
        </p:spPr>
        <p:txBody>
          <a:bodyPr>
            <a:normAutofit/>
          </a:bodyPr>
          <a:lstStyle/>
          <a:p>
            <a:r>
              <a:rPr lang="en-US" dirty="0"/>
              <a:t>Will the correct action be sufficiently evident to the user?</a:t>
            </a:r>
          </a:p>
          <a:p>
            <a:pPr>
              <a:spcBef>
                <a:spcPts val="1200"/>
              </a:spcBef>
            </a:pPr>
            <a:r>
              <a:rPr lang="en-US" dirty="0"/>
              <a:t>Will the user notice that the correct action is available? </a:t>
            </a:r>
          </a:p>
          <a:p>
            <a:pPr>
              <a:spcBef>
                <a:spcPts val="1200"/>
              </a:spcBef>
            </a:pPr>
            <a:r>
              <a:rPr lang="en-US" dirty="0"/>
              <a:t>Will the user associate and interpret the response from the action correctly? </a:t>
            </a:r>
          </a:p>
          <a:p>
            <a:pPr marL="0" indent="0">
              <a:spcBef>
                <a:spcPts val="2400"/>
              </a:spcBef>
              <a:buNone/>
            </a:pPr>
            <a:r>
              <a:rPr lang="en-US" dirty="0"/>
              <a:t>As the experts work through the scenario, they note problems</a:t>
            </a:r>
          </a:p>
          <a:p>
            <a:endParaRPr lang="en-US"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70</a:t>
            </a:fld>
            <a:endParaRPr lang="en-GB" dirty="0">
              <a:solidFill>
                <a:srgbClr val="77A363">
                  <a:lumMod val="75000"/>
                </a:srgbClr>
              </a:solidFill>
            </a:endParaRPr>
          </a:p>
        </p:txBody>
      </p:sp>
    </p:spTree>
    <p:extLst>
      <p:ext uri="{BB962C8B-B14F-4D97-AF65-F5344CB8AC3E}">
        <p14:creationId xmlns:p14="http://schemas.microsoft.com/office/powerpoint/2010/main" val="62161311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33600" y="228600"/>
            <a:ext cx="7772400" cy="1143000"/>
          </a:xfrm>
        </p:spPr>
        <p:txBody>
          <a:bodyPr/>
          <a:lstStyle/>
          <a:p>
            <a:r>
              <a:rPr lang="en-US" dirty="0"/>
              <a:t>Pluralistic walkthrough</a:t>
            </a:r>
          </a:p>
        </p:txBody>
      </p:sp>
      <p:sp>
        <p:nvSpPr>
          <p:cNvPr id="31747" name="Rectangle 3"/>
          <p:cNvSpPr>
            <a:spLocks noGrp="1" noChangeArrowheads="1"/>
          </p:cNvSpPr>
          <p:nvPr>
            <p:ph type="body" idx="4294967295"/>
          </p:nvPr>
        </p:nvSpPr>
        <p:spPr>
          <a:xfrm>
            <a:off x="2209800" y="1447800"/>
            <a:ext cx="8001000" cy="4648200"/>
          </a:xfrm>
        </p:spPr>
        <p:txBody>
          <a:bodyPr>
            <a:noAutofit/>
          </a:bodyPr>
          <a:lstStyle/>
          <a:p>
            <a:pPr>
              <a:spcBef>
                <a:spcPts val="0"/>
              </a:spcBef>
            </a:pPr>
            <a:r>
              <a:rPr lang="en-US" sz="2800" dirty="0"/>
              <a:t>Variation on the cognitive walkthrough theme</a:t>
            </a:r>
          </a:p>
          <a:p>
            <a:pPr>
              <a:spcBef>
                <a:spcPts val="700"/>
              </a:spcBef>
            </a:pPr>
            <a:r>
              <a:rPr lang="en-US" sz="2800" dirty="0"/>
              <a:t>Performed by a carefully managed team</a:t>
            </a:r>
          </a:p>
          <a:p>
            <a:pPr>
              <a:spcBef>
                <a:spcPts val="700"/>
              </a:spcBef>
            </a:pPr>
            <a:r>
              <a:rPr lang="en-US" sz="2800" dirty="0"/>
              <a:t>The panel of experts begins by working separately</a:t>
            </a:r>
          </a:p>
          <a:p>
            <a:pPr>
              <a:spcBef>
                <a:spcPts val="700"/>
              </a:spcBef>
            </a:pPr>
            <a:r>
              <a:rPr lang="en-US" sz="2800" dirty="0"/>
              <a:t>This is followed by a managed discussion that leads to agreed decisions</a:t>
            </a:r>
          </a:p>
          <a:p>
            <a:pPr>
              <a:spcBef>
                <a:spcPts val="700"/>
              </a:spcBef>
            </a:pPr>
            <a:r>
              <a:rPr lang="en-US" sz="2800" dirty="0"/>
              <a:t>The approach lends itself well to participatory design</a:t>
            </a:r>
          </a:p>
          <a:p>
            <a:pPr>
              <a:spcBef>
                <a:spcPts val="700"/>
              </a:spcBef>
            </a:pPr>
            <a:r>
              <a:rPr lang="en-US" sz="2800" dirty="0"/>
              <a:t>Also other adaptations of basic cognitive walkthroughs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71</a:t>
            </a:fld>
            <a:endParaRPr lang="en-GB" dirty="0">
              <a:solidFill>
                <a:srgbClr val="77A363">
                  <a:lumMod val="75000"/>
                </a:srgbClr>
              </a:solidFill>
            </a:endParaRPr>
          </a:p>
        </p:txBody>
      </p:sp>
    </p:spTree>
    <p:extLst>
      <p:ext uri="{BB962C8B-B14F-4D97-AF65-F5344CB8AC3E}">
        <p14:creationId xmlns:p14="http://schemas.microsoft.com/office/powerpoint/2010/main" val="2084211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33600" y="228600"/>
            <a:ext cx="7772400" cy="1143000"/>
          </a:xfrm>
        </p:spPr>
        <p:txBody>
          <a:bodyPr/>
          <a:lstStyle/>
          <a:p>
            <a:r>
              <a:rPr lang="en-US" dirty="0"/>
              <a:t>Web Analytics</a:t>
            </a:r>
          </a:p>
        </p:txBody>
      </p:sp>
      <p:sp>
        <p:nvSpPr>
          <p:cNvPr id="31747" name="Rectangle 3"/>
          <p:cNvSpPr>
            <a:spLocks noGrp="1" noChangeArrowheads="1"/>
          </p:cNvSpPr>
          <p:nvPr>
            <p:ph type="body" idx="4294967295"/>
          </p:nvPr>
        </p:nvSpPr>
        <p:spPr>
          <a:xfrm>
            <a:off x="2209800" y="1447800"/>
            <a:ext cx="8001000" cy="4648200"/>
          </a:xfrm>
        </p:spPr>
        <p:txBody>
          <a:bodyPr>
            <a:normAutofit/>
          </a:bodyPr>
          <a:lstStyle/>
          <a:p>
            <a:r>
              <a:rPr lang="en-US" dirty="0"/>
              <a:t>A form of interaction logging that analyzes users’ activities on website</a:t>
            </a:r>
            <a:endParaRPr lang="en-US" sz="1400" dirty="0"/>
          </a:p>
          <a:p>
            <a:pPr>
              <a:spcBef>
                <a:spcPts val="2400"/>
              </a:spcBef>
            </a:pPr>
            <a:r>
              <a:rPr lang="en-US" dirty="0"/>
              <a:t>Designers use the analysis to improve their designs</a:t>
            </a:r>
          </a:p>
          <a:p>
            <a:pPr>
              <a:spcBef>
                <a:spcPts val="2400"/>
              </a:spcBef>
            </a:pPr>
            <a:r>
              <a:rPr lang="en-US" dirty="0"/>
              <a:t>When designs don’t meet users’ needs, they will not return to the site</a:t>
            </a:r>
            <a:endParaRPr lang="en-US" sz="1400" dirty="0"/>
          </a:p>
          <a:p>
            <a:pPr>
              <a:spcBef>
                <a:spcPts val="2400"/>
              </a:spcBef>
            </a:pPr>
            <a:r>
              <a:rPr lang="en-US" dirty="0"/>
              <a:t>They become one-time users</a:t>
            </a:r>
          </a:p>
          <a:p>
            <a:pPr marL="0" indent="0">
              <a:buNone/>
            </a:pPr>
            <a:endParaRPr lang="en-US"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72</a:t>
            </a:fld>
            <a:endParaRPr lang="en-GB" dirty="0">
              <a:solidFill>
                <a:srgbClr val="77A363">
                  <a:lumMod val="75000"/>
                </a:srgbClr>
              </a:solidFill>
            </a:endParaRPr>
          </a:p>
        </p:txBody>
      </p:sp>
    </p:spTree>
    <p:extLst>
      <p:ext uri="{BB962C8B-B14F-4D97-AF65-F5344CB8AC3E}">
        <p14:creationId xmlns:p14="http://schemas.microsoft.com/office/powerpoint/2010/main" val="6236898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33600" y="228600"/>
            <a:ext cx="7772400" cy="1143000"/>
          </a:xfrm>
        </p:spPr>
        <p:txBody>
          <a:bodyPr/>
          <a:lstStyle/>
          <a:p>
            <a:r>
              <a:rPr lang="en-US" dirty="0"/>
              <a:t>Web Analytics </a:t>
            </a:r>
            <a:r>
              <a:rPr lang="en-US" sz="2800" i="1" dirty="0"/>
              <a:t>(continued)</a:t>
            </a:r>
          </a:p>
        </p:txBody>
      </p:sp>
      <p:sp>
        <p:nvSpPr>
          <p:cNvPr id="31747" name="Rectangle 3"/>
          <p:cNvSpPr>
            <a:spLocks noGrp="1" noChangeArrowheads="1"/>
          </p:cNvSpPr>
          <p:nvPr>
            <p:ph type="body" idx="4294967295"/>
          </p:nvPr>
        </p:nvSpPr>
        <p:spPr>
          <a:xfrm>
            <a:off x="2209800" y="1447800"/>
            <a:ext cx="8001000" cy="4648200"/>
          </a:xfrm>
        </p:spPr>
        <p:txBody>
          <a:bodyPr>
            <a:normAutofit lnSpcReduction="10000"/>
          </a:bodyPr>
          <a:lstStyle/>
          <a:p>
            <a:r>
              <a:rPr lang="en-US" dirty="0"/>
              <a:t>Web analytics enable designers to track the activities of users on their site</a:t>
            </a:r>
          </a:p>
          <a:p>
            <a:pPr>
              <a:spcBef>
                <a:spcPts val="1500"/>
              </a:spcBef>
            </a:pPr>
            <a:r>
              <a:rPr lang="en-US" dirty="0"/>
              <a:t>They can see how many people come to the site, how long they stay, and where they go</a:t>
            </a:r>
            <a:endParaRPr lang="en-US" sz="1200" dirty="0"/>
          </a:p>
          <a:p>
            <a:pPr>
              <a:spcBef>
                <a:spcPts val="1500"/>
              </a:spcBef>
            </a:pPr>
            <a:r>
              <a:rPr lang="en-US" dirty="0"/>
              <a:t>Web analytics offer designers the “big picture” about how their site performs based on user activity</a:t>
            </a:r>
          </a:p>
          <a:p>
            <a:pPr>
              <a:spcBef>
                <a:spcPts val="1500"/>
              </a:spcBef>
            </a:pPr>
            <a:r>
              <a:rPr lang="en-US" dirty="0"/>
              <a:t>One of the most well-known analytics</a:t>
            </a:r>
          </a:p>
          <a:p>
            <a:pPr marL="0" indent="0">
              <a:buNone/>
            </a:pPr>
            <a:endParaRPr lang="en-US"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73</a:t>
            </a:fld>
            <a:endParaRPr lang="en-GB" dirty="0">
              <a:solidFill>
                <a:srgbClr val="77A363">
                  <a:lumMod val="75000"/>
                </a:srgbClr>
              </a:solidFill>
            </a:endParaRPr>
          </a:p>
        </p:txBody>
      </p:sp>
    </p:spTree>
    <p:extLst>
      <p:ext uri="{BB962C8B-B14F-4D97-AF65-F5344CB8AC3E}">
        <p14:creationId xmlns:p14="http://schemas.microsoft.com/office/powerpoint/2010/main" val="28991493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1991544" y="249941"/>
            <a:ext cx="8219256" cy="741278"/>
          </a:xfrm>
        </p:spPr>
        <p:txBody>
          <a:bodyPr>
            <a:noAutofit/>
          </a:bodyPr>
          <a:lstStyle/>
          <a:p>
            <a:r>
              <a:rPr lang="en-US" sz="2800" dirty="0"/>
              <a:t>Segment of Google Analytics for </a:t>
            </a:r>
            <a:r>
              <a:rPr lang="en-US" sz="2800" dirty="0">
                <a:hlinkClick r:id="rId3"/>
              </a:rPr>
              <a:t>Interaction Design 5e</a:t>
            </a:r>
            <a:r>
              <a:rPr lang="en-US" sz="2800" dirty="0"/>
              <a:t> website, December 2018</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74</a:t>
            </a:fld>
            <a:endParaRPr lang="en-GB" dirty="0">
              <a:solidFill>
                <a:srgbClr val="77A363">
                  <a:lumMod val="75000"/>
                </a:srgbClr>
              </a:solidFill>
            </a:endParaRPr>
          </a:p>
        </p:txBody>
      </p:sp>
      <p:pic>
        <p:nvPicPr>
          <p:cNvPr id="2" name="Picture 1" descr="Screenshot of segments of the Google Analytics dashboard for id-book.com in December 2018: (a) audience overview, (b) the devices used to access the site.">
            <a:extLst>
              <a:ext uri="{FF2B5EF4-FFF2-40B4-BE49-F238E27FC236}">
                <a16:creationId xmlns:a16="http://schemas.microsoft.com/office/drawing/2014/main" id="{3C2A0939-E1BF-354B-A990-6CFF1A483243}"/>
              </a:ext>
            </a:extLst>
          </p:cNvPr>
          <p:cNvPicPr>
            <a:picLocks noChangeAspect="1"/>
          </p:cNvPicPr>
          <p:nvPr/>
        </p:nvPicPr>
        <p:blipFill>
          <a:blip r:embed="rId4"/>
          <a:stretch>
            <a:fillRect/>
          </a:stretch>
        </p:blipFill>
        <p:spPr>
          <a:xfrm>
            <a:off x="4026483" y="1173527"/>
            <a:ext cx="4139034" cy="4975309"/>
          </a:xfrm>
          <a:prstGeom prst="rect">
            <a:avLst/>
          </a:prstGeom>
        </p:spPr>
      </p:pic>
    </p:spTree>
    <p:extLst>
      <p:ext uri="{BB962C8B-B14F-4D97-AF65-F5344CB8AC3E}">
        <p14:creationId xmlns:p14="http://schemas.microsoft.com/office/powerpoint/2010/main" val="33608575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75</a:t>
            </a:fld>
            <a:endParaRPr lang="en-GB" dirty="0">
              <a:solidFill>
                <a:srgbClr val="77A363">
                  <a:lumMod val="75000"/>
                </a:srgbClr>
              </a:solidFill>
            </a:endParaRPr>
          </a:p>
        </p:txBody>
      </p:sp>
      <p:pic>
        <p:nvPicPr>
          <p:cNvPr id="4" name="Picture 3" descr="Screenshot of segments of the Google Analytics dashboard with the languages of the users.">
            <a:extLst>
              <a:ext uri="{FF2B5EF4-FFF2-40B4-BE49-F238E27FC236}">
                <a16:creationId xmlns:a16="http://schemas.microsoft.com/office/drawing/2014/main" id="{56235E63-0211-E847-AE07-3CACC2C57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5741" y="1472822"/>
            <a:ext cx="6260518" cy="4401927"/>
          </a:xfrm>
          <a:prstGeom prst="rect">
            <a:avLst/>
          </a:prstGeom>
        </p:spPr>
      </p:pic>
      <p:sp>
        <p:nvSpPr>
          <p:cNvPr id="6" name="Title 1">
            <a:extLst>
              <a:ext uri="{FF2B5EF4-FFF2-40B4-BE49-F238E27FC236}">
                <a16:creationId xmlns:a16="http://schemas.microsoft.com/office/drawing/2014/main" id="{9767BD2C-03F2-4A4C-BF74-12EEB82A5ADE}"/>
              </a:ext>
            </a:extLst>
          </p:cNvPr>
          <p:cNvSpPr txBox="1">
            <a:spLocks/>
          </p:cNvSpPr>
          <p:nvPr/>
        </p:nvSpPr>
        <p:spPr>
          <a:xfrm>
            <a:off x="1991544" y="249941"/>
            <a:ext cx="8219256" cy="74127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US" sz="2800" dirty="0">
                <a:solidFill>
                  <a:srgbClr val="77A363">
                    <a:lumMod val="75000"/>
                  </a:srgbClr>
                </a:solidFill>
              </a:rPr>
              <a:t>Segment of Google Analytics for </a:t>
            </a:r>
            <a:r>
              <a:rPr lang="en-US" sz="2800" dirty="0">
                <a:solidFill>
                  <a:srgbClr val="77A363">
                    <a:lumMod val="75000"/>
                  </a:srgbClr>
                </a:solidFill>
                <a:hlinkClick r:id="rId4"/>
              </a:rPr>
              <a:t>Interaction Design 5e</a:t>
            </a:r>
            <a:r>
              <a:rPr lang="en-US" sz="2800" dirty="0">
                <a:solidFill>
                  <a:srgbClr val="77A363">
                    <a:lumMod val="75000"/>
                  </a:srgbClr>
                </a:solidFill>
              </a:rPr>
              <a:t> website, December 2018 </a:t>
            </a:r>
            <a:r>
              <a:rPr lang="en-US" sz="2400" i="1" dirty="0">
                <a:solidFill>
                  <a:srgbClr val="77A363">
                    <a:lumMod val="75000"/>
                  </a:srgbClr>
                </a:solidFill>
              </a:rPr>
              <a:t>(continued)</a:t>
            </a:r>
            <a:endParaRPr lang="en-US" sz="2800" i="1" dirty="0">
              <a:solidFill>
                <a:srgbClr val="77A363">
                  <a:lumMod val="75000"/>
                </a:srgbClr>
              </a:solidFill>
            </a:endParaRPr>
          </a:p>
        </p:txBody>
      </p:sp>
    </p:spTree>
    <p:extLst>
      <p:ext uri="{BB962C8B-B14F-4D97-AF65-F5344CB8AC3E}">
        <p14:creationId xmlns:p14="http://schemas.microsoft.com/office/powerpoint/2010/main" val="37400674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2238400" y="236353"/>
            <a:ext cx="7715200" cy="1143000"/>
          </a:xfrm>
        </p:spPr>
        <p:txBody>
          <a:bodyPr>
            <a:normAutofit fontScale="90000"/>
          </a:bodyPr>
          <a:lstStyle/>
          <a:p>
            <a:r>
              <a:rPr lang="en-US" dirty="0"/>
              <a:t>Segment of early VisiStat Analytics from 2010</a:t>
            </a:r>
            <a:endParaRPr lang="en-US" sz="2400"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76</a:t>
            </a:fld>
            <a:endParaRPr lang="en-GB" dirty="0">
              <a:solidFill>
                <a:srgbClr val="77A363">
                  <a:lumMod val="75000"/>
                </a:srgbClr>
              </a:solidFill>
            </a:endParaRPr>
          </a:p>
        </p:txBody>
      </p:sp>
      <p:pic>
        <p:nvPicPr>
          <p:cNvPr id="2049" name="Picture 1" descr="Screenshot of data provided by VisiStat.">
            <a:extLst>
              <a:ext uri="{FF2B5EF4-FFF2-40B4-BE49-F238E27FC236}">
                <a16:creationId xmlns:a16="http://schemas.microsoft.com/office/drawing/2014/main" id="{C01786F6-34F1-E445-A809-4A3E3ED57E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9661" y="1856839"/>
            <a:ext cx="6652678" cy="295965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967C659-5511-AB45-A92A-199482AE7139}"/>
              </a:ext>
            </a:extLst>
          </p:cNvPr>
          <p:cNvSpPr txBox="1"/>
          <p:nvPr/>
        </p:nvSpPr>
        <p:spPr>
          <a:xfrm>
            <a:off x="2238401" y="5293981"/>
            <a:ext cx="3090461" cy="369332"/>
          </a:xfrm>
          <a:prstGeom prst="rect">
            <a:avLst/>
          </a:prstGeom>
          <a:noFill/>
        </p:spPr>
        <p:txBody>
          <a:bodyPr wrap="none" rtlCol="0">
            <a:spAutoFit/>
          </a:bodyPr>
          <a:lstStyle/>
          <a:p>
            <a:r>
              <a:rPr lang="en-US" i="1" dirty="0">
                <a:solidFill>
                  <a:srgbClr val="000000"/>
                </a:solidFill>
                <a:latin typeface="Calibri"/>
              </a:rPr>
              <a:t>Source</a:t>
            </a:r>
            <a:r>
              <a:rPr lang="en-US" dirty="0">
                <a:solidFill>
                  <a:srgbClr val="000000"/>
                </a:solidFill>
                <a:latin typeface="Calibri"/>
              </a:rPr>
              <a:t>: </a:t>
            </a:r>
            <a:r>
              <a:rPr lang="en-US" dirty="0">
                <a:solidFill>
                  <a:srgbClr val="000000"/>
                </a:solidFill>
                <a:latin typeface="Calibri"/>
                <a:hlinkClick r:id="rId4"/>
              </a:rPr>
              <a:t>VisiStat Analytics</a:t>
            </a:r>
            <a:r>
              <a:rPr lang="en-US" dirty="0">
                <a:solidFill>
                  <a:srgbClr val="000000"/>
                </a:solidFill>
                <a:latin typeface="Calibri"/>
              </a:rPr>
              <a:t>, 2010</a:t>
            </a:r>
          </a:p>
        </p:txBody>
      </p:sp>
    </p:spTree>
    <p:extLst>
      <p:ext uri="{BB962C8B-B14F-4D97-AF65-F5344CB8AC3E}">
        <p14:creationId xmlns:p14="http://schemas.microsoft.com/office/powerpoint/2010/main" val="12949300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idx="4294967295"/>
          </p:nvPr>
        </p:nvSpPr>
        <p:spPr>
          <a:xfrm>
            <a:off x="2346412" y="276265"/>
            <a:ext cx="7499176" cy="1143000"/>
          </a:xfrm>
        </p:spPr>
        <p:txBody>
          <a:bodyPr>
            <a:normAutofit fontScale="90000"/>
          </a:bodyPr>
          <a:lstStyle/>
          <a:p>
            <a:r>
              <a:rPr lang="en-US" dirty="0"/>
              <a:t>Segment of early VisiStat Analytics from 2010</a:t>
            </a:r>
            <a:r>
              <a:rPr lang="en-US" sz="3100" dirty="0"/>
              <a:t> </a:t>
            </a:r>
            <a:r>
              <a:rPr lang="en-US" sz="3100" i="1" dirty="0"/>
              <a:t>(continued)</a:t>
            </a:r>
            <a:endParaRPr lang="en-US" sz="2400"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77</a:t>
            </a:fld>
            <a:endParaRPr lang="en-GB" dirty="0">
              <a:solidFill>
                <a:srgbClr val="77A363">
                  <a:lumMod val="75000"/>
                </a:srgbClr>
              </a:solidFill>
            </a:endParaRPr>
          </a:p>
        </p:txBody>
      </p:sp>
      <p:pic>
        <p:nvPicPr>
          <p:cNvPr id="7" name="Picture 6" descr="Tabular representation of 13 visitors who visited the website who were located based on their IP address.">
            <a:extLst>
              <a:ext uri="{FF2B5EF4-FFF2-40B4-BE49-F238E27FC236}">
                <a16:creationId xmlns:a16="http://schemas.microsoft.com/office/drawing/2014/main" id="{D965DAD2-2DFF-C941-BF10-8E99B2B43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1744" y="2060849"/>
            <a:ext cx="5187910" cy="3012335"/>
          </a:xfrm>
          <a:prstGeom prst="rect">
            <a:avLst/>
          </a:prstGeom>
        </p:spPr>
      </p:pic>
      <p:sp>
        <p:nvSpPr>
          <p:cNvPr id="8" name="TextBox 7">
            <a:extLst>
              <a:ext uri="{FF2B5EF4-FFF2-40B4-BE49-F238E27FC236}">
                <a16:creationId xmlns:a16="http://schemas.microsoft.com/office/drawing/2014/main" id="{DC1602FF-C808-ED4A-A82E-73883129BD71}"/>
              </a:ext>
            </a:extLst>
          </p:cNvPr>
          <p:cNvSpPr txBox="1"/>
          <p:nvPr/>
        </p:nvSpPr>
        <p:spPr>
          <a:xfrm>
            <a:off x="2205704" y="5242684"/>
            <a:ext cx="7780592" cy="461665"/>
          </a:xfrm>
          <a:prstGeom prst="rect">
            <a:avLst/>
          </a:prstGeom>
          <a:noFill/>
        </p:spPr>
        <p:txBody>
          <a:bodyPr wrap="none" rtlCol="0">
            <a:spAutoFit/>
          </a:bodyPr>
          <a:lstStyle/>
          <a:p>
            <a:r>
              <a:rPr lang="en-US" sz="2400" dirty="0">
                <a:solidFill>
                  <a:srgbClr val="000000"/>
                </a:solidFill>
                <a:latin typeface="Calibri"/>
              </a:rPr>
              <a:t>Where visitors to Mountain Wineries in California come from</a:t>
            </a:r>
          </a:p>
        </p:txBody>
      </p:sp>
      <p:sp>
        <p:nvSpPr>
          <p:cNvPr id="9" name="TextBox 8">
            <a:extLst>
              <a:ext uri="{FF2B5EF4-FFF2-40B4-BE49-F238E27FC236}">
                <a16:creationId xmlns:a16="http://schemas.microsoft.com/office/drawing/2014/main" id="{924CAE2E-B8AB-8C4B-A048-45D963138900}"/>
              </a:ext>
            </a:extLst>
          </p:cNvPr>
          <p:cNvSpPr txBox="1"/>
          <p:nvPr/>
        </p:nvSpPr>
        <p:spPr>
          <a:xfrm>
            <a:off x="2205705" y="5744390"/>
            <a:ext cx="3090461" cy="369332"/>
          </a:xfrm>
          <a:prstGeom prst="rect">
            <a:avLst/>
          </a:prstGeom>
          <a:noFill/>
        </p:spPr>
        <p:txBody>
          <a:bodyPr wrap="none" rtlCol="0">
            <a:spAutoFit/>
          </a:bodyPr>
          <a:lstStyle/>
          <a:p>
            <a:r>
              <a:rPr lang="en-US" i="1" dirty="0">
                <a:solidFill>
                  <a:srgbClr val="000000"/>
                </a:solidFill>
                <a:latin typeface="Calibri"/>
              </a:rPr>
              <a:t>Source</a:t>
            </a:r>
            <a:r>
              <a:rPr lang="en-US" dirty="0">
                <a:solidFill>
                  <a:srgbClr val="000000"/>
                </a:solidFill>
                <a:latin typeface="Calibri"/>
              </a:rPr>
              <a:t>: </a:t>
            </a:r>
            <a:r>
              <a:rPr lang="en-US" dirty="0">
                <a:solidFill>
                  <a:srgbClr val="000000"/>
                </a:solidFill>
                <a:latin typeface="Calibri"/>
                <a:hlinkClick r:id="rId4"/>
              </a:rPr>
              <a:t>VisiStat Analytics</a:t>
            </a:r>
            <a:r>
              <a:rPr lang="en-US" dirty="0">
                <a:solidFill>
                  <a:srgbClr val="000000"/>
                </a:solidFill>
                <a:latin typeface="Calibri"/>
              </a:rPr>
              <a:t>, 2010</a:t>
            </a:r>
          </a:p>
        </p:txBody>
      </p:sp>
    </p:spTree>
    <p:extLst>
      <p:ext uri="{BB962C8B-B14F-4D97-AF65-F5344CB8AC3E}">
        <p14:creationId xmlns:p14="http://schemas.microsoft.com/office/powerpoint/2010/main" val="8236133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33600" y="228600"/>
            <a:ext cx="7772400" cy="1143000"/>
          </a:xfrm>
        </p:spPr>
        <p:txBody>
          <a:bodyPr/>
          <a:lstStyle/>
          <a:p>
            <a:r>
              <a:rPr lang="en-US" dirty="0"/>
              <a:t>A/B Testing</a:t>
            </a:r>
          </a:p>
        </p:txBody>
      </p:sp>
      <p:sp>
        <p:nvSpPr>
          <p:cNvPr id="31747" name="Rectangle 3"/>
          <p:cNvSpPr>
            <a:spLocks noGrp="1" noChangeArrowheads="1"/>
          </p:cNvSpPr>
          <p:nvPr>
            <p:ph type="body" idx="4294967295"/>
          </p:nvPr>
        </p:nvSpPr>
        <p:spPr>
          <a:xfrm>
            <a:off x="2209800" y="1447800"/>
            <a:ext cx="8001000" cy="4648200"/>
          </a:xfrm>
        </p:spPr>
        <p:txBody>
          <a:bodyPr>
            <a:normAutofit lnSpcReduction="10000"/>
          </a:bodyPr>
          <a:lstStyle/>
          <a:p>
            <a:r>
              <a:rPr lang="en-US" dirty="0"/>
              <a:t>A large-scale experiment</a:t>
            </a:r>
          </a:p>
          <a:p>
            <a:pPr>
              <a:spcBef>
                <a:spcPts val="2400"/>
              </a:spcBef>
            </a:pPr>
            <a:r>
              <a:rPr lang="en-US" dirty="0"/>
              <a:t>Offers another way to evaluate a website, application of app running on a mobile device</a:t>
            </a:r>
          </a:p>
          <a:p>
            <a:pPr>
              <a:spcBef>
                <a:spcPts val="2400"/>
              </a:spcBef>
            </a:pPr>
            <a:r>
              <a:rPr lang="en-US" dirty="0"/>
              <a:t>Often used for evaluating changes in design on social media applications</a:t>
            </a:r>
          </a:p>
          <a:p>
            <a:pPr>
              <a:spcBef>
                <a:spcPts val="2400"/>
              </a:spcBef>
            </a:pPr>
            <a:r>
              <a:rPr lang="en-US" dirty="0"/>
              <a:t>Compares how two groups of users perform on two versions of a design</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78</a:t>
            </a:fld>
            <a:endParaRPr lang="en-GB" dirty="0">
              <a:solidFill>
                <a:srgbClr val="77A363">
                  <a:lumMod val="75000"/>
                </a:srgbClr>
              </a:solidFill>
            </a:endParaRPr>
          </a:p>
        </p:txBody>
      </p:sp>
    </p:spTree>
    <p:extLst>
      <p:ext uri="{BB962C8B-B14F-4D97-AF65-F5344CB8AC3E}">
        <p14:creationId xmlns:p14="http://schemas.microsoft.com/office/powerpoint/2010/main" val="31362094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2133600" y="228600"/>
            <a:ext cx="7772400" cy="1143000"/>
          </a:xfrm>
        </p:spPr>
        <p:txBody>
          <a:bodyPr/>
          <a:lstStyle/>
          <a:p>
            <a:r>
              <a:rPr lang="en-US" dirty="0"/>
              <a:t>A/B Testing</a:t>
            </a:r>
            <a:r>
              <a:rPr lang="en-US" sz="2800" dirty="0"/>
              <a:t> </a:t>
            </a:r>
            <a:r>
              <a:rPr lang="en-US" sz="2800" i="1" dirty="0"/>
              <a:t>(continued)</a:t>
            </a:r>
            <a:endParaRPr lang="en-US" sz="2800" dirty="0"/>
          </a:p>
        </p:txBody>
      </p:sp>
      <p:sp>
        <p:nvSpPr>
          <p:cNvPr id="31747" name="Rectangle 3"/>
          <p:cNvSpPr>
            <a:spLocks noGrp="1" noChangeArrowheads="1"/>
          </p:cNvSpPr>
          <p:nvPr>
            <p:ph type="body" idx="4294967295"/>
          </p:nvPr>
        </p:nvSpPr>
        <p:spPr>
          <a:xfrm>
            <a:off x="2209800" y="1447800"/>
            <a:ext cx="8001000" cy="4648200"/>
          </a:xfrm>
        </p:spPr>
        <p:txBody>
          <a:bodyPr>
            <a:normAutofit/>
          </a:bodyPr>
          <a:lstStyle/>
          <a:p>
            <a:pPr>
              <a:spcBef>
                <a:spcPts val="900"/>
              </a:spcBef>
            </a:pPr>
            <a:r>
              <a:rPr lang="en-US" dirty="0"/>
              <a:t>Can involve thousands of users</a:t>
            </a:r>
          </a:p>
          <a:p>
            <a:pPr>
              <a:spcBef>
                <a:spcPts val="2400"/>
              </a:spcBef>
            </a:pPr>
            <a:r>
              <a:rPr lang="en-US" dirty="0"/>
              <a:t>May create ethical dilemmas if users don’t know they are part of the test</a:t>
            </a:r>
          </a:p>
          <a:p>
            <a:pPr>
              <a:spcBef>
                <a:spcPts val="2400"/>
              </a:spcBef>
            </a:pPr>
            <a:r>
              <a:rPr lang="en-US" dirty="0"/>
              <a:t>Care is needed to ensure that other issues are not affecting users’ behavior</a:t>
            </a:r>
          </a:p>
          <a:p>
            <a:endParaRPr lang="en-US" sz="1050"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79</a:t>
            </a:fld>
            <a:endParaRPr lang="en-GB" dirty="0">
              <a:solidFill>
                <a:srgbClr val="77A363">
                  <a:lumMod val="75000"/>
                </a:srgbClr>
              </a:solidFill>
            </a:endParaRPr>
          </a:p>
        </p:txBody>
      </p:sp>
    </p:spTree>
    <p:extLst>
      <p:ext uri="{BB962C8B-B14F-4D97-AF65-F5344CB8AC3E}">
        <p14:creationId xmlns:p14="http://schemas.microsoft.com/office/powerpoint/2010/main" val="30440718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2209800" y="228600"/>
            <a:ext cx="7772400" cy="1143000"/>
          </a:xfrm>
        </p:spPr>
        <p:txBody>
          <a:bodyPr/>
          <a:lstStyle/>
          <a:p>
            <a:r>
              <a:rPr lang="en-US" dirty="0"/>
              <a:t>Predictive models</a:t>
            </a:r>
          </a:p>
        </p:txBody>
      </p:sp>
      <p:sp>
        <p:nvSpPr>
          <p:cNvPr id="37891" name="Rectangle 3"/>
          <p:cNvSpPr>
            <a:spLocks noGrp="1" noChangeArrowheads="1"/>
          </p:cNvSpPr>
          <p:nvPr>
            <p:ph type="body" idx="4294967295"/>
          </p:nvPr>
        </p:nvSpPr>
        <p:spPr>
          <a:xfrm>
            <a:off x="1981200" y="1295400"/>
            <a:ext cx="8153400" cy="5029200"/>
          </a:xfrm>
        </p:spPr>
        <p:txBody>
          <a:bodyPr>
            <a:normAutofit/>
          </a:bodyPr>
          <a:lstStyle/>
          <a:p>
            <a:pPr>
              <a:lnSpc>
                <a:spcPct val="90000"/>
              </a:lnSpc>
            </a:pPr>
            <a:r>
              <a:rPr lang="en-US" dirty="0"/>
              <a:t>Provide a way of evaluating products or designs without directly involving users</a:t>
            </a:r>
          </a:p>
          <a:p>
            <a:pPr>
              <a:lnSpc>
                <a:spcPct val="90000"/>
              </a:lnSpc>
              <a:spcBef>
                <a:spcPts val="2400"/>
              </a:spcBef>
            </a:pPr>
            <a:r>
              <a:rPr lang="en-US" dirty="0"/>
              <a:t>Less expensive than user testing</a:t>
            </a:r>
          </a:p>
          <a:p>
            <a:pPr>
              <a:lnSpc>
                <a:spcPct val="90000"/>
              </a:lnSpc>
              <a:spcBef>
                <a:spcPts val="2400"/>
              </a:spcBef>
            </a:pPr>
            <a:r>
              <a:rPr lang="en-US" dirty="0"/>
              <a:t>Usefulness limited to systems with predictable tasks, for example, voicemail systems, smartphones, and dedicated mobile devices</a:t>
            </a:r>
          </a:p>
          <a:p>
            <a:pPr>
              <a:lnSpc>
                <a:spcPct val="90000"/>
              </a:lnSpc>
              <a:spcBef>
                <a:spcPts val="2400"/>
              </a:spcBef>
            </a:pPr>
            <a:r>
              <a:rPr lang="en-US" dirty="0"/>
              <a:t>Based on expert error-free behavior</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80</a:t>
            </a:fld>
            <a:endParaRPr lang="en-GB" dirty="0">
              <a:solidFill>
                <a:srgbClr val="77A363">
                  <a:lumMod val="75000"/>
                </a:srgbClr>
              </a:solidFill>
            </a:endParaRPr>
          </a:p>
        </p:txBody>
      </p:sp>
    </p:spTree>
    <p:extLst>
      <p:ext uri="{BB962C8B-B14F-4D97-AF65-F5344CB8AC3E}">
        <p14:creationId xmlns:p14="http://schemas.microsoft.com/office/powerpoint/2010/main" val="28322039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a:xfrm>
            <a:off x="2209800" y="152400"/>
            <a:ext cx="7772400" cy="1143000"/>
          </a:xfrm>
        </p:spPr>
        <p:txBody>
          <a:bodyPr/>
          <a:lstStyle/>
          <a:p>
            <a:r>
              <a:rPr lang="en-US" dirty="0"/>
              <a:t>Fitts’ Law </a:t>
            </a:r>
            <a:r>
              <a:rPr lang="en-US" sz="2800" dirty="0"/>
              <a:t>(1954)</a:t>
            </a:r>
            <a:endParaRPr lang="en-US" dirty="0">
              <a:solidFill>
                <a:schemeClr val="tx1"/>
              </a:solidFill>
            </a:endParaRPr>
          </a:p>
        </p:txBody>
      </p:sp>
      <p:sp>
        <p:nvSpPr>
          <p:cNvPr id="48131" name="Rectangle 3"/>
          <p:cNvSpPr>
            <a:spLocks noGrp="1" noChangeArrowheads="1"/>
          </p:cNvSpPr>
          <p:nvPr>
            <p:ph type="body" idx="4294967295"/>
          </p:nvPr>
        </p:nvSpPr>
        <p:spPr>
          <a:xfrm>
            <a:off x="2209800" y="1484784"/>
            <a:ext cx="7772400" cy="4839816"/>
          </a:xfrm>
        </p:spPr>
        <p:txBody>
          <a:bodyPr>
            <a:normAutofit fontScale="92500"/>
          </a:bodyPr>
          <a:lstStyle/>
          <a:p>
            <a:r>
              <a:rPr lang="en-US" sz="2800" dirty="0"/>
              <a:t>Fitts’ Law predicts that the time to point at an object using a device is a function of the distance from the target object and the object’s size </a:t>
            </a:r>
            <a:endParaRPr lang="en-US" sz="800" dirty="0"/>
          </a:p>
          <a:p>
            <a:pPr>
              <a:spcBef>
                <a:spcPts val="900"/>
              </a:spcBef>
            </a:pPr>
            <a:r>
              <a:rPr lang="en-US" sz="2800" dirty="0"/>
              <a:t>The further away and the smaller the object, the longer the time to locate it and point to it</a:t>
            </a:r>
            <a:endParaRPr lang="en-US" sz="900" dirty="0"/>
          </a:p>
          <a:p>
            <a:pPr>
              <a:spcBef>
                <a:spcPts val="900"/>
              </a:spcBef>
            </a:pPr>
            <a:r>
              <a:rPr lang="en-US" sz="2800" dirty="0"/>
              <a:t>It is particularly useful for determining where on a screen to position an object</a:t>
            </a:r>
            <a:endParaRPr lang="en-US" sz="800" dirty="0"/>
          </a:p>
          <a:p>
            <a:pPr>
              <a:spcBef>
                <a:spcPts val="900"/>
              </a:spcBef>
            </a:pPr>
            <a:r>
              <a:rPr lang="en-US" sz="2800" dirty="0"/>
              <a:t>Fitts’ Law is useful for evaluating systems for which the time to locate an object is important, for example, smartphones, handhelds, and mobile devices</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81</a:t>
            </a:fld>
            <a:endParaRPr lang="en-GB" dirty="0">
              <a:solidFill>
                <a:srgbClr val="77A363">
                  <a:lumMod val="75000"/>
                </a:srgbClr>
              </a:solidFill>
            </a:endParaRPr>
          </a:p>
        </p:txBody>
      </p:sp>
    </p:spTree>
    <p:extLst>
      <p:ext uri="{BB962C8B-B14F-4D97-AF65-F5344CB8AC3E}">
        <p14:creationId xmlns:p14="http://schemas.microsoft.com/office/powerpoint/2010/main" val="26595445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2209800" y="136525"/>
            <a:ext cx="7772400" cy="914400"/>
          </a:xfrm>
        </p:spPr>
        <p:txBody>
          <a:bodyPr/>
          <a:lstStyle/>
          <a:p>
            <a:r>
              <a:rPr lang="en-US" dirty="0"/>
              <a:t>Summary</a:t>
            </a:r>
          </a:p>
        </p:txBody>
      </p:sp>
      <p:sp>
        <p:nvSpPr>
          <p:cNvPr id="54275" name="Rectangle 3"/>
          <p:cNvSpPr>
            <a:spLocks noGrp="1" noChangeArrowheads="1"/>
          </p:cNvSpPr>
          <p:nvPr>
            <p:ph type="body" idx="4294967295"/>
          </p:nvPr>
        </p:nvSpPr>
        <p:spPr>
          <a:xfrm>
            <a:off x="1828800" y="1219200"/>
            <a:ext cx="8610600" cy="5105400"/>
          </a:xfrm>
        </p:spPr>
        <p:txBody>
          <a:bodyPr>
            <a:normAutofit/>
          </a:bodyPr>
          <a:lstStyle/>
          <a:p>
            <a:pPr>
              <a:lnSpc>
                <a:spcPct val="90000"/>
              </a:lnSpc>
            </a:pPr>
            <a:r>
              <a:rPr lang="en-US" dirty="0"/>
              <a:t>Inspections can be used to evaluate requirements, mockups, functional prototypes, or systems</a:t>
            </a:r>
            <a:endParaRPr lang="en-US" sz="1050" dirty="0"/>
          </a:p>
          <a:p>
            <a:pPr>
              <a:lnSpc>
                <a:spcPct val="90000"/>
              </a:lnSpc>
              <a:spcBef>
                <a:spcPts val="1500"/>
              </a:spcBef>
            </a:pPr>
            <a:r>
              <a:rPr lang="en-US" dirty="0"/>
              <a:t>User testing and heuristic evaluation may reveal different usability problems</a:t>
            </a:r>
            <a:endParaRPr lang="en-US" sz="1000" dirty="0"/>
          </a:p>
          <a:p>
            <a:pPr>
              <a:lnSpc>
                <a:spcPct val="90000"/>
              </a:lnSpc>
              <a:spcBef>
                <a:spcPts val="1500"/>
              </a:spcBef>
            </a:pPr>
            <a:r>
              <a:rPr lang="en-US" dirty="0"/>
              <a:t>Design guidelines can be used to develop heuristics</a:t>
            </a:r>
            <a:endParaRPr lang="en-US" sz="1000" dirty="0"/>
          </a:p>
          <a:p>
            <a:pPr>
              <a:lnSpc>
                <a:spcPct val="90000"/>
              </a:lnSpc>
              <a:spcBef>
                <a:spcPts val="1500"/>
              </a:spcBef>
            </a:pPr>
            <a:r>
              <a:rPr lang="en-US" dirty="0"/>
              <a:t>Walkthroughs are a fine-grained focused method for evaluating small parts of  a product</a:t>
            </a:r>
            <a:endParaRPr lang="en-US" sz="1000" dirty="0"/>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82</a:t>
            </a:fld>
            <a:endParaRPr lang="en-GB" dirty="0">
              <a:solidFill>
                <a:srgbClr val="77A363">
                  <a:lumMod val="75000"/>
                </a:srgbClr>
              </a:solidFill>
            </a:endParaRPr>
          </a:p>
        </p:txBody>
      </p:sp>
    </p:spTree>
    <p:extLst>
      <p:ext uri="{BB962C8B-B14F-4D97-AF65-F5344CB8AC3E}">
        <p14:creationId xmlns:p14="http://schemas.microsoft.com/office/powerpoint/2010/main" val="17795345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2209800" y="152400"/>
            <a:ext cx="7772400" cy="914400"/>
          </a:xfrm>
        </p:spPr>
        <p:txBody>
          <a:bodyPr/>
          <a:lstStyle/>
          <a:p>
            <a:r>
              <a:rPr lang="en-US" dirty="0"/>
              <a:t>Summary</a:t>
            </a:r>
            <a:r>
              <a:rPr lang="en-US" sz="2800" dirty="0"/>
              <a:t> </a:t>
            </a:r>
            <a:r>
              <a:rPr lang="en-US" sz="2800" i="1" dirty="0"/>
              <a:t>(continued)</a:t>
            </a:r>
            <a:endParaRPr lang="en-US" sz="2800" dirty="0"/>
          </a:p>
        </p:txBody>
      </p:sp>
      <p:sp>
        <p:nvSpPr>
          <p:cNvPr id="54275" name="Rectangle 3"/>
          <p:cNvSpPr>
            <a:spLocks noGrp="1" noChangeArrowheads="1"/>
          </p:cNvSpPr>
          <p:nvPr>
            <p:ph type="body" idx="4294967295"/>
          </p:nvPr>
        </p:nvSpPr>
        <p:spPr>
          <a:xfrm>
            <a:off x="1828800" y="1219200"/>
            <a:ext cx="8610600" cy="5105400"/>
          </a:xfrm>
        </p:spPr>
        <p:txBody>
          <a:bodyPr>
            <a:normAutofit lnSpcReduction="10000"/>
          </a:bodyPr>
          <a:lstStyle/>
          <a:p>
            <a:pPr>
              <a:lnSpc>
                <a:spcPct val="90000"/>
              </a:lnSpc>
              <a:spcBef>
                <a:spcPts val="1200"/>
              </a:spcBef>
            </a:pPr>
            <a:r>
              <a:rPr lang="en-US" dirty="0"/>
              <a:t>Analytics involves collecting data about users activity on a website or product to see which parts are used</a:t>
            </a:r>
            <a:endParaRPr lang="en-US" sz="1000" dirty="0"/>
          </a:p>
          <a:p>
            <a:pPr>
              <a:lnSpc>
                <a:spcPct val="90000"/>
              </a:lnSpc>
              <a:spcBef>
                <a:spcPts val="2400"/>
              </a:spcBef>
            </a:pPr>
            <a:r>
              <a:rPr lang="en-US" dirty="0"/>
              <a:t>A/B testing is a form of large-scale experiment</a:t>
            </a:r>
            <a:endParaRPr lang="en-US" sz="1000" dirty="0"/>
          </a:p>
          <a:p>
            <a:pPr>
              <a:lnSpc>
                <a:spcPct val="90000"/>
              </a:lnSpc>
              <a:spcBef>
                <a:spcPts val="2400"/>
              </a:spcBef>
            </a:pPr>
            <a:r>
              <a:rPr lang="en-US" dirty="0"/>
              <a:t>Fitts’ Law can be used to predict expert, error-free performance for clearly defined tasks with limited key presses, for example, to evaluate keypress sequences for handheld devices and the position of objects on a screen</a:t>
            </a:r>
          </a:p>
        </p:txBody>
      </p:sp>
      <p:sp>
        <p:nvSpPr>
          <p:cNvPr id="3" name="Footer Placeholder 2"/>
          <p:cNvSpPr>
            <a:spLocks noGrp="1"/>
          </p:cNvSpPr>
          <p:nvPr>
            <p:ph type="ftr" sz="quarter" idx="11"/>
          </p:nvPr>
        </p:nvSpPr>
        <p:spPr/>
        <p:txBody>
          <a:bodyPr/>
          <a:lstStyle/>
          <a:p>
            <a:r>
              <a:rPr lang="en-GB" dirty="0">
                <a:solidFill>
                  <a:srgbClr val="77A363">
                    <a:lumMod val="75000"/>
                  </a:srgbClr>
                </a:solidFill>
              </a:rPr>
              <a:t>www.id-book.com</a:t>
            </a:r>
          </a:p>
        </p:txBody>
      </p:sp>
      <p:sp>
        <p:nvSpPr>
          <p:cNvPr id="5" name="Slide Number Placeholder 4"/>
          <p:cNvSpPr>
            <a:spLocks noGrp="1"/>
          </p:cNvSpPr>
          <p:nvPr>
            <p:ph type="sldNum" sz="quarter" idx="12"/>
          </p:nvPr>
        </p:nvSpPr>
        <p:spPr/>
        <p:txBody>
          <a:bodyPr/>
          <a:lstStyle/>
          <a:p>
            <a:fld id="{A7EA2D8D-44E5-43C4-BBA1-AE3E32EF0894}" type="slidenum">
              <a:rPr lang="en-GB">
                <a:solidFill>
                  <a:srgbClr val="77A363">
                    <a:lumMod val="75000"/>
                  </a:srgbClr>
                </a:solidFill>
              </a:rPr>
              <a:pPr/>
              <a:t>83</a:t>
            </a:fld>
            <a:endParaRPr lang="en-GB" dirty="0">
              <a:solidFill>
                <a:srgbClr val="77A363">
                  <a:lumMod val="75000"/>
                </a:srgbClr>
              </a:solidFill>
            </a:endParaRPr>
          </a:p>
        </p:txBody>
      </p:sp>
    </p:spTree>
    <p:extLst>
      <p:ext uri="{BB962C8B-B14F-4D97-AF65-F5344CB8AC3E}">
        <p14:creationId xmlns:p14="http://schemas.microsoft.com/office/powerpoint/2010/main" val="14562772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8">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77A36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9">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77A36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Custom 8 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77A363"/>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1409</TotalTime>
  <Words>4280</Words>
  <Application>Microsoft Office PowerPoint</Application>
  <PresentationFormat>Widescreen</PresentationFormat>
  <Paragraphs>694</Paragraphs>
  <Slides>83</Slides>
  <Notes>56</Notes>
  <HiddenSlides>0</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83</vt:i4>
      </vt:variant>
    </vt:vector>
  </HeadingPairs>
  <TitlesOfParts>
    <vt:vector size="95" baseType="lpstr">
      <vt:lpstr>ＭＳ Ｐゴシック</vt:lpstr>
      <vt:lpstr>Arial</vt:lpstr>
      <vt:lpstr>Calibri</vt:lpstr>
      <vt:lpstr>Calibri Light</vt:lpstr>
      <vt:lpstr>Liberation Sans</vt:lpstr>
      <vt:lpstr>Times</vt:lpstr>
      <vt:lpstr>Wingdings</vt:lpstr>
      <vt:lpstr>Office Theme</vt:lpstr>
      <vt:lpstr>1_Office Theme</vt:lpstr>
      <vt:lpstr>2_Office Theme</vt:lpstr>
      <vt:lpstr>3_Office Theme</vt:lpstr>
      <vt:lpstr>Document</vt:lpstr>
      <vt:lpstr>Mobile App Design Process</vt:lpstr>
      <vt:lpstr>Next…</vt:lpstr>
      <vt:lpstr>Create a case study for your portfolio project</vt:lpstr>
      <vt:lpstr>Create a case study for your portfolio project</vt:lpstr>
      <vt:lpstr>Create a case study for your portfolio project</vt:lpstr>
      <vt:lpstr>Create a case study for your portfolio project</vt:lpstr>
      <vt:lpstr>Create a case study for your portfolio project</vt:lpstr>
      <vt:lpstr>PowerPoint Presentation</vt:lpstr>
      <vt:lpstr>Goals</vt:lpstr>
      <vt:lpstr>Goals (continued)</vt:lpstr>
      <vt:lpstr>Why, what, where, and when to evaluate</vt:lpstr>
      <vt:lpstr>Bruce Tognazzini tells you why you need to evaluate</vt:lpstr>
      <vt:lpstr>Types of evaluation</vt:lpstr>
      <vt:lpstr>Living labs</vt:lpstr>
      <vt:lpstr>Living labs (continued)</vt:lpstr>
      <vt:lpstr>Evaluation case studies</vt:lpstr>
      <vt:lpstr>Challenge and engagement in a collaborative immersive game</vt:lpstr>
      <vt:lpstr>Physiological data of participants in a videogame</vt:lpstr>
      <vt:lpstr>Example of physiological data</vt:lpstr>
      <vt:lpstr>Ethnobot app used at the Royal Highland Show</vt:lpstr>
      <vt:lpstr>Experience responses submitted in Ethnobot</vt:lpstr>
      <vt:lpstr>What did we learn from the case studies?</vt:lpstr>
      <vt:lpstr>What did we learn from the case studies? (continued)</vt:lpstr>
      <vt:lpstr>Evaluation methods</vt:lpstr>
      <vt:lpstr>The language of evaluation</vt:lpstr>
      <vt:lpstr>Participants’ rights and getting their consent</vt:lpstr>
      <vt:lpstr>Things to consider when interpreting data</vt:lpstr>
      <vt:lpstr>Summary</vt:lpstr>
      <vt:lpstr>Summary (continued)</vt:lpstr>
      <vt:lpstr>PowerPoint Presentation</vt:lpstr>
      <vt:lpstr>Goals</vt:lpstr>
      <vt:lpstr>Usability testing</vt:lpstr>
      <vt:lpstr>Quantitative performance measures</vt:lpstr>
      <vt:lpstr>Usability lab with observers watching a user and assistant</vt:lpstr>
      <vt:lpstr>Tobii Glasses Mobile Eye-Tracking System</vt:lpstr>
      <vt:lpstr>Portable equipment for use in the field</vt:lpstr>
      <vt:lpstr>Testing the iPad usability</vt:lpstr>
      <vt:lpstr>Testing the iPad usability (continued)</vt:lpstr>
      <vt:lpstr>Examples of the tasks used in the iPad evaluation</vt:lpstr>
      <vt:lpstr>Problems and actions</vt:lpstr>
      <vt:lpstr>Problems and actions (continued)</vt:lpstr>
      <vt:lpstr>Usability testing conditions</vt:lpstr>
      <vt:lpstr>How many participants is enough for user testing?</vt:lpstr>
      <vt:lpstr>Usability testing and Experiments </vt:lpstr>
      <vt:lpstr>Usability testing and research</vt:lpstr>
      <vt:lpstr>Experiments</vt:lpstr>
      <vt:lpstr>Experimental designs</vt:lpstr>
      <vt:lpstr>Different, same, matched participant design</vt:lpstr>
      <vt:lpstr>Field studies</vt:lpstr>
      <vt:lpstr>A field study of a pain-monitoring device</vt:lpstr>
      <vt:lpstr>Painpad</vt:lpstr>
      <vt:lpstr>Data collection and participants</vt:lpstr>
      <vt:lpstr>Data analysis and presentation</vt:lpstr>
      <vt:lpstr>Summary</vt:lpstr>
      <vt:lpstr>Summary (continued)</vt:lpstr>
      <vt:lpstr>PowerPoint Presentation</vt:lpstr>
      <vt:lpstr>Goals</vt:lpstr>
      <vt:lpstr>Inspections</vt:lpstr>
      <vt:lpstr>Heuristic evaluation</vt:lpstr>
      <vt:lpstr>Revised version (2014) of Nielsen’s original heuristics (continued)</vt:lpstr>
      <vt:lpstr>Revised version (2014) of Nielsen’s original heuristics</vt:lpstr>
      <vt:lpstr>Number of evaluators and problems</vt:lpstr>
      <vt:lpstr>Number of evaluators</vt:lpstr>
      <vt:lpstr>Heuristics for websites focus on key criteria</vt:lpstr>
      <vt:lpstr>Doing heuristic evaluation</vt:lpstr>
      <vt:lpstr>Advantages and problems</vt:lpstr>
      <vt:lpstr>Turning design guidelines and golden rules into heuristics </vt:lpstr>
      <vt:lpstr>Evaluating for accessibility using Guidelines</vt:lpstr>
      <vt:lpstr>Cognitive walkthroughs</vt:lpstr>
      <vt:lpstr>The three questions</vt:lpstr>
      <vt:lpstr>Pluralistic walkthrough</vt:lpstr>
      <vt:lpstr>Web Analytics</vt:lpstr>
      <vt:lpstr>Web Analytics (continued)</vt:lpstr>
      <vt:lpstr>Segment of Google Analytics for Interaction Design 5e website, December 2018</vt:lpstr>
      <vt:lpstr>PowerPoint Presentation</vt:lpstr>
      <vt:lpstr>Segment of early VisiStat Analytics from 2010</vt:lpstr>
      <vt:lpstr>Segment of early VisiStat Analytics from 2010 (continued)</vt:lpstr>
      <vt:lpstr>A/B Testing</vt:lpstr>
      <vt:lpstr>A/B Testing (continued)</vt:lpstr>
      <vt:lpstr>Predictive models</vt:lpstr>
      <vt:lpstr>Fitts’ Law (1954)</vt:lpstr>
      <vt:lpstr>Summary</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 Design Process</dc:title>
  <dc:creator>Binh Tran</dc:creator>
  <cp:lastModifiedBy>Tran Lee</cp:lastModifiedBy>
  <cp:revision>575</cp:revision>
  <dcterms:created xsi:type="dcterms:W3CDTF">2018-01-16T02:59:29Z</dcterms:created>
  <dcterms:modified xsi:type="dcterms:W3CDTF">2024-10-22T04:08:32Z</dcterms:modified>
</cp:coreProperties>
</file>